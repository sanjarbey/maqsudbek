
<file path=[Content_Types].xml><?xml version="1.0" encoding="utf-8"?>
<Types xmlns="http://schemas.openxmlformats.org/package/2006/content-types">
  <Default Extension="png" ContentType="image/png"/>
  <Default Extension="tmp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vsdx" ContentType="application/vnd.ms-visio.drawing"/>
  <Default Extension="wdp" ContentType="image/vnd.ms-photo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06" r:id="rId1"/>
  </p:sldMasterIdLst>
  <p:sldIdLst>
    <p:sldId id="279" r:id="rId2"/>
    <p:sldId id="257" r:id="rId3"/>
    <p:sldId id="293" r:id="rId4"/>
    <p:sldId id="278" r:id="rId5"/>
    <p:sldId id="294" r:id="rId6"/>
    <p:sldId id="295" r:id="rId7"/>
    <p:sldId id="280" r:id="rId8"/>
    <p:sldId id="300" r:id="rId9"/>
    <p:sldId id="259" r:id="rId10"/>
    <p:sldId id="296" r:id="rId11"/>
    <p:sldId id="288" r:id="rId12"/>
    <p:sldId id="289" r:id="rId13"/>
    <p:sldId id="290" r:id="rId14"/>
    <p:sldId id="260" r:id="rId15"/>
    <p:sldId id="261" r:id="rId16"/>
    <p:sldId id="264" r:id="rId17"/>
    <p:sldId id="270" r:id="rId18"/>
    <p:sldId id="282" r:id="rId19"/>
    <p:sldId id="291" r:id="rId20"/>
    <p:sldId id="281" r:id="rId21"/>
    <p:sldId id="284" r:id="rId22"/>
    <p:sldId id="285" r:id="rId23"/>
    <p:sldId id="286" r:id="rId24"/>
    <p:sldId id="271" r:id="rId25"/>
    <p:sldId id="298" r:id="rId26"/>
    <p:sldId id="299" r:id="rId27"/>
    <p:sldId id="272" r:id="rId28"/>
    <p:sldId id="274" r:id="rId29"/>
    <p:sldId id="275" r:id="rId30"/>
    <p:sldId id="276" r:id="rId31"/>
    <p:sldId id="277" r:id="rId32"/>
    <p:sldId id="292" r:id="rId3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11E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9" d="100"/>
          <a:sy n="79" d="100"/>
        </p:scale>
        <p:origin x="682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D:\&#1044;&#1080;&#1089;&#1089;&#1077;&#1088;&#1090;&#1072;&#1094;&#1080;&#1103;\&#1044;&#1080;&#1089;&#1089;&#1077;&#1088;&#1090;%20&#1088;&#1072;&#1073;&#1086;&#1090;&#1072;\&#1050;&#1085;&#1080;&#1075;&#1072;1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r>
              <a:rPr lang="ru-RU" b="1">
                <a:latin typeface="Times New Roman" panose="02020603050405020304" pitchFamily="18" charset="0"/>
                <a:cs typeface="Times New Roman" panose="02020603050405020304" pitchFamily="18" charset="0"/>
              </a:rPr>
              <a:t>Структура</a:t>
            </a:r>
            <a:r>
              <a:rPr lang="ru-RU" b="1" baseline="0">
                <a:latin typeface="Times New Roman" panose="02020603050405020304" pitchFamily="18" charset="0"/>
                <a:cs typeface="Times New Roman" panose="02020603050405020304" pitchFamily="18" charset="0"/>
              </a:rPr>
              <a:t> подразделений</a:t>
            </a:r>
          </a:p>
          <a:p>
            <a: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pPr>
            <a:r>
              <a:rPr lang="ru-RU" b="1">
                <a:latin typeface="Times New Roman" panose="02020603050405020304" pitchFamily="18" charset="0"/>
                <a:cs typeface="Times New Roman" panose="02020603050405020304" pitchFamily="18" charset="0"/>
              </a:rPr>
              <a:t> АКБ "Капиталбанка" </a:t>
            </a:r>
          </a:p>
        </c:rich>
      </c:tx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defRPr>
          </a:pPr>
          <a:endParaRPr lang="ru-RU"/>
        </a:p>
      </c:txPr>
    </c:title>
    <c:autoTitleDeleted val="0"/>
    <c:view3D>
      <c:rotX val="15"/>
      <c:rotY val="20"/>
      <c:depthPercent val="100"/>
      <c:rAngAx val="1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bar3DChart>
        <c:barDir val="col"/>
        <c:grouping val="stacked"/>
        <c:varyColors val="0"/>
        <c:ser>
          <c:idx val="0"/>
          <c:order val="0"/>
          <c:tx>
            <c:strRef>
              <c:f>Лист1!$B$3</c:f>
              <c:strCache>
                <c:ptCount val="1"/>
                <c:pt idx="0">
                  <c:v>2024 год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  <a:sp3d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Лист1!$C$2:$F$2</c:f>
              <c:strCache>
                <c:ptCount val="4"/>
                <c:pt idx="0">
                  <c:v>филиалы</c:v>
                </c:pt>
                <c:pt idx="1">
                  <c:v>ЦБУ</c:v>
                </c:pt>
                <c:pt idx="2">
                  <c:v>ОБУ</c:v>
                </c:pt>
                <c:pt idx="3">
                  <c:v>минибанки</c:v>
                </c:pt>
              </c:strCache>
            </c:strRef>
          </c:cat>
          <c:val>
            <c:numRef>
              <c:f>Лист1!$C$3:$F$3</c:f>
              <c:numCache>
                <c:formatCode>General</c:formatCode>
                <c:ptCount val="4"/>
                <c:pt idx="0">
                  <c:v>16</c:v>
                </c:pt>
                <c:pt idx="1">
                  <c:v>4</c:v>
                </c:pt>
                <c:pt idx="2">
                  <c:v>70</c:v>
                </c:pt>
                <c:pt idx="3">
                  <c:v>23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76B-47C0-A646-7E0016164D1E}"/>
            </c:ext>
          </c:extLst>
        </c:ser>
        <c:ser>
          <c:idx val="1"/>
          <c:order val="1"/>
          <c:tx>
            <c:strRef>
              <c:f>Лист1!$B$4</c:f>
              <c:strCache>
                <c:ptCount val="1"/>
                <c:pt idx="0">
                  <c:v>2023 год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  <a:sp3d/>
          </c:spPr>
          <c:invertIfNegative val="0"/>
          <c:dLbls>
            <c:dLbl>
              <c:idx val="1"/>
              <c:layout>
                <c:manualLayout>
                  <c:x val="-1.0185067526415994E-16"/>
                  <c:y val="-4.6296296296296384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1-576B-47C0-A646-7E0016164D1E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Лист1!$C$2:$F$2</c:f>
              <c:strCache>
                <c:ptCount val="4"/>
                <c:pt idx="0">
                  <c:v>филиалы</c:v>
                </c:pt>
                <c:pt idx="1">
                  <c:v>ЦБУ</c:v>
                </c:pt>
                <c:pt idx="2">
                  <c:v>ОБУ</c:v>
                </c:pt>
                <c:pt idx="3">
                  <c:v>минибанки</c:v>
                </c:pt>
              </c:strCache>
            </c:strRef>
          </c:cat>
          <c:val>
            <c:numRef>
              <c:f>Лист1!$C$4:$F$4</c:f>
              <c:numCache>
                <c:formatCode>General</c:formatCode>
                <c:ptCount val="4"/>
                <c:pt idx="0">
                  <c:v>16</c:v>
                </c:pt>
                <c:pt idx="1">
                  <c:v>4</c:v>
                </c:pt>
                <c:pt idx="2">
                  <c:v>60</c:v>
                </c:pt>
                <c:pt idx="3">
                  <c:v>24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576B-47C0-A646-7E0016164D1E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shape val="box"/>
        <c:axId val="1747085376"/>
        <c:axId val="1747089728"/>
        <c:axId val="0"/>
      </c:bar3DChart>
      <c:catAx>
        <c:axId val="174708537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747089728"/>
        <c:crosses val="autoZero"/>
        <c:auto val="1"/>
        <c:lblAlgn val="ctr"/>
        <c:lblOffset val="100"/>
        <c:noMultiLvlLbl val="0"/>
      </c:catAx>
      <c:valAx>
        <c:axId val="174708972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747085376"/>
        <c:crosses val="autoZero"/>
        <c:crossBetween val="between"/>
      </c:valAx>
      <c:dTable>
        <c:showHorzBorder val="1"/>
        <c:showVertBorder val="1"/>
        <c:showOutline val="1"/>
        <c:showKeys val="1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0" spcFirstLastPara="1" vertOverflow="ellipsis" vert="horz" wrap="square" anchor="ctr" anchorCtr="1"/>
          <a:lstStyle/>
          <a:p>
            <a:pPr rtl="0"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</c:dTable>
      <c:spPr>
        <a:noFill/>
        <a:ln>
          <a:noFill/>
        </a:ln>
        <a:effectLst/>
      </c:spPr>
    </c:plotArea>
    <c:legend>
      <c:legendPos val="b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8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iagrams/_rels/data3.xml.rels><?xml version="1.0" encoding="UTF-8" standalone="yes"?>
<Relationships xmlns="http://schemas.openxmlformats.org/package/2006/relationships"><Relationship Id="rId1" Type="http://schemas.openxmlformats.org/officeDocument/2006/relationships/image" Target="../media/image8.png"/></Relationships>
</file>

<file path=ppt/diagrams/_rels/drawing3.xml.rels><?xml version="1.0" encoding="UTF-8" standalone="yes"?>
<Relationships xmlns="http://schemas.openxmlformats.org/package/2006/relationships"><Relationship Id="rId1" Type="http://schemas.openxmlformats.org/officeDocument/2006/relationships/image" Target="../media/image8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01EA29A-BC56-4E97-938C-BE3FF7426B81}" type="doc">
      <dgm:prSet loTypeId="urn:microsoft.com/office/officeart/2008/layout/VerticalCurvedList" loCatId="list" qsTypeId="urn:microsoft.com/office/officeart/2005/8/quickstyle/simple1" qsCatId="simple" csTypeId="urn:microsoft.com/office/officeart/2005/8/colors/accent1_2" csCatId="accent1" phldr="1"/>
      <dgm:spPr/>
    </dgm:pt>
    <dgm:pt modelId="{400774F2-BDB0-4D70-B49E-B3B13B2D7D35}">
      <dgm:prSet phldrT="[Текст]" custT="1"/>
      <dgm:spPr/>
      <dgm:t>
        <a:bodyPr/>
        <a:lstStyle/>
        <a:p>
          <a:r>
            <a:rPr lang="en-US" sz="1400" b="1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Global </a:t>
          </a:r>
          <a:r>
            <a:rPr lang="en-US" sz="1400" b="1" dirty="0" err="1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iqtisodiy</a:t>
          </a:r>
          <a:r>
            <a:rPr lang="en-US" sz="1400" b="1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400" b="1" dirty="0" err="1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oʻzgarishlar</a:t>
          </a:r>
          <a:r>
            <a:rPr lang="en-US" sz="1400" b="1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400" b="1" dirty="0" err="1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va</a:t>
          </a:r>
          <a:r>
            <a:rPr lang="en-US" sz="1400" b="1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400" b="1" dirty="0" err="1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risklar</a:t>
          </a:r>
          <a:r>
            <a:rPr lang="en-US" sz="1400" b="1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400" b="1" dirty="0" err="1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transferi</a:t>
          </a:r>
          <a:r>
            <a:rPr lang="en-US" sz="1400" b="1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: </a:t>
          </a:r>
          <a:r>
            <a:rPr lang="en-US" sz="1400" dirty="0" err="1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Zamonaviy</a:t>
          </a:r>
          <a:r>
            <a:rPr lang="en-US" sz="14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400" dirty="0" err="1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globallashuv</a:t>
          </a:r>
          <a:r>
            <a:rPr lang="en-US" sz="14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400" dirty="0" err="1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jarayonlari</a:t>
          </a:r>
          <a:r>
            <a:rPr lang="en-US" sz="14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, </a:t>
          </a:r>
          <a:r>
            <a:rPr lang="en-US" sz="1400" dirty="0" err="1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xalqaro</a:t>
          </a:r>
          <a:r>
            <a:rPr lang="en-US" sz="14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400" dirty="0" err="1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moliya</a:t>
          </a:r>
          <a:r>
            <a:rPr lang="en-US" sz="14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400" dirty="0" err="1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bozorlaridagi</a:t>
          </a:r>
          <a:r>
            <a:rPr lang="en-US" sz="14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400" dirty="0" err="1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yuqori</a:t>
          </a:r>
          <a:r>
            <a:rPr lang="en-US" sz="14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400" dirty="0" err="1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volatillik</a:t>
          </a:r>
          <a:r>
            <a:rPr lang="en-US" sz="14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, </a:t>
          </a:r>
          <a:r>
            <a:rPr lang="en-US" sz="1400" dirty="0" err="1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geosiyosiy</a:t>
          </a:r>
          <a:r>
            <a:rPr lang="en-US" sz="14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400" dirty="0" err="1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tebranishlar</a:t>
          </a:r>
          <a:r>
            <a:rPr lang="en-US" sz="14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400" dirty="0" err="1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hamda</a:t>
          </a:r>
          <a:r>
            <a:rPr lang="en-US" sz="14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400" dirty="0" err="1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risklarning</a:t>
          </a:r>
          <a:r>
            <a:rPr lang="en-US" sz="14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400" dirty="0" err="1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transchegaraviy</a:t>
          </a:r>
          <a:r>
            <a:rPr lang="en-US" sz="14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transfer </a:t>
          </a:r>
          <a:r>
            <a:rPr lang="en-US" sz="1400" dirty="0" err="1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boʻlish</a:t>
          </a:r>
          <a:r>
            <a:rPr lang="en-US" sz="14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400" dirty="0" err="1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tezligi</a:t>
          </a:r>
          <a:r>
            <a:rPr lang="en-US" sz="14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400" dirty="0" err="1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sharoitida</a:t>
          </a:r>
          <a:r>
            <a:rPr lang="en-US" sz="14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400" dirty="0" err="1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milliy</a:t>
          </a:r>
          <a:r>
            <a:rPr lang="en-US" sz="14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bank </a:t>
          </a:r>
          <a:r>
            <a:rPr lang="en-US" sz="1400" dirty="0" err="1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tizimi</a:t>
          </a:r>
          <a:r>
            <a:rPr lang="en-US" sz="14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400" dirty="0" err="1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barqarorligini</a:t>
          </a:r>
          <a:r>
            <a:rPr lang="en-US" sz="14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400" dirty="0" err="1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ta’minlash</a:t>
          </a:r>
          <a:r>
            <a:rPr lang="en-US" sz="14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400" dirty="0" err="1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zarurati</a:t>
          </a:r>
          <a:r>
            <a:rPr lang="en-US" sz="14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400" dirty="0" err="1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yuzaga</a:t>
          </a:r>
          <a:r>
            <a:rPr lang="en-US" sz="14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400" dirty="0" err="1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kelmoqda</a:t>
          </a:r>
          <a:r>
            <a:rPr lang="en-US" sz="14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.</a:t>
          </a:r>
          <a:r>
            <a:rPr lang="ru-RU" sz="14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.</a:t>
          </a:r>
          <a:endParaRPr lang="ru-RU" sz="1400" dirty="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A13701D4-E384-4EE8-B99C-BC30B4870F58}" type="parTrans" cxnId="{37C92E90-829F-4562-92EF-9743BE2F4F11}">
      <dgm:prSet/>
      <dgm:spPr/>
      <dgm:t>
        <a:bodyPr/>
        <a:lstStyle/>
        <a:p>
          <a:endParaRPr lang="ru-RU" sz="140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42E6B495-6265-4D07-9DA9-96333275966A}" type="sibTrans" cxnId="{37C92E90-829F-4562-92EF-9743BE2F4F11}">
      <dgm:prSet/>
      <dgm:spPr/>
      <dgm:t>
        <a:bodyPr/>
        <a:lstStyle/>
        <a:p>
          <a:endParaRPr lang="ru-RU" sz="140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95664A02-6A8B-4EF9-899E-B0AE73BD8F74}">
      <dgm:prSet phldrT="[Текст]" custT="1"/>
      <dgm:spPr/>
      <dgm:t>
        <a:bodyPr/>
        <a:lstStyle/>
        <a:p>
          <a:r>
            <a:rPr lang="en-US" sz="1400" b="1" dirty="0" err="1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Multiplikativ</a:t>
          </a:r>
          <a:r>
            <a:rPr lang="en-US" sz="1400" b="1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400" b="1" dirty="0" err="1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salbiy</a:t>
          </a:r>
          <a:r>
            <a:rPr lang="en-US" sz="1400" b="1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samara (Makroiqtisodiy </a:t>
          </a:r>
          <a:r>
            <a:rPr lang="en-US" sz="1400" b="1" dirty="0" err="1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destruksiya</a:t>
          </a:r>
          <a:r>
            <a:rPr lang="en-US" sz="1400" b="1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):</a:t>
          </a:r>
          <a:r>
            <a:rPr lang="en-US" sz="14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400" dirty="0" err="1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Muammoli</a:t>
          </a:r>
          <a:r>
            <a:rPr lang="en-US" sz="14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400" dirty="0" err="1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kreditlar</a:t>
          </a:r>
          <a:r>
            <a:rPr lang="en-US" sz="14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400" dirty="0" err="1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massasining</a:t>
          </a:r>
          <a:r>
            <a:rPr lang="en-US" sz="14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400" dirty="0" err="1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toʻplanishi</a:t>
          </a:r>
          <a:r>
            <a:rPr lang="en-US" sz="14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400" dirty="0" err="1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banklarni</a:t>
          </a:r>
          <a:r>
            <a:rPr lang="en-US" sz="14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400" dirty="0" err="1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zaxira</a:t>
          </a:r>
          <a:r>
            <a:rPr lang="en-US" sz="14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400" dirty="0" err="1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fondlariga</a:t>
          </a:r>
          <a:r>
            <a:rPr lang="en-US" sz="14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400" dirty="0" err="1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koʻproq</a:t>
          </a:r>
          <a:r>
            <a:rPr lang="en-US" sz="14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400" dirty="0" err="1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mablagʻ</a:t>
          </a:r>
          <a:r>
            <a:rPr lang="en-US" sz="14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400" dirty="0" err="1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oʻtkazishga</a:t>
          </a:r>
          <a:r>
            <a:rPr lang="en-US" sz="14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400" dirty="0" err="1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majbur</a:t>
          </a:r>
          <a:r>
            <a:rPr lang="en-US" sz="14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400" dirty="0" err="1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qiladi</a:t>
          </a:r>
          <a:r>
            <a:rPr lang="en-US" sz="14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, </a:t>
          </a:r>
          <a:r>
            <a:rPr lang="en-US" sz="1400" dirty="0" err="1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bu</a:t>
          </a:r>
          <a:r>
            <a:rPr lang="en-US" sz="14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400" dirty="0" err="1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esa</a:t>
          </a:r>
          <a:r>
            <a:rPr lang="en-US" sz="14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400" dirty="0" err="1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kapital</a:t>
          </a:r>
          <a:r>
            <a:rPr lang="en-US" sz="14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400" dirty="0" err="1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etarliligiga</a:t>
          </a:r>
          <a:r>
            <a:rPr lang="en-US" sz="14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400" dirty="0" err="1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zarba</a:t>
          </a:r>
          <a:r>
            <a:rPr lang="en-US" sz="14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400" dirty="0" err="1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beradi</a:t>
          </a:r>
          <a:r>
            <a:rPr lang="en-US" sz="14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, </a:t>
          </a:r>
          <a:r>
            <a:rPr lang="en-US" sz="1400" dirty="0" err="1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likvidlilikni</a:t>
          </a:r>
          <a:r>
            <a:rPr lang="en-US" sz="14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400" dirty="0" err="1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pasaytiradi</a:t>
          </a:r>
          <a:r>
            <a:rPr lang="en-US" sz="14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, </a:t>
          </a:r>
          <a:r>
            <a:rPr lang="en-US" sz="1400" dirty="0" err="1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kredit</a:t>
          </a:r>
          <a:r>
            <a:rPr lang="en-US" sz="14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400" dirty="0" err="1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siqilishini</a:t>
          </a:r>
          <a:r>
            <a:rPr lang="en-US" sz="14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400" dirty="0" err="1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yuzaga</a:t>
          </a:r>
          <a:r>
            <a:rPr lang="en-US" sz="14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400" dirty="0" err="1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keltirib</a:t>
          </a:r>
          <a:r>
            <a:rPr lang="en-US" sz="14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, real </a:t>
          </a:r>
          <a:r>
            <a:rPr lang="en-US" sz="1400" dirty="0" err="1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sektorda</a:t>
          </a:r>
          <a:r>
            <a:rPr lang="en-US" sz="14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400" dirty="0" err="1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ishlab</a:t>
          </a:r>
          <a:r>
            <a:rPr lang="en-US" sz="14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400" dirty="0" err="1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chiqarish</a:t>
          </a:r>
          <a:r>
            <a:rPr lang="en-US" sz="14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400" dirty="0" err="1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pasayishi</a:t>
          </a:r>
          <a:r>
            <a:rPr lang="en-US" sz="14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400" dirty="0" err="1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va</a:t>
          </a:r>
          <a:r>
            <a:rPr lang="en-US" sz="14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400" dirty="0" err="1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ishsizlik</a:t>
          </a:r>
          <a:r>
            <a:rPr lang="en-US" sz="14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400" dirty="0" err="1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ortishiga</a:t>
          </a:r>
          <a:r>
            <a:rPr lang="en-US" sz="14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400" dirty="0" err="1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sabab</a:t>
          </a:r>
          <a:r>
            <a:rPr lang="en-US" sz="14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400" dirty="0" err="1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boʻladi</a:t>
          </a:r>
          <a:r>
            <a:rPr lang="en-US" sz="14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.</a:t>
          </a:r>
          <a:endParaRPr lang="ru-RU" sz="1400" dirty="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71489694-544A-4DF3-B2AA-C796EB6046D7}" type="parTrans" cxnId="{4A8EB480-52F3-4CE9-98CD-FE4F2B00DA17}">
      <dgm:prSet/>
      <dgm:spPr/>
      <dgm:t>
        <a:bodyPr/>
        <a:lstStyle/>
        <a:p>
          <a:endParaRPr lang="ru-RU" sz="140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9F08947B-3599-4FB6-8A24-478DE946037A}" type="sibTrans" cxnId="{4A8EB480-52F3-4CE9-98CD-FE4F2B00DA17}">
      <dgm:prSet/>
      <dgm:spPr/>
      <dgm:t>
        <a:bodyPr/>
        <a:lstStyle/>
        <a:p>
          <a:endParaRPr lang="ru-RU" sz="140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BC314EC5-4D43-4C9F-B2A1-C513C2DC600B}">
      <dgm:prSet phldrT="[Текст]" custT="1"/>
      <dgm:spPr/>
      <dgm:t>
        <a:bodyPr/>
        <a:lstStyle/>
        <a:p>
          <a:r>
            <a:rPr lang="en-US" sz="1400" b="1" dirty="0" err="1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Zamonaviy</a:t>
          </a:r>
          <a:r>
            <a:rPr lang="en-US" sz="1400" b="1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400" b="1" dirty="0" err="1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moslashuvchan</a:t>
          </a:r>
          <a:r>
            <a:rPr lang="en-US" sz="1400" b="1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400" b="1" dirty="0" err="1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instrumentlarga</a:t>
          </a:r>
          <a:r>
            <a:rPr lang="en-US" sz="1400" b="1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400" b="1" dirty="0" err="1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boʻlgan</a:t>
          </a:r>
          <a:r>
            <a:rPr lang="en-US" sz="1400" b="1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400" b="1" dirty="0" err="1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ehtiyoj</a:t>
          </a:r>
          <a:r>
            <a:rPr lang="en-US" sz="1400" b="1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:</a:t>
          </a:r>
          <a:r>
            <a:rPr lang="en-US" sz="14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400" dirty="0" err="1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Oʻzbekiston</a:t>
          </a:r>
          <a:r>
            <a:rPr lang="en-US" sz="14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400" dirty="0" err="1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sharoitida</a:t>
          </a:r>
          <a:r>
            <a:rPr lang="en-US" sz="14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400" dirty="0" err="1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muammoli</a:t>
          </a:r>
          <a:r>
            <a:rPr lang="en-US" sz="14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400" dirty="0" err="1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aktivlarni</a:t>
          </a:r>
          <a:r>
            <a:rPr lang="en-US" sz="14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400" dirty="0" err="1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undirishda</a:t>
          </a:r>
          <a:r>
            <a:rPr lang="en-US" sz="14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400" dirty="0" err="1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hamon</a:t>
          </a:r>
          <a:r>
            <a:rPr lang="en-US" sz="14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400" dirty="0" err="1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eskirgan</a:t>
          </a:r>
          <a:r>
            <a:rPr lang="en-US" sz="14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400" dirty="0" err="1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sud</a:t>
          </a:r>
          <a:r>
            <a:rPr lang="en-US" sz="14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400" dirty="0" err="1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va</a:t>
          </a:r>
          <a:r>
            <a:rPr lang="en-US" sz="14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400" dirty="0" err="1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ma’muriy</a:t>
          </a:r>
          <a:r>
            <a:rPr lang="en-US" sz="14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400" dirty="0" err="1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bosim</a:t>
          </a:r>
          <a:r>
            <a:rPr lang="en-US" sz="14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400" dirty="0" err="1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usullaridan</a:t>
          </a:r>
          <a:r>
            <a:rPr lang="en-US" sz="14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400" dirty="0" err="1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foydalanilayotgan</a:t>
          </a:r>
          <a:r>
            <a:rPr lang="en-US" sz="14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400" dirty="0" err="1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boʻlib</a:t>
          </a:r>
          <a:r>
            <a:rPr lang="en-US" sz="14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, </a:t>
          </a:r>
          <a:r>
            <a:rPr lang="en-US" sz="1400" dirty="0" err="1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jahon</a:t>
          </a:r>
          <a:r>
            <a:rPr lang="en-US" sz="14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400" dirty="0" err="1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amaliyotidagi</a:t>
          </a:r>
          <a:r>
            <a:rPr lang="en-US" sz="14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“</a:t>
          </a:r>
          <a:r>
            <a:rPr lang="en-US" sz="1400" dirty="0" err="1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Yomon</a:t>
          </a:r>
          <a:r>
            <a:rPr lang="en-US" sz="14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400" dirty="0" err="1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aktivlarni</a:t>
          </a:r>
          <a:r>
            <a:rPr lang="en-US" sz="14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400" dirty="0" err="1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boshqarish</a:t>
          </a:r>
          <a:r>
            <a:rPr lang="en-US" sz="14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400" dirty="0" err="1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kompaniyalari</a:t>
          </a:r>
          <a:r>
            <a:rPr lang="en-US" sz="14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” (AMC), </a:t>
          </a:r>
          <a:r>
            <a:rPr lang="en-US" sz="1400" dirty="0" err="1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sekuritizatsiya</a:t>
          </a:r>
          <a:r>
            <a:rPr lang="en-US" sz="14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400" dirty="0" err="1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va</a:t>
          </a:r>
          <a:r>
            <a:rPr lang="en-US" sz="14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400" dirty="0" err="1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kredit</a:t>
          </a:r>
          <a:r>
            <a:rPr lang="en-US" sz="14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400" dirty="0" err="1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derivativlari</a:t>
          </a:r>
          <a:r>
            <a:rPr lang="en-US" sz="14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400" dirty="0" err="1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kabi</a:t>
          </a:r>
          <a:r>
            <a:rPr lang="en-US" sz="14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400" dirty="0" err="1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moslashuvchan</a:t>
          </a:r>
          <a:r>
            <a:rPr lang="en-US" sz="14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400" dirty="0" err="1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moliyaviy</a:t>
          </a:r>
          <a:r>
            <a:rPr lang="en-US" sz="14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400" dirty="0" err="1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instrumentlarni</a:t>
          </a:r>
          <a:r>
            <a:rPr lang="en-US" sz="14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400" dirty="0" err="1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hamda</a:t>
          </a:r>
          <a:r>
            <a:rPr lang="en-US" sz="14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400" dirty="0" err="1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anderraytingda</a:t>
          </a:r>
          <a:r>
            <a:rPr lang="en-US" sz="14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400" dirty="0" err="1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inson</a:t>
          </a:r>
          <a:r>
            <a:rPr lang="en-US" sz="14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400" dirty="0" err="1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omilini</a:t>
          </a:r>
          <a:r>
            <a:rPr lang="en-US" sz="14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400" dirty="0" err="1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minimallashtiruvchi</a:t>
          </a:r>
          <a:r>
            <a:rPr lang="en-US" sz="14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400" dirty="0" err="1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raqamli</a:t>
          </a:r>
          <a:r>
            <a:rPr lang="en-US" sz="14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400" dirty="0" err="1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tizimlarni</a:t>
          </a:r>
          <a:r>
            <a:rPr lang="en-US" sz="14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400" dirty="0" err="1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joriy</a:t>
          </a:r>
          <a:r>
            <a:rPr lang="en-US" sz="14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400" dirty="0" err="1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etish</a:t>
          </a:r>
          <a:r>
            <a:rPr lang="en-US" sz="14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400" dirty="0" err="1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zarurati</a:t>
          </a:r>
          <a:r>
            <a:rPr lang="en-US" sz="14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400" dirty="0" err="1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dolzarb</a:t>
          </a:r>
          <a:r>
            <a:rPr lang="en-US" sz="14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400" dirty="0" err="1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boʻlib</a:t>
          </a:r>
          <a:r>
            <a:rPr lang="en-US" sz="14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400" dirty="0" err="1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turibdi</a:t>
          </a:r>
          <a:r>
            <a:rPr lang="en-US" sz="14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.</a:t>
          </a:r>
          <a:endParaRPr lang="ru-RU" sz="1400" dirty="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28F6F94C-BCA9-401B-B514-810971ED77E8}" type="parTrans" cxnId="{A75FD207-0647-4AB9-955C-81DD044E4077}">
      <dgm:prSet/>
      <dgm:spPr/>
      <dgm:t>
        <a:bodyPr/>
        <a:lstStyle/>
        <a:p>
          <a:endParaRPr lang="ru-RU" sz="140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94923B1D-F00D-4AB6-BFF3-DD59CA1297FD}" type="sibTrans" cxnId="{A75FD207-0647-4AB9-955C-81DD044E4077}">
      <dgm:prSet/>
      <dgm:spPr/>
      <dgm:t>
        <a:bodyPr/>
        <a:lstStyle/>
        <a:p>
          <a:endParaRPr lang="ru-RU" sz="140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19567784-E528-4107-BAB8-EA62C84707D1}">
      <dgm:prSet phldrT="[Текст]" custT="1"/>
      <dgm:spPr/>
      <dgm:t>
        <a:bodyPr/>
        <a:lstStyle/>
        <a:p>
          <a:r>
            <a:rPr lang="en-US" sz="1400" b="1" dirty="0" err="1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Davlat</a:t>
          </a:r>
          <a:r>
            <a:rPr lang="en-US" sz="1400" b="1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400" b="1" dirty="0" err="1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rahbariyatining</a:t>
          </a:r>
          <a:r>
            <a:rPr lang="en-US" sz="1400" b="1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400" b="1" dirty="0" err="1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strategik</a:t>
          </a:r>
          <a:r>
            <a:rPr lang="en-US" sz="1400" b="1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400" b="1" dirty="0" err="1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talablari</a:t>
          </a:r>
          <a:r>
            <a:rPr lang="en-US" sz="1400" b="1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:</a:t>
          </a:r>
          <a:r>
            <a:rPr lang="en-US" sz="14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Bank </a:t>
          </a:r>
          <a:r>
            <a:rPr lang="en-US" sz="1400" dirty="0" err="1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tizimini</a:t>
          </a:r>
          <a:r>
            <a:rPr lang="en-US" sz="14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400" dirty="0" err="1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iqtisodiyotning</a:t>
          </a:r>
          <a:r>
            <a:rPr lang="en-US" sz="14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400" dirty="0" err="1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chinakam</a:t>
          </a:r>
          <a:r>
            <a:rPr lang="en-US" sz="14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400" dirty="0" err="1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drayveriga</a:t>
          </a:r>
          <a:r>
            <a:rPr lang="en-US" sz="14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400" dirty="0" err="1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aylantirish</a:t>
          </a:r>
          <a:r>
            <a:rPr lang="en-US" sz="14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, </a:t>
          </a:r>
          <a:r>
            <a:rPr lang="en-US" sz="1400" dirty="0" err="1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kredit</a:t>
          </a:r>
          <a:r>
            <a:rPr lang="en-US" sz="14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400" dirty="0" err="1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berish</a:t>
          </a:r>
          <a:r>
            <a:rPr lang="en-US" sz="14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400" dirty="0" err="1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jarayonidagi</a:t>
          </a:r>
          <a:r>
            <a:rPr lang="en-US" sz="14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400" dirty="0" err="1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loyihalarni</a:t>
          </a:r>
          <a:r>
            <a:rPr lang="en-US" sz="14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400" dirty="0" err="1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yuzaki</a:t>
          </a:r>
          <a:r>
            <a:rPr lang="en-US" sz="14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400" dirty="0" err="1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baholashga</a:t>
          </a:r>
          <a:r>
            <a:rPr lang="en-US" sz="14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400" dirty="0" err="1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barham</a:t>
          </a:r>
          <a:r>
            <a:rPr lang="en-US" sz="14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400" dirty="0" err="1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berish</a:t>
          </a:r>
          <a:r>
            <a:rPr lang="en-US" sz="14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400" dirty="0" err="1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va</a:t>
          </a:r>
          <a:r>
            <a:rPr lang="en-US" sz="14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400" dirty="0" err="1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ajratilayotgan</a:t>
          </a:r>
          <a:r>
            <a:rPr lang="en-US" sz="14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400" dirty="0" err="1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har</a:t>
          </a:r>
          <a:r>
            <a:rPr lang="en-US" sz="14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400" dirty="0" err="1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bir</a:t>
          </a:r>
          <a:r>
            <a:rPr lang="en-US" sz="14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400" dirty="0" err="1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kredit</a:t>
          </a:r>
          <a:r>
            <a:rPr lang="en-US" sz="14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400" dirty="0" err="1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liniyasining</a:t>
          </a:r>
          <a:r>
            <a:rPr lang="en-US" sz="14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400" dirty="0" err="1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matematik</a:t>
          </a:r>
          <a:r>
            <a:rPr lang="en-US" sz="14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400" dirty="0" err="1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hisob-kitoblarga</a:t>
          </a:r>
          <a:r>
            <a:rPr lang="en-US" sz="14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400" dirty="0" err="1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asoslangan</a:t>
          </a:r>
          <a:r>
            <a:rPr lang="en-US" sz="14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400" dirty="0" err="1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iqtisodiy</a:t>
          </a:r>
          <a:r>
            <a:rPr lang="en-US" sz="14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400" dirty="0" err="1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samaradorligini</a:t>
          </a:r>
          <a:r>
            <a:rPr lang="en-US" sz="14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400" dirty="0" err="1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ta’minlash</a:t>
          </a:r>
          <a:r>
            <a:rPr lang="en-US" sz="14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400" dirty="0" err="1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boʻyicha</a:t>
          </a:r>
          <a:r>
            <a:rPr lang="en-US" sz="14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400" dirty="0" err="1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qoʻyilgan</a:t>
          </a:r>
          <a:r>
            <a:rPr lang="en-US" sz="14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400" dirty="0" err="1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qatʼiy</a:t>
          </a:r>
          <a:r>
            <a:rPr lang="en-US" sz="14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400" dirty="0" err="1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vazifalar</a:t>
          </a:r>
          <a:r>
            <a:rPr lang="en-US" sz="14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400" dirty="0" err="1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mavjud</a:t>
          </a:r>
          <a:r>
            <a:rPr lang="en-US" sz="14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.</a:t>
          </a:r>
          <a:endParaRPr lang="ru-RU" sz="1400" dirty="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041ED68B-B9B3-4978-9517-252E1FAD5C9E}" type="parTrans" cxnId="{A74BEB10-2F21-4C01-B9B9-5962BAD4F9A8}">
      <dgm:prSet/>
      <dgm:spPr/>
      <dgm:t>
        <a:bodyPr/>
        <a:lstStyle/>
        <a:p>
          <a:endParaRPr lang="ru-RU" sz="140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76315F83-BD8C-4D9E-84C8-14051C7BAE83}" type="sibTrans" cxnId="{A74BEB10-2F21-4C01-B9B9-5962BAD4F9A8}">
      <dgm:prSet/>
      <dgm:spPr/>
      <dgm:t>
        <a:bodyPr/>
        <a:lstStyle/>
        <a:p>
          <a:endParaRPr lang="ru-RU" sz="140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DF065696-4F6F-4455-828B-DFDAA50E36E1}">
      <dgm:prSet phldrT="[Текст]" custT="1"/>
      <dgm:spPr/>
      <dgm:t>
        <a:bodyPr/>
        <a:lstStyle/>
        <a:p>
          <a:r>
            <a:rPr lang="en-US" sz="1400" b="1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Mamlakatning xalqaro reytingi va investitsion jozibadorligi:</a:t>
          </a:r>
          <a:r>
            <a:rPr lang="en-US" sz="140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Davlat ulushi mavjud boʻlgan yirik banklarni transformatsiya qilish va xususiylashtirish sharoitida NPL koʻrsatkichining past boʻlishi mamlakatning suveren hamda korporativ kredit reytinglariga, shuningdek, arzon xorijiy resurslarni jalb qilish imkoniyatiga toʻgʻridan-toʻgʻri ta’sir koʻrsatadi.</a:t>
          </a:r>
          <a:endParaRPr lang="ru-RU" sz="1400" dirty="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790A8FF1-F483-4238-901D-E38B21B95F36}" type="parTrans" cxnId="{E8F6B463-F773-4969-9241-A9B9DDFA34FE}">
      <dgm:prSet/>
      <dgm:spPr/>
      <dgm:t>
        <a:bodyPr/>
        <a:lstStyle/>
        <a:p>
          <a:endParaRPr lang="ru-RU" sz="140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AEA5B416-8B73-49BC-9CAB-77933A11B867}" type="sibTrans" cxnId="{E8F6B463-F773-4969-9241-A9B9DDFA34FE}">
      <dgm:prSet/>
      <dgm:spPr/>
      <dgm:t>
        <a:bodyPr/>
        <a:lstStyle/>
        <a:p>
          <a:endParaRPr lang="ru-RU" sz="140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74B5E577-5543-4E70-AA86-C152A6EDFFBD}" type="pres">
      <dgm:prSet presAssocID="{001EA29A-BC56-4E97-938C-BE3FF7426B81}" presName="Name0" presStyleCnt="0">
        <dgm:presLayoutVars>
          <dgm:chMax val="7"/>
          <dgm:chPref val="7"/>
          <dgm:dir/>
        </dgm:presLayoutVars>
      </dgm:prSet>
      <dgm:spPr/>
    </dgm:pt>
    <dgm:pt modelId="{7CFA3316-0A0A-4C8C-8197-D7F45F5A68E7}" type="pres">
      <dgm:prSet presAssocID="{001EA29A-BC56-4E97-938C-BE3FF7426B81}" presName="Name1" presStyleCnt="0"/>
      <dgm:spPr/>
    </dgm:pt>
    <dgm:pt modelId="{64912036-84BF-4B24-9F2C-489E2CB0A0D0}" type="pres">
      <dgm:prSet presAssocID="{001EA29A-BC56-4E97-938C-BE3FF7426B81}" presName="cycle" presStyleCnt="0"/>
      <dgm:spPr/>
    </dgm:pt>
    <dgm:pt modelId="{05723EF9-33D8-4AD6-A470-812DB8BCCBC2}" type="pres">
      <dgm:prSet presAssocID="{001EA29A-BC56-4E97-938C-BE3FF7426B81}" presName="srcNode" presStyleLbl="node1" presStyleIdx="0" presStyleCnt="5"/>
      <dgm:spPr/>
    </dgm:pt>
    <dgm:pt modelId="{B89D2141-D6F9-45A5-8953-F5C90E5B8766}" type="pres">
      <dgm:prSet presAssocID="{001EA29A-BC56-4E97-938C-BE3FF7426B81}" presName="conn" presStyleLbl="parChTrans1D2" presStyleIdx="0" presStyleCnt="1"/>
      <dgm:spPr/>
    </dgm:pt>
    <dgm:pt modelId="{F8B830D9-5A7E-47BE-A289-61599F93CB30}" type="pres">
      <dgm:prSet presAssocID="{001EA29A-BC56-4E97-938C-BE3FF7426B81}" presName="extraNode" presStyleLbl="node1" presStyleIdx="0" presStyleCnt="5"/>
      <dgm:spPr/>
    </dgm:pt>
    <dgm:pt modelId="{455295C3-B96F-4244-94B5-E8F2B6243C4F}" type="pres">
      <dgm:prSet presAssocID="{001EA29A-BC56-4E97-938C-BE3FF7426B81}" presName="dstNode" presStyleLbl="node1" presStyleIdx="0" presStyleCnt="5"/>
      <dgm:spPr/>
    </dgm:pt>
    <dgm:pt modelId="{57D071BE-B4A3-43BC-9C6A-0CA0FC530404}" type="pres">
      <dgm:prSet presAssocID="{19567784-E528-4107-BAB8-EA62C84707D1}" presName="text_1" presStyleLbl="node1" presStyleIdx="0" presStyleCnt="5" custScaleY="117985">
        <dgm:presLayoutVars>
          <dgm:bulletEnabled val="1"/>
        </dgm:presLayoutVars>
      </dgm:prSet>
      <dgm:spPr/>
    </dgm:pt>
    <dgm:pt modelId="{6AAE1ABD-CD6D-4283-BBE5-D7C4D056FA53}" type="pres">
      <dgm:prSet presAssocID="{19567784-E528-4107-BAB8-EA62C84707D1}" presName="accent_1" presStyleCnt="0"/>
      <dgm:spPr/>
    </dgm:pt>
    <dgm:pt modelId="{6027DEBE-7D82-4B26-A029-2F4EB502AA77}" type="pres">
      <dgm:prSet presAssocID="{19567784-E528-4107-BAB8-EA62C84707D1}" presName="accentRepeatNode" presStyleLbl="solidFgAcc1" presStyleIdx="0" presStyleCnt="5"/>
      <dgm:spPr/>
    </dgm:pt>
    <dgm:pt modelId="{0AB6D006-4074-4478-A38D-B9170817E3E1}" type="pres">
      <dgm:prSet presAssocID="{400774F2-BDB0-4D70-B49E-B3B13B2D7D35}" presName="text_2" presStyleLbl="node1" presStyleIdx="1" presStyleCnt="5" custScaleY="117985">
        <dgm:presLayoutVars>
          <dgm:bulletEnabled val="1"/>
        </dgm:presLayoutVars>
      </dgm:prSet>
      <dgm:spPr/>
    </dgm:pt>
    <dgm:pt modelId="{A1068254-A011-4F90-95F8-6F6234E052CD}" type="pres">
      <dgm:prSet presAssocID="{400774F2-BDB0-4D70-B49E-B3B13B2D7D35}" presName="accent_2" presStyleCnt="0"/>
      <dgm:spPr/>
    </dgm:pt>
    <dgm:pt modelId="{A88D1E4A-56BC-4553-AFCF-A72E71EFE97A}" type="pres">
      <dgm:prSet presAssocID="{400774F2-BDB0-4D70-B49E-B3B13B2D7D35}" presName="accentRepeatNode" presStyleLbl="solidFgAcc1" presStyleIdx="1" presStyleCnt="5"/>
      <dgm:spPr/>
    </dgm:pt>
    <dgm:pt modelId="{D51BDAAD-8AE0-466E-BB81-BF35E7EEEF80}" type="pres">
      <dgm:prSet presAssocID="{95664A02-6A8B-4EF9-899E-B0AE73BD8F74}" presName="text_3" presStyleLbl="node1" presStyleIdx="2" presStyleCnt="5" custScaleY="127424">
        <dgm:presLayoutVars>
          <dgm:bulletEnabled val="1"/>
        </dgm:presLayoutVars>
      </dgm:prSet>
      <dgm:spPr/>
    </dgm:pt>
    <dgm:pt modelId="{25AED44A-E7A2-4336-8AA1-9922D44E80FF}" type="pres">
      <dgm:prSet presAssocID="{95664A02-6A8B-4EF9-899E-B0AE73BD8F74}" presName="accent_3" presStyleCnt="0"/>
      <dgm:spPr/>
    </dgm:pt>
    <dgm:pt modelId="{843D771B-D6C1-4A77-A47C-982616FF90AF}" type="pres">
      <dgm:prSet presAssocID="{95664A02-6A8B-4EF9-899E-B0AE73BD8F74}" presName="accentRepeatNode" presStyleLbl="solidFgAcc1" presStyleIdx="2" presStyleCnt="5"/>
      <dgm:spPr/>
    </dgm:pt>
    <dgm:pt modelId="{AFB50635-FB47-42AD-958A-99ECBBB7E8A2}" type="pres">
      <dgm:prSet presAssocID="{BC314EC5-4D43-4C9F-B2A1-C513C2DC600B}" presName="text_4" presStyleLbl="node1" presStyleIdx="3" presStyleCnt="5" custScaleY="136862">
        <dgm:presLayoutVars>
          <dgm:bulletEnabled val="1"/>
        </dgm:presLayoutVars>
      </dgm:prSet>
      <dgm:spPr/>
    </dgm:pt>
    <dgm:pt modelId="{BD4309E9-46CD-41EE-BC0B-78A87ACC9EE4}" type="pres">
      <dgm:prSet presAssocID="{BC314EC5-4D43-4C9F-B2A1-C513C2DC600B}" presName="accent_4" presStyleCnt="0"/>
      <dgm:spPr/>
    </dgm:pt>
    <dgm:pt modelId="{5D45270E-10CF-496C-AC94-FC4EA659B88E}" type="pres">
      <dgm:prSet presAssocID="{BC314EC5-4D43-4C9F-B2A1-C513C2DC600B}" presName="accentRepeatNode" presStyleLbl="solidFgAcc1" presStyleIdx="3" presStyleCnt="5"/>
      <dgm:spPr/>
    </dgm:pt>
    <dgm:pt modelId="{93BD83FE-1796-463F-8B7A-A22B48DD12BD}" type="pres">
      <dgm:prSet presAssocID="{DF065696-4F6F-4455-828B-DFDAA50E36E1}" presName="text_5" presStyleLbl="node1" presStyleIdx="4" presStyleCnt="5" custScaleY="122704">
        <dgm:presLayoutVars>
          <dgm:bulletEnabled val="1"/>
        </dgm:presLayoutVars>
      </dgm:prSet>
      <dgm:spPr/>
    </dgm:pt>
    <dgm:pt modelId="{AA2681D3-5263-44B5-B8E9-A9CAF5B3CA60}" type="pres">
      <dgm:prSet presAssocID="{DF065696-4F6F-4455-828B-DFDAA50E36E1}" presName="accent_5" presStyleCnt="0"/>
      <dgm:spPr/>
    </dgm:pt>
    <dgm:pt modelId="{93BAB19E-7042-45B3-AB0D-C7FCC6A9A175}" type="pres">
      <dgm:prSet presAssocID="{DF065696-4F6F-4455-828B-DFDAA50E36E1}" presName="accentRepeatNode" presStyleLbl="solidFgAcc1" presStyleIdx="4" presStyleCnt="5"/>
      <dgm:spPr/>
    </dgm:pt>
  </dgm:ptLst>
  <dgm:cxnLst>
    <dgm:cxn modelId="{A74BEB10-2F21-4C01-B9B9-5962BAD4F9A8}" srcId="{001EA29A-BC56-4E97-938C-BE3FF7426B81}" destId="{19567784-E528-4107-BAB8-EA62C84707D1}" srcOrd="0" destOrd="0" parTransId="{041ED68B-B9B3-4978-9517-252E1FAD5C9E}" sibTransId="{76315F83-BD8C-4D9E-84C8-14051C7BAE83}"/>
    <dgm:cxn modelId="{E8F6B463-F773-4969-9241-A9B9DDFA34FE}" srcId="{001EA29A-BC56-4E97-938C-BE3FF7426B81}" destId="{DF065696-4F6F-4455-828B-DFDAA50E36E1}" srcOrd="4" destOrd="0" parTransId="{790A8FF1-F483-4238-901D-E38B21B95F36}" sibTransId="{AEA5B416-8B73-49BC-9CAB-77933A11B867}"/>
    <dgm:cxn modelId="{AF978DF4-EBEA-4C24-9254-E19F5ABABC20}" type="presOf" srcId="{400774F2-BDB0-4D70-B49E-B3B13B2D7D35}" destId="{0AB6D006-4074-4478-A38D-B9170817E3E1}" srcOrd="0" destOrd="0" presId="urn:microsoft.com/office/officeart/2008/layout/VerticalCurvedList"/>
    <dgm:cxn modelId="{A6BF9524-DDD2-452E-90BA-44F4A69AE1F6}" type="presOf" srcId="{95664A02-6A8B-4EF9-899E-B0AE73BD8F74}" destId="{D51BDAAD-8AE0-466E-BB81-BF35E7EEEF80}" srcOrd="0" destOrd="0" presId="urn:microsoft.com/office/officeart/2008/layout/VerticalCurvedList"/>
    <dgm:cxn modelId="{AD379451-AB2E-49E6-A14D-83311134ED94}" type="presOf" srcId="{001EA29A-BC56-4E97-938C-BE3FF7426B81}" destId="{74B5E577-5543-4E70-AA86-C152A6EDFFBD}" srcOrd="0" destOrd="0" presId="urn:microsoft.com/office/officeart/2008/layout/VerticalCurvedList"/>
    <dgm:cxn modelId="{A75FD207-0647-4AB9-955C-81DD044E4077}" srcId="{001EA29A-BC56-4E97-938C-BE3FF7426B81}" destId="{BC314EC5-4D43-4C9F-B2A1-C513C2DC600B}" srcOrd="3" destOrd="0" parTransId="{28F6F94C-BCA9-401B-B514-810971ED77E8}" sibTransId="{94923B1D-F00D-4AB6-BFF3-DD59CA1297FD}"/>
    <dgm:cxn modelId="{A65ECA5A-0D2B-487E-A26C-8281FC01CCDC}" type="presOf" srcId="{76315F83-BD8C-4D9E-84C8-14051C7BAE83}" destId="{B89D2141-D6F9-45A5-8953-F5C90E5B8766}" srcOrd="0" destOrd="0" presId="urn:microsoft.com/office/officeart/2008/layout/VerticalCurvedList"/>
    <dgm:cxn modelId="{FEFD3F24-6D1E-498F-9E1F-F56AC0EEF4EE}" type="presOf" srcId="{19567784-E528-4107-BAB8-EA62C84707D1}" destId="{57D071BE-B4A3-43BC-9C6A-0CA0FC530404}" srcOrd="0" destOrd="0" presId="urn:microsoft.com/office/officeart/2008/layout/VerticalCurvedList"/>
    <dgm:cxn modelId="{85511666-F215-4A6F-B90C-96BA16684353}" type="presOf" srcId="{DF065696-4F6F-4455-828B-DFDAA50E36E1}" destId="{93BD83FE-1796-463F-8B7A-A22B48DD12BD}" srcOrd="0" destOrd="0" presId="urn:microsoft.com/office/officeart/2008/layout/VerticalCurvedList"/>
    <dgm:cxn modelId="{37C92E90-829F-4562-92EF-9743BE2F4F11}" srcId="{001EA29A-BC56-4E97-938C-BE3FF7426B81}" destId="{400774F2-BDB0-4D70-B49E-B3B13B2D7D35}" srcOrd="1" destOrd="0" parTransId="{A13701D4-E384-4EE8-B99C-BC30B4870F58}" sibTransId="{42E6B495-6265-4D07-9DA9-96333275966A}"/>
    <dgm:cxn modelId="{26B0BC88-8318-47EE-89E9-99E65D3CC4B8}" type="presOf" srcId="{BC314EC5-4D43-4C9F-B2A1-C513C2DC600B}" destId="{AFB50635-FB47-42AD-958A-99ECBBB7E8A2}" srcOrd="0" destOrd="0" presId="urn:microsoft.com/office/officeart/2008/layout/VerticalCurvedList"/>
    <dgm:cxn modelId="{4A8EB480-52F3-4CE9-98CD-FE4F2B00DA17}" srcId="{001EA29A-BC56-4E97-938C-BE3FF7426B81}" destId="{95664A02-6A8B-4EF9-899E-B0AE73BD8F74}" srcOrd="2" destOrd="0" parTransId="{71489694-544A-4DF3-B2AA-C796EB6046D7}" sibTransId="{9F08947B-3599-4FB6-8A24-478DE946037A}"/>
    <dgm:cxn modelId="{5E97DDFD-4D8D-4BA1-8D4B-63B40512D59B}" type="presParOf" srcId="{74B5E577-5543-4E70-AA86-C152A6EDFFBD}" destId="{7CFA3316-0A0A-4C8C-8197-D7F45F5A68E7}" srcOrd="0" destOrd="0" presId="urn:microsoft.com/office/officeart/2008/layout/VerticalCurvedList"/>
    <dgm:cxn modelId="{69169440-3501-4C1F-A134-541ED107EFA4}" type="presParOf" srcId="{7CFA3316-0A0A-4C8C-8197-D7F45F5A68E7}" destId="{64912036-84BF-4B24-9F2C-489E2CB0A0D0}" srcOrd="0" destOrd="0" presId="urn:microsoft.com/office/officeart/2008/layout/VerticalCurvedList"/>
    <dgm:cxn modelId="{3B84ACA1-2447-4D4D-90EA-3DB5001363F2}" type="presParOf" srcId="{64912036-84BF-4B24-9F2C-489E2CB0A0D0}" destId="{05723EF9-33D8-4AD6-A470-812DB8BCCBC2}" srcOrd="0" destOrd="0" presId="urn:microsoft.com/office/officeart/2008/layout/VerticalCurvedList"/>
    <dgm:cxn modelId="{E17EF7CB-F329-452F-A466-4E19C15F2B80}" type="presParOf" srcId="{64912036-84BF-4B24-9F2C-489E2CB0A0D0}" destId="{B89D2141-D6F9-45A5-8953-F5C90E5B8766}" srcOrd="1" destOrd="0" presId="urn:microsoft.com/office/officeart/2008/layout/VerticalCurvedList"/>
    <dgm:cxn modelId="{DDF5184A-6970-4AC3-BD47-FC5AF0C23D24}" type="presParOf" srcId="{64912036-84BF-4B24-9F2C-489E2CB0A0D0}" destId="{F8B830D9-5A7E-47BE-A289-61599F93CB30}" srcOrd="2" destOrd="0" presId="urn:microsoft.com/office/officeart/2008/layout/VerticalCurvedList"/>
    <dgm:cxn modelId="{1682D693-8356-4A44-BA55-C159B0E06B03}" type="presParOf" srcId="{64912036-84BF-4B24-9F2C-489E2CB0A0D0}" destId="{455295C3-B96F-4244-94B5-E8F2B6243C4F}" srcOrd="3" destOrd="0" presId="urn:microsoft.com/office/officeart/2008/layout/VerticalCurvedList"/>
    <dgm:cxn modelId="{C12048B4-1671-4881-B553-2D8AF7078160}" type="presParOf" srcId="{7CFA3316-0A0A-4C8C-8197-D7F45F5A68E7}" destId="{57D071BE-B4A3-43BC-9C6A-0CA0FC530404}" srcOrd="1" destOrd="0" presId="urn:microsoft.com/office/officeart/2008/layout/VerticalCurvedList"/>
    <dgm:cxn modelId="{A879C831-1434-40D2-B799-A43DAD3C18DF}" type="presParOf" srcId="{7CFA3316-0A0A-4C8C-8197-D7F45F5A68E7}" destId="{6AAE1ABD-CD6D-4283-BBE5-D7C4D056FA53}" srcOrd="2" destOrd="0" presId="urn:microsoft.com/office/officeart/2008/layout/VerticalCurvedList"/>
    <dgm:cxn modelId="{126F3C60-9080-47B5-9B96-5B7750139E82}" type="presParOf" srcId="{6AAE1ABD-CD6D-4283-BBE5-D7C4D056FA53}" destId="{6027DEBE-7D82-4B26-A029-2F4EB502AA77}" srcOrd="0" destOrd="0" presId="urn:microsoft.com/office/officeart/2008/layout/VerticalCurvedList"/>
    <dgm:cxn modelId="{E2FA04DC-ACD5-4E0A-B029-0A9EAA0C7B1D}" type="presParOf" srcId="{7CFA3316-0A0A-4C8C-8197-D7F45F5A68E7}" destId="{0AB6D006-4074-4478-A38D-B9170817E3E1}" srcOrd="3" destOrd="0" presId="urn:microsoft.com/office/officeart/2008/layout/VerticalCurvedList"/>
    <dgm:cxn modelId="{38D531B0-9FFF-474F-A508-FC35DB7CA08C}" type="presParOf" srcId="{7CFA3316-0A0A-4C8C-8197-D7F45F5A68E7}" destId="{A1068254-A011-4F90-95F8-6F6234E052CD}" srcOrd="4" destOrd="0" presId="urn:microsoft.com/office/officeart/2008/layout/VerticalCurvedList"/>
    <dgm:cxn modelId="{6382AE63-4BAC-4E4A-9E0C-4825B3E039C0}" type="presParOf" srcId="{A1068254-A011-4F90-95F8-6F6234E052CD}" destId="{A88D1E4A-56BC-4553-AFCF-A72E71EFE97A}" srcOrd="0" destOrd="0" presId="urn:microsoft.com/office/officeart/2008/layout/VerticalCurvedList"/>
    <dgm:cxn modelId="{7AA2F5C7-D2E1-4A73-A44A-D3007D5FE7E6}" type="presParOf" srcId="{7CFA3316-0A0A-4C8C-8197-D7F45F5A68E7}" destId="{D51BDAAD-8AE0-466E-BB81-BF35E7EEEF80}" srcOrd="5" destOrd="0" presId="urn:microsoft.com/office/officeart/2008/layout/VerticalCurvedList"/>
    <dgm:cxn modelId="{C2588E98-EEC5-4424-ABCD-03256857FC6B}" type="presParOf" srcId="{7CFA3316-0A0A-4C8C-8197-D7F45F5A68E7}" destId="{25AED44A-E7A2-4336-8AA1-9922D44E80FF}" srcOrd="6" destOrd="0" presId="urn:microsoft.com/office/officeart/2008/layout/VerticalCurvedList"/>
    <dgm:cxn modelId="{E849DB05-3FA7-41E2-AD02-EC33DFB03D34}" type="presParOf" srcId="{25AED44A-E7A2-4336-8AA1-9922D44E80FF}" destId="{843D771B-D6C1-4A77-A47C-982616FF90AF}" srcOrd="0" destOrd="0" presId="urn:microsoft.com/office/officeart/2008/layout/VerticalCurvedList"/>
    <dgm:cxn modelId="{8144E899-368D-41FA-8D65-B2CF577E9D94}" type="presParOf" srcId="{7CFA3316-0A0A-4C8C-8197-D7F45F5A68E7}" destId="{AFB50635-FB47-42AD-958A-99ECBBB7E8A2}" srcOrd="7" destOrd="0" presId="urn:microsoft.com/office/officeart/2008/layout/VerticalCurvedList"/>
    <dgm:cxn modelId="{C66651C9-4082-43D7-B733-A5769E252F6E}" type="presParOf" srcId="{7CFA3316-0A0A-4C8C-8197-D7F45F5A68E7}" destId="{BD4309E9-46CD-41EE-BC0B-78A87ACC9EE4}" srcOrd="8" destOrd="0" presId="urn:microsoft.com/office/officeart/2008/layout/VerticalCurvedList"/>
    <dgm:cxn modelId="{F57972C8-C049-46A9-A720-4B4A9C0A2B5A}" type="presParOf" srcId="{BD4309E9-46CD-41EE-BC0B-78A87ACC9EE4}" destId="{5D45270E-10CF-496C-AC94-FC4EA659B88E}" srcOrd="0" destOrd="0" presId="urn:microsoft.com/office/officeart/2008/layout/VerticalCurvedList"/>
    <dgm:cxn modelId="{C035CE3E-818E-448E-B615-67FD5215B1AC}" type="presParOf" srcId="{7CFA3316-0A0A-4C8C-8197-D7F45F5A68E7}" destId="{93BD83FE-1796-463F-8B7A-A22B48DD12BD}" srcOrd="9" destOrd="0" presId="urn:microsoft.com/office/officeart/2008/layout/VerticalCurvedList"/>
    <dgm:cxn modelId="{C6723E5B-5CBE-42DE-8596-B458D18D8114}" type="presParOf" srcId="{7CFA3316-0A0A-4C8C-8197-D7F45F5A68E7}" destId="{AA2681D3-5263-44B5-B8E9-A9CAF5B3CA60}" srcOrd="10" destOrd="0" presId="urn:microsoft.com/office/officeart/2008/layout/VerticalCurvedList"/>
    <dgm:cxn modelId="{9D2D3037-A923-4DD6-8162-3F48B3E75ACF}" type="presParOf" srcId="{AA2681D3-5263-44B5-B8E9-A9CAF5B3CA60}" destId="{93BAB19E-7042-45B3-AB0D-C7FCC6A9A175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F6A60FEE-969B-4429-A983-72557D94DB15}" type="doc">
      <dgm:prSet loTypeId="urn:microsoft.com/office/officeart/2005/8/layout/hList6" loCatId="list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ru-RU"/>
        </a:p>
      </dgm:t>
    </dgm:pt>
    <dgm:pt modelId="{5BDE3814-BA9A-4BCE-BDCB-F6526ACE7ACC}">
      <dgm:prSet phldrT="[Текст]" custT="1"/>
      <dgm:spPr/>
      <dgm:t>
        <a:bodyPr/>
        <a:lstStyle/>
        <a:p>
          <a:pPr>
            <a:lnSpc>
              <a:spcPct val="150000"/>
            </a:lnSpc>
          </a:pPr>
          <a:r>
            <a:rPr lang="ru-RU" sz="1800" b="1" smtClean="0">
              <a:latin typeface="Times New Roman" panose="02020603050405020304" pitchFamily="18" charset="0"/>
              <a:cs typeface="Times New Roman" panose="02020603050405020304" pitchFamily="18" charset="0"/>
            </a:rPr>
            <a:t>Monitoring va barvaqt prognozlash:</a:t>
          </a:r>
          <a:r>
            <a:rPr lang="ru-RU" sz="1800" smtClean="0">
              <a:latin typeface="Times New Roman" panose="02020603050405020304" pitchFamily="18" charset="0"/>
              <a:cs typeface="Times New Roman" panose="02020603050405020304" pitchFamily="18" charset="0"/>
            </a:rPr>
            <a:t> Tijorat banklarida muammoli kreditlar ulushini kamaytirish, anderrayting va skoring modellarini raqamlashtirish orqali risklarni dastlabki bosqichda aniqlash imkoniyati yaratiladi. </a:t>
          </a:r>
          <a:endParaRPr lang="ru-RU" sz="18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805F0AEB-7B5D-4F64-8F2E-466436CF7E1D}" type="parTrans" cxnId="{FDEF4EB3-82C9-4E62-8880-10FF3ABB9A3E}">
      <dgm:prSet/>
      <dgm:spPr/>
      <dgm:t>
        <a:bodyPr/>
        <a:lstStyle/>
        <a:p>
          <a:pPr>
            <a:lnSpc>
              <a:spcPct val="150000"/>
            </a:lnSpc>
          </a:pPr>
          <a:endParaRPr lang="ru-RU" sz="180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3033AE24-BA12-46FC-AF82-7828489E9179}" type="sibTrans" cxnId="{FDEF4EB3-82C9-4E62-8880-10FF3ABB9A3E}">
      <dgm:prSet/>
      <dgm:spPr/>
      <dgm:t>
        <a:bodyPr/>
        <a:lstStyle/>
        <a:p>
          <a:pPr>
            <a:lnSpc>
              <a:spcPct val="150000"/>
            </a:lnSpc>
          </a:pPr>
          <a:endParaRPr lang="ru-RU" sz="180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79ADFECB-DF9B-402B-9B83-CDE82F495723}">
      <dgm:prSet custT="1"/>
      <dgm:spPr/>
      <dgm:t>
        <a:bodyPr/>
        <a:lstStyle/>
        <a:p>
          <a:pPr>
            <a:lnSpc>
              <a:spcPct val="150000"/>
            </a:lnSpc>
          </a:pPr>
          <a:r>
            <a:rPr lang="ru-RU" sz="1800" b="1" smtClean="0">
              <a:latin typeface="Times New Roman" panose="02020603050405020304" pitchFamily="18" charset="0"/>
              <a:cs typeface="Times New Roman" panose="02020603050405020304" pitchFamily="18" charset="0"/>
            </a:rPr>
            <a:t>Moliyaviy barqarorlik:</a:t>
          </a:r>
          <a:r>
            <a:rPr lang="ru-RU" sz="1800" smtClean="0">
              <a:latin typeface="Times New Roman" panose="02020603050405020304" pitchFamily="18" charset="0"/>
              <a:cs typeface="Times New Roman" panose="02020603050405020304" pitchFamily="18" charset="0"/>
            </a:rPr>
            <a:t> Ishlab chiqilgan tavsiya va mexanizmlar banklarning likvidliligi hamda kapital etarliligi koʻrsatkichlarini yaxshilashga, zaxira fondlariga ajratmalarni optimallashtirishga xizmat qiladi. </a:t>
          </a:r>
          <a:endParaRPr lang="ru-RU" sz="18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8E4107D1-5864-4ED8-A693-E2A36EE3FF32}" type="parTrans" cxnId="{419B5446-D934-41F3-A003-21C570979877}">
      <dgm:prSet/>
      <dgm:spPr/>
      <dgm:t>
        <a:bodyPr/>
        <a:lstStyle/>
        <a:p>
          <a:pPr>
            <a:lnSpc>
              <a:spcPct val="150000"/>
            </a:lnSpc>
          </a:pPr>
          <a:endParaRPr lang="ru-RU" sz="180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78DB35A7-1217-4557-9BC9-6C74FC53F5A1}" type="sibTrans" cxnId="{419B5446-D934-41F3-A003-21C570979877}">
      <dgm:prSet/>
      <dgm:spPr/>
      <dgm:t>
        <a:bodyPr/>
        <a:lstStyle/>
        <a:p>
          <a:pPr>
            <a:lnSpc>
              <a:spcPct val="150000"/>
            </a:lnSpc>
          </a:pPr>
          <a:endParaRPr lang="ru-RU" sz="180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092740CE-A28E-4B2E-B967-0B925FD8E21F}">
      <dgm:prSet custT="1"/>
      <dgm:spPr/>
      <dgm:t>
        <a:bodyPr/>
        <a:lstStyle/>
        <a:p>
          <a:pPr>
            <a:lnSpc>
              <a:spcPct val="150000"/>
            </a:lnSpc>
          </a:pPr>
          <a:r>
            <a:rPr lang="ru-RU" sz="1800" b="1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Strategik</a:t>
          </a:r>
          <a:r>
            <a:rPr lang="ru-RU" sz="1800" b="1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ru-RU" sz="1800" b="1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qarorlar</a:t>
          </a:r>
          <a:r>
            <a:rPr lang="ru-RU" sz="1800" b="1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:</a:t>
          </a:r>
          <a:r>
            <a:rPr lang="ru-RU" sz="180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ru-RU" sz="1800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Natijalardan</a:t>
          </a:r>
          <a:r>
            <a:rPr lang="ru-RU" sz="180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ru-RU" sz="1800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tijorat</a:t>
          </a:r>
          <a:r>
            <a:rPr lang="ru-RU" sz="180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ru-RU" sz="1800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banklari</a:t>
          </a:r>
          <a:r>
            <a:rPr lang="ru-RU" sz="180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ru-RU" sz="1800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moliya-bank</a:t>
          </a:r>
          <a:r>
            <a:rPr lang="ru-RU" sz="180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ru-RU" sz="1800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tizimidagi</a:t>
          </a:r>
          <a:r>
            <a:rPr lang="ru-RU" sz="180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ru-RU" sz="1800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tarkibiy</a:t>
          </a:r>
          <a:r>
            <a:rPr lang="ru-RU" sz="180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ru-RU" sz="1800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islohotlar</a:t>
          </a:r>
          <a:r>
            <a:rPr lang="ru-RU" sz="180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ru-RU" sz="1800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va</a:t>
          </a:r>
          <a:r>
            <a:rPr lang="ru-RU" sz="180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ru-RU" sz="1800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transformatsiya</a:t>
          </a:r>
          <a:r>
            <a:rPr lang="ru-RU" sz="180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ru-RU" sz="1800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jarayonlarida</a:t>
          </a:r>
          <a:r>
            <a:rPr lang="ru-RU" sz="180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ru-RU" sz="1800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risk-menejment</a:t>
          </a:r>
          <a:r>
            <a:rPr lang="ru-RU" sz="180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ru-RU" sz="1800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strategiyalarini</a:t>
          </a:r>
          <a:r>
            <a:rPr lang="ru-RU" sz="180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ru-RU" sz="1800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shakllantirishda</a:t>
          </a:r>
          <a:r>
            <a:rPr lang="ru-RU" sz="180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ru-RU" sz="1800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amaliy</a:t>
          </a:r>
          <a:r>
            <a:rPr lang="ru-RU" sz="180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ru-RU" sz="1800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qoʻllanma</a:t>
          </a:r>
          <a:r>
            <a:rPr lang="ru-RU" sz="180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ru-RU" sz="1800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sifatida</a:t>
          </a:r>
          <a:r>
            <a:rPr lang="ru-RU" sz="180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ru-RU" sz="1800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foydalanishlari</a:t>
          </a:r>
          <a:r>
            <a:rPr lang="ru-RU" sz="180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ru-RU" sz="1800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mumkin</a:t>
          </a:r>
          <a:r>
            <a:rPr lang="ru-RU" sz="180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.</a:t>
          </a:r>
          <a:endParaRPr lang="ru-RU" sz="18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60D6E901-DE5D-46B3-9FC6-F3751CB3324D}" type="parTrans" cxnId="{A4C555D2-C208-4ECE-813A-F1E4F139DCEE}">
      <dgm:prSet/>
      <dgm:spPr/>
      <dgm:t>
        <a:bodyPr/>
        <a:lstStyle/>
        <a:p>
          <a:pPr>
            <a:lnSpc>
              <a:spcPct val="150000"/>
            </a:lnSpc>
          </a:pPr>
          <a:endParaRPr lang="ru-RU" sz="180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E0A7091D-3825-482A-A57E-2639D55C2826}" type="sibTrans" cxnId="{A4C555D2-C208-4ECE-813A-F1E4F139DCEE}">
      <dgm:prSet/>
      <dgm:spPr/>
      <dgm:t>
        <a:bodyPr/>
        <a:lstStyle/>
        <a:p>
          <a:pPr>
            <a:lnSpc>
              <a:spcPct val="150000"/>
            </a:lnSpc>
          </a:pPr>
          <a:endParaRPr lang="ru-RU" sz="180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21330CDA-56D1-4CFA-AE40-03202C9E25DD}" type="pres">
      <dgm:prSet presAssocID="{F6A60FEE-969B-4429-A983-72557D94DB15}" presName="Name0" presStyleCnt="0">
        <dgm:presLayoutVars>
          <dgm:dir/>
          <dgm:resizeHandles val="exact"/>
        </dgm:presLayoutVars>
      </dgm:prSet>
      <dgm:spPr/>
    </dgm:pt>
    <dgm:pt modelId="{EDDB8485-C064-4344-803F-8708C14E7FCE}" type="pres">
      <dgm:prSet presAssocID="{5BDE3814-BA9A-4BCE-BDCB-F6526ACE7ACC}" presName="node" presStyleLbl="node1" presStyleIdx="0" presStyleCnt="3" custLinFactX="-7356" custLinFactNeighborX="-100000" custLinFactNeighborY="-510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B037A6C2-ED6E-4A37-B0D1-88DF18F1E81B}" type="pres">
      <dgm:prSet presAssocID="{3033AE24-BA12-46FC-AF82-7828489E9179}" presName="sibTrans" presStyleCnt="0"/>
      <dgm:spPr/>
    </dgm:pt>
    <dgm:pt modelId="{033A89A2-46CD-4E84-8AE6-428344062761}" type="pres">
      <dgm:prSet presAssocID="{79ADFECB-DF9B-402B-9B83-CDE82F495723}" presName="node" presStyleLbl="node1" presStyleIdx="1" presStyleCnt="3">
        <dgm:presLayoutVars>
          <dgm:bulletEnabled val="1"/>
        </dgm:presLayoutVars>
      </dgm:prSet>
      <dgm:spPr/>
    </dgm:pt>
    <dgm:pt modelId="{7FC9A640-E5D0-4B49-A8EA-8B656456864F}" type="pres">
      <dgm:prSet presAssocID="{78DB35A7-1217-4557-9BC9-6C74FC53F5A1}" presName="sibTrans" presStyleCnt="0"/>
      <dgm:spPr/>
    </dgm:pt>
    <dgm:pt modelId="{A6E1F551-464C-4836-99F8-09688D8CF636}" type="pres">
      <dgm:prSet presAssocID="{092740CE-A28E-4B2E-B967-0B925FD8E21F}" presName="node" presStyleLbl="node1" presStyleIdx="2" presStyleCnt="3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B3A6DD1C-E639-42BF-ACD3-1A16788A5FC7}" type="presOf" srcId="{79ADFECB-DF9B-402B-9B83-CDE82F495723}" destId="{033A89A2-46CD-4E84-8AE6-428344062761}" srcOrd="0" destOrd="0" presId="urn:microsoft.com/office/officeart/2005/8/layout/hList6"/>
    <dgm:cxn modelId="{04FCC029-62F6-479F-8AC0-DEA9712E8C45}" type="presOf" srcId="{F6A60FEE-969B-4429-A983-72557D94DB15}" destId="{21330CDA-56D1-4CFA-AE40-03202C9E25DD}" srcOrd="0" destOrd="0" presId="urn:microsoft.com/office/officeart/2005/8/layout/hList6"/>
    <dgm:cxn modelId="{FDEF4EB3-82C9-4E62-8880-10FF3ABB9A3E}" srcId="{F6A60FEE-969B-4429-A983-72557D94DB15}" destId="{5BDE3814-BA9A-4BCE-BDCB-F6526ACE7ACC}" srcOrd="0" destOrd="0" parTransId="{805F0AEB-7B5D-4F64-8F2E-466436CF7E1D}" sibTransId="{3033AE24-BA12-46FC-AF82-7828489E9179}"/>
    <dgm:cxn modelId="{03525263-D894-4366-AAB0-C2DA14AEC565}" type="presOf" srcId="{092740CE-A28E-4B2E-B967-0B925FD8E21F}" destId="{A6E1F551-464C-4836-99F8-09688D8CF636}" srcOrd="0" destOrd="0" presId="urn:microsoft.com/office/officeart/2005/8/layout/hList6"/>
    <dgm:cxn modelId="{A4C555D2-C208-4ECE-813A-F1E4F139DCEE}" srcId="{F6A60FEE-969B-4429-A983-72557D94DB15}" destId="{092740CE-A28E-4B2E-B967-0B925FD8E21F}" srcOrd="2" destOrd="0" parTransId="{60D6E901-DE5D-46B3-9FC6-F3751CB3324D}" sibTransId="{E0A7091D-3825-482A-A57E-2639D55C2826}"/>
    <dgm:cxn modelId="{E564BEBC-A494-402D-A74B-C466F3C989AA}" type="presOf" srcId="{5BDE3814-BA9A-4BCE-BDCB-F6526ACE7ACC}" destId="{EDDB8485-C064-4344-803F-8708C14E7FCE}" srcOrd="0" destOrd="0" presId="urn:microsoft.com/office/officeart/2005/8/layout/hList6"/>
    <dgm:cxn modelId="{419B5446-D934-41F3-A003-21C570979877}" srcId="{F6A60FEE-969B-4429-A983-72557D94DB15}" destId="{79ADFECB-DF9B-402B-9B83-CDE82F495723}" srcOrd="1" destOrd="0" parTransId="{8E4107D1-5864-4ED8-A693-E2A36EE3FF32}" sibTransId="{78DB35A7-1217-4557-9BC9-6C74FC53F5A1}"/>
    <dgm:cxn modelId="{A3E5E81A-A8AA-45CA-8E10-B8B68BBFC84D}" type="presParOf" srcId="{21330CDA-56D1-4CFA-AE40-03202C9E25DD}" destId="{EDDB8485-C064-4344-803F-8708C14E7FCE}" srcOrd="0" destOrd="0" presId="urn:microsoft.com/office/officeart/2005/8/layout/hList6"/>
    <dgm:cxn modelId="{76CCA706-7C76-429B-8B44-28BFDADEBB41}" type="presParOf" srcId="{21330CDA-56D1-4CFA-AE40-03202C9E25DD}" destId="{B037A6C2-ED6E-4A37-B0D1-88DF18F1E81B}" srcOrd="1" destOrd="0" presId="urn:microsoft.com/office/officeart/2005/8/layout/hList6"/>
    <dgm:cxn modelId="{67199D26-6B7B-46C2-B249-DF2EECF5B743}" type="presParOf" srcId="{21330CDA-56D1-4CFA-AE40-03202C9E25DD}" destId="{033A89A2-46CD-4E84-8AE6-428344062761}" srcOrd="2" destOrd="0" presId="urn:microsoft.com/office/officeart/2005/8/layout/hList6"/>
    <dgm:cxn modelId="{44FBDD02-F4D2-4238-9539-274B0764E080}" type="presParOf" srcId="{21330CDA-56D1-4CFA-AE40-03202C9E25DD}" destId="{7FC9A640-E5D0-4B49-A8EA-8B656456864F}" srcOrd="3" destOrd="0" presId="urn:microsoft.com/office/officeart/2005/8/layout/hList6"/>
    <dgm:cxn modelId="{3718E59C-A53D-444F-A763-A916DBE6A1D4}" type="presParOf" srcId="{21330CDA-56D1-4CFA-AE40-03202C9E25DD}" destId="{A6E1F551-464C-4836-99F8-09688D8CF636}" srcOrd="4" destOrd="0" presId="urn:microsoft.com/office/officeart/2005/8/layout/hList6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78E37BF4-5ED9-4854-AB16-FB8F9F16CBA7}" type="doc">
      <dgm:prSet loTypeId="urn:microsoft.com/office/officeart/2005/8/layout/vList3" loCatId="list" qsTypeId="urn:microsoft.com/office/officeart/2005/8/quickstyle/simple1" qsCatId="simple" csTypeId="urn:microsoft.com/office/officeart/2005/8/colors/accent1_2" csCatId="accent1" phldr="1"/>
      <dgm:spPr/>
    </dgm:pt>
    <dgm:pt modelId="{3E8B1F02-EF5E-4B9A-9916-405E59A9252D}">
      <dgm:prSet phldrT="[Текст]" custT="1"/>
      <dgm:spPr/>
      <dgm:t>
        <a:bodyPr/>
        <a:lstStyle/>
        <a:p>
          <a:r>
            <a:rPr lang="ru-RU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Эмпирические исследования помогают в изучении процессов цифровизации банковских продуктов и формирования банковских экосистем, что позволяет получить актуальные данные о состоянии и тенденциях развития данной области.</a:t>
          </a:r>
          <a:endParaRPr lang="ru-RU" sz="1400" dirty="0">
            <a:solidFill>
              <a:schemeClr val="tx1"/>
            </a:solidFill>
          </a:endParaRPr>
        </a:p>
      </dgm:t>
    </dgm:pt>
    <dgm:pt modelId="{1B9BC1AA-1B23-405D-8316-2AEA9BC4CB43}" type="parTrans" cxnId="{70602BA6-7492-43C7-8D1E-63323728A951}">
      <dgm:prSet/>
      <dgm:spPr/>
      <dgm:t>
        <a:bodyPr/>
        <a:lstStyle/>
        <a:p>
          <a:endParaRPr lang="ru-RU"/>
        </a:p>
      </dgm:t>
    </dgm:pt>
    <dgm:pt modelId="{A4E09E1D-A36F-4AFA-ACDF-CC5080D1F5BE}" type="sibTrans" cxnId="{70602BA6-7492-43C7-8D1E-63323728A951}">
      <dgm:prSet/>
      <dgm:spPr/>
      <dgm:t>
        <a:bodyPr/>
        <a:lstStyle/>
        <a:p>
          <a:endParaRPr lang="ru-RU"/>
        </a:p>
      </dgm:t>
    </dgm:pt>
    <dgm:pt modelId="{7E96C5E6-4121-4E5C-B7D0-92D8D2095188}">
      <dgm:prSet phldrT="[Текст]" custT="1"/>
      <dgm:spPr/>
      <dgm:t>
        <a:bodyPr/>
        <a:lstStyle/>
        <a:p>
          <a:r>
            <a:rPr lang="ru-RU" sz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Одним из ключевых направлений эмпирических исследований является изучение факторов, влияющих на принятие и использование цифровых банковских продуктов и услуг потребителями. Так, Алимов Б., Рахимов С. на основе опроса 500 клиентов банков Узбекистана выявили, что основными драйверами использования мобильного банкинга являются удобство, скорость и безопасность транзакций, а также доверие к банку и уровень цифровой грамотности пользователей. При этом авторы отмечают, что барьерами для более широкого распространения мобильного банкинга в стране остаются недостаточная осведомленность населения о преимуществах цифровых финансовых услуг, а также сохраняющееся предпочтение части клиентов к традиционным каналам обслуживания.</a:t>
          </a:r>
          <a:endParaRPr lang="ru-RU" sz="1200" dirty="0">
            <a:solidFill>
              <a:schemeClr val="tx1"/>
            </a:solidFill>
          </a:endParaRPr>
        </a:p>
      </dgm:t>
    </dgm:pt>
    <dgm:pt modelId="{675B98A0-6B5F-409B-8B95-E52F2129BD6A}" type="parTrans" cxnId="{52BEC654-5E69-4EF0-A374-AECFC1F79D01}">
      <dgm:prSet/>
      <dgm:spPr/>
      <dgm:t>
        <a:bodyPr/>
        <a:lstStyle/>
        <a:p>
          <a:endParaRPr lang="ru-RU"/>
        </a:p>
      </dgm:t>
    </dgm:pt>
    <dgm:pt modelId="{87C7350C-7D2E-46B3-848B-D09C0C061382}" type="sibTrans" cxnId="{52BEC654-5E69-4EF0-A374-AECFC1F79D01}">
      <dgm:prSet/>
      <dgm:spPr/>
      <dgm:t>
        <a:bodyPr/>
        <a:lstStyle/>
        <a:p>
          <a:endParaRPr lang="ru-RU"/>
        </a:p>
      </dgm:t>
    </dgm:pt>
    <dgm:pt modelId="{AD86A39D-7825-4D1F-9181-AC7F09FC0963}">
      <dgm:prSet phldrT="[Текст]"/>
      <dgm:spPr/>
      <dgm:t>
        <a:bodyPr/>
        <a:lstStyle/>
        <a:p>
          <a:r>
            <a:rPr lang="ru-RU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Зарубежные эмпирические исследования также подтверждают трансформирующее влияние пандемии на развитие цифрового банкинга. Так, </a:t>
          </a:r>
          <a:r>
            <a:rPr lang="ru-RU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Шен</a:t>
          </a:r>
          <a:r>
            <a:rPr lang="ru-RU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Дж., Ли С. на основе анализа данных о транзакциях 500 000 клиентов 10 крупнейших банков Китая выявили, что доля цифровых каналов в общем объеме банковских операций выросла с 55% в 2019 году до 80% в 2020 году, при этом наиболее значительный рост наблюдался в сегментах старшего поколения и жителей сельских регионов, традиционно демонстрировавших более низкий уровень использования цифровых сервисов. Авторы отмечают, что банки, сумевшие оперативно адаптировать свои цифровые платформы и продукты к потребностям клиентов в условиях пандемии, смогли не только сохранить, но и расширить свою клиентскую базу и долю рынка.</a:t>
          </a:r>
          <a:endParaRPr lang="ru-RU" dirty="0">
            <a:solidFill>
              <a:schemeClr val="tx1"/>
            </a:solidFill>
          </a:endParaRPr>
        </a:p>
      </dgm:t>
    </dgm:pt>
    <dgm:pt modelId="{FA05E037-B3A6-4943-905A-578D0BA76CD4}" type="parTrans" cxnId="{215E2C44-9DDE-44B7-AA6B-F523FFB4650B}">
      <dgm:prSet/>
      <dgm:spPr/>
      <dgm:t>
        <a:bodyPr/>
        <a:lstStyle/>
        <a:p>
          <a:endParaRPr lang="ru-RU"/>
        </a:p>
      </dgm:t>
    </dgm:pt>
    <dgm:pt modelId="{91A9E664-9A2F-4A65-89B7-407408BF0005}" type="sibTrans" cxnId="{215E2C44-9DDE-44B7-AA6B-F523FFB4650B}">
      <dgm:prSet/>
      <dgm:spPr/>
      <dgm:t>
        <a:bodyPr/>
        <a:lstStyle/>
        <a:p>
          <a:endParaRPr lang="ru-RU"/>
        </a:p>
      </dgm:t>
    </dgm:pt>
    <dgm:pt modelId="{FDC98FB5-5D1E-4C24-AFC2-88798FD5C13D}" type="pres">
      <dgm:prSet presAssocID="{78E37BF4-5ED9-4854-AB16-FB8F9F16CBA7}" presName="linearFlow" presStyleCnt="0">
        <dgm:presLayoutVars>
          <dgm:dir/>
          <dgm:resizeHandles val="exact"/>
        </dgm:presLayoutVars>
      </dgm:prSet>
      <dgm:spPr/>
    </dgm:pt>
    <dgm:pt modelId="{DC6AA214-7C06-4EB5-B68D-A28156A90DCF}" type="pres">
      <dgm:prSet presAssocID="{3E8B1F02-EF5E-4B9A-9916-405E59A9252D}" presName="composite" presStyleCnt="0"/>
      <dgm:spPr/>
    </dgm:pt>
    <dgm:pt modelId="{A55FE57D-B1B2-43CB-B93E-4BEE0491A43F}" type="pres">
      <dgm:prSet presAssocID="{3E8B1F02-EF5E-4B9A-9916-405E59A9252D}" presName="imgShp" presStyleLbl="fgImgPlace1" presStyleIdx="0" presStyleCnt="3" custLinFactNeighborX="-4281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33000" r="-33000"/>
          </a:stretch>
        </a:blipFill>
      </dgm:spPr>
    </dgm:pt>
    <dgm:pt modelId="{FDAB7E79-4EB5-4160-983E-493E37FCA23A}" type="pres">
      <dgm:prSet presAssocID="{3E8B1F02-EF5E-4B9A-9916-405E59A9252D}" presName="txShp" presStyleLbl="node1" presStyleIdx="0" presStyleCnt="3" custScaleX="12318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A228191F-A201-4B43-BB59-F9D312CC4729}" type="pres">
      <dgm:prSet presAssocID="{A4E09E1D-A36F-4AFA-ACDF-CC5080D1F5BE}" presName="spacing" presStyleCnt="0"/>
      <dgm:spPr/>
    </dgm:pt>
    <dgm:pt modelId="{3F603067-70D5-414A-9AFE-002A43C17F7D}" type="pres">
      <dgm:prSet presAssocID="{7E96C5E6-4121-4E5C-B7D0-92D8D2095188}" presName="composite" presStyleCnt="0"/>
      <dgm:spPr/>
    </dgm:pt>
    <dgm:pt modelId="{D819BA44-8070-4D64-827F-27B9FB76F7D2}" type="pres">
      <dgm:prSet presAssocID="{7E96C5E6-4121-4E5C-B7D0-92D8D2095188}" presName="imgShp" presStyleLbl="fgImgPlace1" presStyleIdx="1" presStyleCnt="3" custLinFactNeighborX="-4281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33000" r="-33000"/>
          </a:stretch>
        </a:blipFill>
      </dgm:spPr>
    </dgm:pt>
    <dgm:pt modelId="{2014A8D1-E83D-46EE-B834-C0E78A8A2123}" type="pres">
      <dgm:prSet presAssocID="{7E96C5E6-4121-4E5C-B7D0-92D8D2095188}" presName="txShp" presStyleLbl="node1" presStyleIdx="1" presStyleCnt="3" custScaleX="12318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24FEF652-2864-47BC-AE8C-938231FA0C46}" type="pres">
      <dgm:prSet presAssocID="{87C7350C-7D2E-46B3-848B-D09C0C061382}" presName="spacing" presStyleCnt="0"/>
      <dgm:spPr/>
    </dgm:pt>
    <dgm:pt modelId="{D9143EC2-0220-4CE6-881C-583C7BF67578}" type="pres">
      <dgm:prSet presAssocID="{AD86A39D-7825-4D1F-9181-AC7F09FC0963}" presName="composite" presStyleCnt="0"/>
      <dgm:spPr/>
    </dgm:pt>
    <dgm:pt modelId="{F87CDEC1-247C-4846-A381-546AA8FDF4F7}" type="pres">
      <dgm:prSet presAssocID="{AD86A39D-7825-4D1F-9181-AC7F09FC0963}" presName="imgShp" presStyleLbl="fgImgPlace1" presStyleIdx="2" presStyleCnt="3" custLinFactNeighborX="-4281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33000" r="-33000"/>
          </a:stretch>
        </a:blipFill>
      </dgm:spPr>
    </dgm:pt>
    <dgm:pt modelId="{AAD775B3-6C4B-4E2A-B947-D1D782AC9DD5}" type="pres">
      <dgm:prSet presAssocID="{AD86A39D-7825-4D1F-9181-AC7F09FC0963}" presName="txShp" presStyleLbl="node1" presStyleIdx="2" presStyleCnt="3" custScaleX="12318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CB03EE64-7E88-4A21-A783-32AEFAAF55FC}" type="presOf" srcId="{3E8B1F02-EF5E-4B9A-9916-405E59A9252D}" destId="{FDAB7E79-4EB5-4160-983E-493E37FCA23A}" srcOrd="0" destOrd="0" presId="urn:microsoft.com/office/officeart/2005/8/layout/vList3"/>
    <dgm:cxn modelId="{52BEC654-5E69-4EF0-A374-AECFC1F79D01}" srcId="{78E37BF4-5ED9-4854-AB16-FB8F9F16CBA7}" destId="{7E96C5E6-4121-4E5C-B7D0-92D8D2095188}" srcOrd="1" destOrd="0" parTransId="{675B98A0-6B5F-409B-8B95-E52F2129BD6A}" sibTransId="{87C7350C-7D2E-46B3-848B-D09C0C061382}"/>
    <dgm:cxn modelId="{983166FD-D223-4036-B34F-D4511FC4741C}" type="presOf" srcId="{7E96C5E6-4121-4E5C-B7D0-92D8D2095188}" destId="{2014A8D1-E83D-46EE-B834-C0E78A8A2123}" srcOrd="0" destOrd="0" presId="urn:microsoft.com/office/officeart/2005/8/layout/vList3"/>
    <dgm:cxn modelId="{70602BA6-7492-43C7-8D1E-63323728A951}" srcId="{78E37BF4-5ED9-4854-AB16-FB8F9F16CBA7}" destId="{3E8B1F02-EF5E-4B9A-9916-405E59A9252D}" srcOrd="0" destOrd="0" parTransId="{1B9BC1AA-1B23-405D-8316-2AEA9BC4CB43}" sibTransId="{A4E09E1D-A36F-4AFA-ACDF-CC5080D1F5BE}"/>
    <dgm:cxn modelId="{A8F34AC4-244D-4EAD-A597-490616A5D171}" type="presOf" srcId="{78E37BF4-5ED9-4854-AB16-FB8F9F16CBA7}" destId="{FDC98FB5-5D1E-4C24-AFC2-88798FD5C13D}" srcOrd="0" destOrd="0" presId="urn:microsoft.com/office/officeart/2005/8/layout/vList3"/>
    <dgm:cxn modelId="{215E2C44-9DDE-44B7-AA6B-F523FFB4650B}" srcId="{78E37BF4-5ED9-4854-AB16-FB8F9F16CBA7}" destId="{AD86A39D-7825-4D1F-9181-AC7F09FC0963}" srcOrd="2" destOrd="0" parTransId="{FA05E037-B3A6-4943-905A-578D0BA76CD4}" sibTransId="{91A9E664-9A2F-4A65-89B7-407408BF0005}"/>
    <dgm:cxn modelId="{1249D7F2-F208-4201-958F-85253E2604CD}" type="presOf" srcId="{AD86A39D-7825-4D1F-9181-AC7F09FC0963}" destId="{AAD775B3-6C4B-4E2A-B947-D1D782AC9DD5}" srcOrd="0" destOrd="0" presId="urn:microsoft.com/office/officeart/2005/8/layout/vList3"/>
    <dgm:cxn modelId="{8C95229A-4F2F-466A-BFD3-8A948A3EB091}" type="presParOf" srcId="{FDC98FB5-5D1E-4C24-AFC2-88798FD5C13D}" destId="{DC6AA214-7C06-4EB5-B68D-A28156A90DCF}" srcOrd="0" destOrd="0" presId="urn:microsoft.com/office/officeart/2005/8/layout/vList3"/>
    <dgm:cxn modelId="{B892D700-F608-4662-A6E7-1A753793B7EB}" type="presParOf" srcId="{DC6AA214-7C06-4EB5-B68D-A28156A90DCF}" destId="{A55FE57D-B1B2-43CB-B93E-4BEE0491A43F}" srcOrd="0" destOrd="0" presId="urn:microsoft.com/office/officeart/2005/8/layout/vList3"/>
    <dgm:cxn modelId="{8CAB91E6-F1C7-42B3-AC62-164E46545347}" type="presParOf" srcId="{DC6AA214-7C06-4EB5-B68D-A28156A90DCF}" destId="{FDAB7E79-4EB5-4160-983E-493E37FCA23A}" srcOrd="1" destOrd="0" presId="urn:microsoft.com/office/officeart/2005/8/layout/vList3"/>
    <dgm:cxn modelId="{BE4D4E56-9634-4077-AA57-3E9C5043C6E9}" type="presParOf" srcId="{FDC98FB5-5D1E-4C24-AFC2-88798FD5C13D}" destId="{A228191F-A201-4B43-BB59-F9D312CC4729}" srcOrd="1" destOrd="0" presId="urn:microsoft.com/office/officeart/2005/8/layout/vList3"/>
    <dgm:cxn modelId="{87822659-EAB0-4718-804F-3E826A12FCD6}" type="presParOf" srcId="{FDC98FB5-5D1E-4C24-AFC2-88798FD5C13D}" destId="{3F603067-70D5-414A-9AFE-002A43C17F7D}" srcOrd="2" destOrd="0" presId="urn:microsoft.com/office/officeart/2005/8/layout/vList3"/>
    <dgm:cxn modelId="{74945279-B309-4943-8C91-A2B44B84EA7E}" type="presParOf" srcId="{3F603067-70D5-414A-9AFE-002A43C17F7D}" destId="{D819BA44-8070-4D64-827F-27B9FB76F7D2}" srcOrd="0" destOrd="0" presId="urn:microsoft.com/office/officeart/2005/8/layout/vList3"/>
    <dgm:cxn modelId="{5948F92E-F005-4197-922E-8E0D5585C0FB}" type="presParOf" srcId="{3F603067-70D5-414A-9AFE-002A43C17F7D}" destId="{2014A8D1-E83D-46EE-B834-C0E78A8A2123}" srcOrd="1" destOrd="0" presId="urn:microsoft.com/office/officeart/2005/8/layout/vList3"/>
    <dgm:cxn modelId="{A69667E3-7987-4A99-84B9-41449D5A5826}" type="presParOf" srcId="{FDC98FB5-5D1E-4C24-AFC2-88798FD5C13D}" destId="{24FEF652-2864-47BC-AE8C-938231FA0C46}" srcOrd="3" destOrd="0" presId="urn:microsoft.com/office/officeart/2005/8/layout/vList3"/>
    <dgm:cxn modelId="{A6606798-D64F-4F9F-AF9E-C08871DBEAF2}" type="presParOf" srcId="{FDC98FB5-5D1E-4C24-AFC2-88798FD5C13D}" destId="{D9143EC2-0220-4CE6-881C-583C7BF67578}" srcOrd="4" destOrd="0" presId="urn:microsoft.com/office/officeart/2005/8/layout/vList3"/>
    <dgm:cxn modelId="{EC7EEF97-E53F-44AD-B697-2A040F48BFB8}" type="presParOf" srcId="{D9143EC2-0220-4CE6-881C-583C7BF67578}" destId="{F87CDEC1-247C-4846-A381-546AA8FDF4F7}" srcOrd="0" destOrd="0" presId="urn:microsoft.com/office/officeart/2005/8/layout/vList3"/>
    <dgm:cxn modelId="{4F1DD6C6-F956-4E81-8FAE-8042B8C8CF9B}" type="presParOf" srcId="{D9143EC2-0220-4CE6-881C-583C7BF67578}" destId="{AAD775B3-6C4B-4E2A-B947-D1D782AC9DD5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7A81B704-EA3F-49C2-91A3-94F0E5DB23FA}" type="doc">
      <dgm:prSet loTypeId="urn:microsoft.com/office/officeart/2005/8/layout/orgChart1" loCatId="hierarchy" qsTypeId="urn:microsoft.com/office/officeart/2005/8/quickstyle/simple3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33693B55-F607-4D91-B006-8964A0F9868B}">
      <dgm:prSet phldrT="[Текст]" custT="1"/>
      <dgm:spPr/>
      <dgm:t>
        <a:bodyPr/>
        <a:lstStyle/>
        <a:p>
          <a:r>
            <a:rPr lang="ru-RU" sz="1400" b="1" dirty="0">
              <a:latin typeface="Times New Roman" panose="02020603050405020304" pitchFamily="18" charset="0"/>
              <a:cs typeface="Times New Roman" panose="02020603050405020304" pitchFamily="18" charset="0"/>
            </a:rPr>
            <a:t>Что получает банк при участии в ESG проектах.</a:t>
          </a:r>
          <a:endParaRPr lang="ru-RU" sz="14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5B0B54C3-0A0C-4A0C-8948-DD52E45D29D9}" type="parTrans" cxnId="{18C60B4E-0299-47F3-B527-AA11BBA52CC9}">
      <dgm:prSet/>
      <dgm:spPr/>
      <dgm:t>
        <a:bodyPr/>
        <a:lstStyle/>
        <a:p>
          <a:endParaRPr lang="ru-RU"/>
        </a:p>
      </dgm:t>
    </dgm:pt>
    <dgm:pt modelId="{22910004-AE4D-40DD-A958-D93F8C7D9DE7}" type="sibTrans" cxnId="{18C60B4E-0299-47F3-B527-AA11BBA52CC9}">
      <dgm:prSet/>
      <dgm:spPr/>
      <dgm:t>
        <a:bodyPr/>
        <a:lstStyle/>
        <a:p>
          <a:endParaRPr lang="ru-RU"/>
        </a:p>
      </dgm:t>
    </dgm:pt>
    <dgm:pt modelId="{D7CE1B08-002D-4877-ABD6-48A54977AB6A}">
      <dgm:prSet phldrT="[Текст]" custT="1"/>
      <dgm:spPr/>
      <dgm:t>
        <a:bodyPr/>
        <a:lstStyle/>
        <a:p>
          <a:r>
            <a:rPr lang="ru-RU" sz="1400" b="0" i="1">
              <a:latin typeface="Times New Roman" panose="02020603050405020304" pitchFamily="18" charset="0"/>
              <a:cs typeface="Times New Roman" panose="02020603050405020304" pitchFamily="18" charset="0"/>
            </a:rPr>
            <a:t>Улучшение репутации и имиджа</a:t>
          </a:r>
          <a:endParaRPr lang="ru-RU" sz="14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84330A7C-4C5B-4F7E-8892-38F73271A226}" type="parTrans" cxnId="{9398783B-1FF4-4D82-9C48-D2FF75572025}">
      <dgm:prSet/>
      <dgm:spPr/>
      <dgm:t>
        <a:bodyPr/>
        <a:lstStyle/>
        <a:p>
          <a:endParaRPr lang="ru-RU"/>
        </a:p>
      </dgm:t>
    </dgm:pt>
    <dgm:pt modelId="{500C4799-76A8-4D5B-B70E-61E0D4284E96}" type="sibTrans" cxnId="{9398783B-1FF4-4D82-9C48-D2FF75572025}">
      <dgm:prSet/>
      <dgm:spPr/>
      <dgm:t>
        <a:bodyPr/>
        <a:lstStyle/>
        <a:p>
          <a:endParaRPr lang="ru-RU"/>
        </a:p>
      </dgm:t>
    </dgm:pt>
    <dgm:pt modelId="{2561BF1A-8E83-44BA-92EE-61EFB75949B7}">
      <dgm:prSet phldrT="[Текст]" custT="1"/>
      <dgm:spPr/>
      <dgm:t>
        <a:bodyPr/>
        <a:lstStyle/>
        <a:p>
          <a:r>
            <a:rPr lang="ru-RU" sz="1400" b="0" i="1">
              <a:latin typeface="Times New Roman" panose="02020603050405020304" pitchFamily="18" charset="0"/>
              <a:cs typeface="Times New Roman" panose="02020603050405020304" pitchFamily="18" charset="0"/>
            </a:rPr>
            <a:t>Соответствие растущим требованиям регуляторов и рынка</a:t>
          </a:r>
          <a:endParaRPr lang="ru-RU" sz="14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A13EF6FF-AA24-4B9A-929D-BEC6B65D6862}" type="sibTrans" cxnId="{317180FE-89F1-43DA-BD56-0F1EE2F8EEEA}">
      <dgm:prSet/>
      <dgm:spPr/>
      <dgm:t>
        <a:bodyPr/>
        <a:lstStyle/>
        <a:p>
          <a:endParaRPr lang="ru-RU"/>
        </a:p>
      </dgm:t>
    </dgm:pt>
    <dgm:pt modelId="{39785C6F-F2EC-40E9-9774-F68307B9A1BD}" type="parTrans" cxnId="{317180FE-89F1-43DA-BD56-0F1EE2F8EEEA}">
      <dgm:prSet/>
      <dgm:spPr/>
      <dgm:t>
        <a:bodyPr/>
        <a:lstStyle/>
        <a:p>
          <a:endParaRPr lang="ru-RU"/>
        </a:p>
      </dgm:t>
    </dgm:pt>
    <dgm:pt modelId="{E40A4EE7-AF1F-4484-8C14-60AB9F7557B7}">
      <dgm:prSet custT="1"/>
      <dgm:spPr/>
      <dgm:t>
        <a:bodyPr/>
        <a:lstStyle/>
        <a:p>
          <a:r>
            <a:rPr lang="ru-RU" sz="1400" b="0" i="1">
              <a:latin typeface="Times New Roman" panose="02020603050405020304" pitchFamily="18" charset="0"/>
              <a:cs typeface="Times New Roman" panose="02020603050405020304" pitchFamily="18" charset="0"/>
            </a:rPr>
            <a:t>Повышение лояльности клиентов и инвесторов</a:t>
          </a:r>
          <a:endParaRPr lang="ru-RU" sz="14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4FC29374-F29B-4C14-B199-39F814D9D98A}" type="parTrans" cxnId="{A9AA6BBF-30DF-4677-BB63-5223DEF26AD5}">
      <dgm:prSet/>
      <dgm:spPr/>
      <dgm:t>
        <a:bodyPr/>
        <a:lstStyle/>
        <a:p>
          <a:endParaRPr lang="ru-RU"/>
        </a:p>
      </dgm:t>
    </dgm:pt>
    <dgm:pt modelId="{767000E7-BB51-4044-9245-6B9412568809}" type="sibTrans" cxnId="{A9AA6BBF-30DF-4677-BB63-5223DEF26AD5}">
      <dgm:prSet/>
      <dgm:spPr/>
      <dgm:t>
        <a:bodyPr/>
        <a:lstStyle/>
        <a:p>
          <a:endParaRPr lang="ru-RU"/>
        </a:p>
      </dgm:t>
    </dgm:pt>
    <dgm:pt modelId="{98DFDBB5-B63E-4E0F-B773-6F3FD55F97D1}" type="pres">
      <dgm:prSet presAssocID="{7A81B704-EA3F-49C2-91A3-94F0E5DB23FA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  <dgm:t>
        <a:bodyPr/>
        <a:lstStyle/>
        <a:p>
          <a:endParaRPr lang="ru-RU"/>
        </a:p>
      </dgm:t>
    </dgm:pt>
    <dgm:pt modelId="{7578A1EF-3835-4CFB-8F28-75B51257C7D0}" type="pres">
      <dgm:prSet presAssocID="{33693B55-F607-4D91-B006-8964A0F9868B}" presName="hierRoot1" presStyleCnt="0">
        <dgm:presLayoutVars>
          <dgm:hierBranch val="init"/>
        </dgm:presLayoutVars>
      </dgm:prSet>
      <dgm:spPr/>
    </dgm:pt>
    <dgm:pt modelId="{DC60B647-1B97-4C44-A60E-6BAE67BD14A8}" type="pres">
      <dgm:prSet presAssocID="{33693B55-F607-4D91-B006-8964A0F9868B}" presName="rootComposite1" presStyleCnt="0"/>
      <dgm:spPr/>
    </dgm:pt>
    <dgm:pt modelId="{67B38FD7-9AA7-4C4D-86F4-C1DF0336CCFD}" type="pres">
      <dgm:prSet presAssocID="{33693B55-F607-4D91-B006-8964A0F9868B}" presName="rootText1" presStyleLbl="node0" presStyleIdx="0" presStyleCnt="1">
        <dgm:presLayoutVars>
          <dgm:chPref val="3"/>
        </dgm:presLayoutVars>
      </dgm:prSet>
      <dgm:spPr/>
      <dgm:t>
        <a:bodyPr/>
        <a:lstStyle/>
        <a:p>
          <a:endParaRPr lang="ru-RU"/>
        </a:p>
      </dgm:t>
    </dgm:pt>
    <dgm:pt modelId="{E1AB28DD-73E1-42C0-8634-1422EC33816D}" type="pres">
      <dgm:prSet presAssocID="{33693B55-F607-4D91-B006-8964A0F9868B}" presName="rootConnector1" presStyleLbl="node1" presStyleIdx="0" presStyleCnt="0"/>
      <dgm:spPr/>
      <dgm:t>
        <a:bodyPr/>
        <a:lstStyle/>
        <a:p>
          <a:endParaRPr lang="ru-RU"/>
        </a:p>
      </dgm:t>
    </dgm:pt>
    <dgm:pt modelId="{1BA46749-ED50-4372-B313-2FA587D1C4F1}" type="pres">
      <dgm:prSet presAssocID="{33693B55-F607-4D91-B006-8964A0F9868B}" presName="hierChild2" presStyleCnt="0"/>
      <dgm:spPr/>
    </dgm:pt>
    <dgm:pt modelId="{DF4BD2D9-34B0-4128-8463-BC924BF00B01}" type="pres">
      <dgm:prSet presAssocID="{4FC29374-F29B-4C14-B199-39F814D9D98A}" presName="Name37" presStyleLbl="parChTrans1D2" presStyleIdx="0" presStyleCnt="3"/>
      <dgm:spPr/>
      <dgm:t>
        <a:bodyPr/>
        <a:lstStyle/>
        <a:p>
          <a:endParaRPr lang="ru-RU"/>
        </a:p>
      </dgm:t>
    </dgm:pt>
    <dgm:pt modelId="{38568B26-93F7-422B-B337-0C13487A31B4}" type="pres">
      <dgm:prSet presAssocID="{E40A4EE7-AF1F-4484-8C14-60AB9F7557B7}" presName="hierRoot2" presStyleCnt="0">
        <dgm:presLayoutVars>
          <dgm:hierBranch val="init"/>
        </dgm:presLayoutVars>
      </dgm:prSet>
      <dgm:spPr/>
    </dgm:pt>
    <dgm:pt modelId="{BE8A838C-6155-43A8-A261-86DD9CCA086E}" type="pres">
      <dgm:prSet presAssocID="{E40A4EE7-AF1F-4484-8C14-60AB9F7557B7}" presName="rootComposite" presStyleCnt="0"/>
      <dgm:spPr/>
    </dgm:pt>
    <dgm:pt modelId="{18CF0C52-4D93-4209-AB7C-90F95D4A9612}" type="pres">
      <dgm:prSet presAssocID="{E40A4EE7-AF1F-4484-8C14-60AB9F7557B7}" presName="rootText" presStyleLbl="node2" presStyleIdx="0" presStyleCnt="3">
        <dgm:presLayoutVars>
          <dgm:chPref val="3"/>
        </dgm:presLayoutVars>
      </dgm:prSet>
      <dgm:spPr/>
      <dgm:t>
        <a:bodyPr/>
        <a:lstStyle/>
        <a:p>
          <a:endParaRPr lang="ru-RU"/>
        </a:p>
      </dgm:t>
    </dgm:pt>
    <dgm:pt modelId="{62272FA7-0046-4E40-8B21-07E3FDF95468}" type="pres">
      <dgm:prSet presAssocID="{E40A4EE7-AF1F-4484-8C14-60AB9F7557B7}" presName="rootConnector" presStyleLbl="node2" presStyleIdx="0" presStyleCnt="3"/>
      <dgm:spPr/>
      <dgm:t>
        <a:bodyPr/>
        <a:lstStyle/>
        <a:p>
          <a:endParaRPr lang="ru-RU"/>
        </a:p>
      </dgm:t>
    </dgm:pt>
    <dgm:pt modelId="{973A32DF-4201-4405-9AA3-1BCD5958E226}" type="pres">
      <dgm:prSet presAssocID="{E40A4EE7-AF1F-4484-8C14-60AB9F7557B7}" presName="hierChild4" presStyleCnt="0"/>
      <dgm:spPr/>
    </dgm:pt>
    <dgm:pt modelId="{CF79F38F-CF29-4D58-868C-22837DCDF1C6}" type="pres">
      <dgm:prSet presAssocID="{E40A4EE7-AF1F-4484-8C14-60AB9F7557B7}" presName="hierChild5" presStyleCnt="0"/>
      <dgm:spPr/>
    </dgm:pt>
    <dgm:pt modelId="{E84F4F8C-B7B8-4E96-8119-12463CF38D02}" type="pres">
      <dgm:prSet presAssocID="{84330A7C-4C5B-4F7E-8892-38F73271A226}" presName="Name37" presStyleLbl="parChTrans1D2" presStyleIdx="1" presStyleCnt="3"/>
      <dgm:spPr/>
      <dgm:t>
        <a:bodyPr/>
        <a:lstStyle/>
        <a:p>
          <a:endParaRPr lang="ru-RU"/>
        </a:p>
      </dgm:t>
    </dgm:pt>
    <dgm:pt modelId="{ED75CE4B-E85E-4F53-B9F8-4F4DCF4788CF}" type="pres">
      <dgm:prSet presAssocID="{D7CE1B08-002D-4877-ABD6-48A54977AB6A}" presName="hierRoot2" presStyleCnt="0">
        <dgm:presLayoutVars>
          <dgm:hierBranch val="init"/>
        </dgm:presLayoutVars>
      </dgm:prSet>
      <dgm:spPr/>
    </dgm:pt>
    <dgm:pt modelId="{BE67F471-E293-46C1-B576-C25C634B21BC}" type="pres">
      <dgm:prSet presAssocID="{D7CE1B08-002D-4877-ABD6-48A54977AB6A}" presName="rootComposite" presStyleCnt="0"/>
      <dgm:spPr/>
    </dgm:pt>
    <dgm:pt modelId="{680C708C-F632-47DF-A24D-796BB8E4A74E}" type="pres">
      <dgm:prSet presAssocID="{D7CE1B08-002D-4877-ABD6-48A54977AB6A}" presName="rootText" presStyleLbl="node2" presStyleIdx="1" presStyleCnt="3">
        <dgm:presLayoutVars>
          <dgm:chPref val="3"/>
        </dgm:presLayoutVars>
      </dgm:prSet>
      <dgm:spPr/>
      <dgm:t>
        <a:bodyPr/>
        <a:lstStyle/>
        <a:p>
          <a:endParaRPr lang="ru-RU"/>
        </a:p>
      </dgm:t>
    </dgm:pt>
    <dgm:pt modelId="{904535A9-6B4C-4501-8076-DC3551835DEF}" type="pres">
      <dgm:prSet presAssocID="{D7CE1B08-002D-4877-ABD6-48A54977AB6A}" presName="rootConnector" presStyleLbl="node2" presStyleIdx="1" presStyleCnt="3"/>
      <dgm:spPr/>
      <dgm:t>
        <a:bodyPr/>
        <a:lstStyle/>
        <a:p>
          <a:endParaRPr lang="ru-RU"/>
        </a:p>
      </dgm:t>
    </dgm:pt>
    <dgm:pt modelId="{0C0159B0-3B55-4474-9DD6-096C25CADF96}" type="pres">
      <dgm:prSet presAssocID="{D7CE1B08-002D-4877-ABD6-48A54977AB6A}" presName="hierChild4" presStyleCnt="0"/>
      <dgm:spPr/>
    </dgm:pt>
    <dgm:pt modelId="{9D9777DA-5EED-4B28-900A-1BAA99DEFC38}" type="pres">
      <dgm:prSet presAssocID="{D7CE1B08-002D-4877-ABD6-48A54977AB6A}" presName="hierChild5" presStyleCnt="0"/>
      <dgm:spPr/>
    </dgm:pt>
    <dgm:pt modelId="{8E62B49E-9952-4FF9-AC03-EE6DBB95E405}" type="pres">
      <dgm:prSet presAssocID="{39785C6F-F2EC-40E9-9774-F68307B9A1BD}" presName="Name37" presStyleLbl="parChTrans1D2" presStyleIdx="2" presStyleCnt="3"/>
      <dgm:spPr/>
      <dgm:t>
        <a:bodyPr/>
        <a:lstStyle/>
        <a:p>
          <a:endParaRPr lang="ru-RU"/>
        </a:p>
      </dgm:t>
    </dgm:pt>
    <dgm:pt modelId="{7B28153C-F86A-4588-900F-32BDDDC24C4B}" type="pres">
      <dgm:prSet presAssocID="{2561BF1A-8E83-44BA-92EE-61EFB75949B7}" presName="hierRoot2" presStyleCnt="0">
        <dgm:presLayoutVars>
          <dgm:hierBranch val="init"/>
        </dgm:presLayoutVars>
      </dgm:prSet>
      <dgm:spPr/>
    </dgm:pt>
    <dgm:pt modelId="{752886AA-6298-4BB2-92A1-0612F6E169C9}" type="pres">
      <dgm:prSet presAssocID="{2561BF1A-8E83-44BA-92EE-61EFB75949B7}" presName="rootComposite" presStyleCnt="0"/>
      <dgm:spPr/>
    </dgm:pt>
    <dgm:pt modelId="{B4618F2C-FC1C-445D-B2CE-E15E561BE28E}" type="pres">
      <dgm:prSet presAssocID="{2561BF1A-8E83-44BA-92EE-61EFB75949B7}" presName="rootText" presStyleLbl="node2" presStyleIdx="2" presStyleCnt="3" custScaleX="132735" custScaleY="100136">
        <dgm:presLayoutVars>
          <dgm:chPref val="3"/>
        </dgm:presLayoutVars>
      </dgm:prSet>
      <dgm:spPr/>
      <dgm:t>
        <a:bodyPr/>
        <a:lstStyle/>
        <a:p>
          <a:endParaRPr lang="ru-RU"/>
        </a:p>
      </dgm:t>
    </dgm:pt>
    <dgm:pt modelId="{4C1B2CFD-37B6-4CCF-A29D-B274D7405438}" type="pres">
      <dgm:prSet presAssocID="{2561BF1A-8E83-44BA-92EE-61EFB75949B7}" presName="rootConnector" presStyleLbl="node2" presStyleIdx="2" presStyleCnt="3"/>
      <dgm:spPr/>
      <dgm:t>
        <a:bodyPr/>
        <a:lstStyle/>
        <a:p>
          <a:endParaRPr lang="ru-RU"/>
        </a:p>
      </dgm:t>
    </dgm:pt>
    <dgm:pt modelId="{7D30F31A-63AC-4778-B6DB-CA81E6055502}" type="pres">
      <dgm:prSet presAssocID="{2561BF1A-8E83-44BA-92EE-61EFB75949B7}" presName="hierChild4" presStyleCnt="0"/>
      <dgm:spPr/>
    </dgm:pt>
    <dgm:pt modelId="{0618BA9B-CD30-41FD-9C3E-62564EF10066}" type="pres">
      <dgm:prSet presAssocID="{2561BF1A-8E83-44BA-92EE-61EFB75949B7}" presName="hierChild5" presStyleCnt="0"/>
      <dgm:spPr/>
    </dgm:pt>
    <dgm:pt modelId="{1436EF49-368C-40F7-B287-6182D878E0F9}" type="pres">
      <dgm:prSet presAssocID="{33693B55-F607-4D91-B006-8964A0F9868B}" presName="hierChild3" presStyleCnt="0"/>
      <dgm:spPr/>
    </dgm:pt>
  </dgm:ptLst>
  <dgm:cxnLst>
    <dgm:cxn modelId="{9398783B-1FF4-4D82-9C48-D2FF75572025}" srcId="{33693B55-F607-4D91-B006-8964A0F9868B}" destId="{D7CE1B08-002D-4877-ABD6-48A54977AB6A}" srcOrd="1" destOrd="0" parTransId="{84330A7C-4C5B-4F7E-8892-38F73271A226}" sibTransId="{500C4799-76A8-4D5B-B70E-61E0D4284E96}"/>
    <dgm:cxn modelId="{A61E085E-E796-46BA-8E8F-5F3831FC7A40}" type="presOf" srcId="{E40A4EE7-AF1F-4484-8C14-60AB9F7557B7}" destId="{62272FA7-0046-4E40-8B21-07E3FDF95468}" srcOrd="1" destOrd="0" presId="urn:microsoft.com/office/officeart/2005/8/layout/orgChart1"/>
    <dgm:cxn modelId="{E9E52A71-420C-4084-B3AE-C52FBC6836D2}" type="presOf" srcId="{39785C6F-F2EC-40E9-9774-F68307B9A1BD}" destId="{8E62B49E-9952-4FF9-AC03-EE6DBB95E405}" srcOrd="0" destOrd="0" presId="urn:microsoft.com/office/officeart/2005/8/layout/orgChart1"/>
    <dgm:cxn modelId="{2CF05641-EA57-48D0-A24E-9EFA0AB74ED1}" type="presOf" srcId="{E40A4EE7-AF1F-4484-8C14-60AB9F7557B7}" destId="{18CF0C52-4D93-4209-AB7C-90F95D4A9612}" srcOrd="0" destOrd="0" presId="urn:microsoft.com/office/officeart/2005/8/layout/orgChart1"/>
    <dgm:cxn modelId="{44E755F2-7393-4F22-9EA5-B41465C2A7C4}" type="presOf" srcId="{2561BF1A-8E83-44BA-92EE-61EFB75949B7}" destId="{4C1B2CFD-37B6-4CCF-A29D-B274D7405438}" srcOrd="1" destOrd="0" presId="urn:microsoft.com/office/officeart/2005/8/layout/orgChart1"/>
    <dgm:cxn modelId="{36D0FEFA-4564-43A4-8E7B-E5CFF68401D9}" type="presOf" srcId="{D7CE1B08-002D-4877-ABD6-48A54977AB6A}" destId="{904535A9-6B4C-4501-8076-DC3551835DEF}" srcOrd="1" destOrd="0" presId="urn:microsoft.com/office/officeart/2005/8/layout/orgChart1"/>
    <dgm:cxn modelId="{5DFA6074-225D-4C29-9974-6FC2F28990D2}" type="presOf" srcId="{84330A7C-4C5B-4F7E-8892-38F73271A226}" destId="{E84F4F8C-B7B8-4E96-8119-12463CF38D02}" srcOrd="0" destOrd="0" presId="urn:microsoft.com/office/officeart/2005/8/layout/orgChart1"/>
    <dgm:cxn modelId="{5B9C440E-6EE8-40DA-AFA7-88C98AB5FA21}" type="presOf" srcId="{4FC29374-F29B-4C14-B199-39F814D9D98A}" destId="{DF4BD2D9-34B0-4128-8463-BC924BF00B01}" srcOrd="0" destOrd="0" presId="urn:microsoft.com/office/officeart/2005/8/layout/orgChart1"/>
    <dgm:cxn modelId="{DF644DAA-A0CF-4917-A4B7-2E683A12C4A4}" type="presOf" srcId="{33693B55-F607-4D91-B006-8964A0F9868B}" destId="{E1AB28DD-73E1-42C0-8634-1422EC33816D}" srcOrd="1" destOrd="0" presId="urn:microsoft.com/office/officeart/2005/8/layout/orgChart1"/>
    <dgm:cxn modelId="{4D8FC7D5-1A3A-45FB-918C-69FB8CAE1EE0}" type="presOf" srcId="{7A81B704-EA3F-49C2-91A3-94F0E5DB23FA}" destId="{98DFDBB5-B63E-4E0F-B773-6F3FD55F97D1}" srcOrd="0" destOrd="0" presId="urn:microsoft.com/office/officeart/2005/8/layout/orgChart1"/>
    <dgm:cxn modelId="{229D284A-CFC2-4FB3-B170-B3F5FC39B51E}" type="presOf" srcId="{2561BF1A-8E83-44BA-92EE-61EFB75949B7}" destId="{B4618F2C-FC1C-445D-B2CE-E15E561BE28E}" srcOrd="0" destOrd="0" presId="urn:microsoft.com/office/officeart/2005/8/layout/orgChart1"/>
    <dgm:cxn modelId="{18C60B4E-0299-47F3-B527-AA11BBA52CC9}" srcId="{7A81B704-EA3F-49C2-91A3-94F0E5DB23FA}" destId="{33693B55-F607-4D91-B006-8964A0F9868B}" srcOrd="0" destOrd="0" parTransId="{5B0B54C3-0A0C-4A0C-8948-DD52E45D29D9}" sibTransId="{22910004-AE4D-40DD-A958-D93F8C7D9DE7}"/>
    <dgm:cxn modelId="{A9AA6BBF-30DF-4677-BB63-5223DEF26AD5}" srcId="{33693B55-F607-4D91-B006-8964A0F9868B}" destId="{E40A4EE7-AF1F-4484-8C14-60AB9F7557B7}" srcOrd="0" destOrd="0" parTransId="{4FC29374-F29B-4C14-B199-39F814D9D98A}" sibTransId="{767000E7-BB51-4044-9245-6B9412568809}"/>
    <dgm:cxn modelId="{D614F885-8BCC-4D39-865E-7404EBB64B30}" type="presOf" srcId="{33693B55-F607-4D91-B006-8964A0F9868B}" destId="{67B38FD7-9AA7-4C4D-86F4-C1DF0336CCFD}" srcOrd="0" destOrd="0" presId="urn:microsoft.com/office/officeart/2005/8/layout/orgChart1"/>
    <dgm:cxn modelId="{C3AA6673-A70A-4934-9D0F-C080BB2057F0}" type="presOf" srcId="{D7CE1B08-002D-4877-ABD6-48A54977AB6A}" destId="{680C708C-F632-47DF-A24D-796BB8E4A74E}" srcOrd="0" destOrd="0" presId="urn:microsoft.com/office/officeart/2005/8/layout/orgChart1"/>
    <dgm:cxn modelId="{317180FE-89F1-43DA-BD56-0F1EE2F8EEEA}" srcId="{33693B55-F607-4D91-B006-8964A0F9868B}" destId="{2561BF1A-8E83-44BA-92EE-61EFB75949B7}" srcOrd="2" destOrd="0" parTransId="{39785C6F-F2EC-40E9-9774-F68307B9A1BD}" sibTransId="{A13EF6FF-AA24-4B9A-929D-BEC6B65D6862}"/>
    <dgm:cxn modelId="{6B719A63-895C-4765-8E12-45A554EE4023}" type="presParOf" srcId="{98DFDBB5-B63E-4E0F-B773-6F3FD55F97D1}" destId="{7578A1EF-3835-4CFB-8F28-75B51257C7D0}" srcOrd="0" destOrd="0" presId="urn:microsoft.com/office/officeart/2005/8/layout/orgChart1"/>
    <dgm:cxn modelId="{831525AA-CA70-4878-832E-86A8237C4DCD}" type="presParOf" srcId="{7578A1EF-3835-4CFB-8F28-75B51257C7D0}" destId="{DC60B647-1B97-4C44-A60E-6BAE67BD14A8}" srcOrd="0" destOrd="0" presId="urn:microsoft.com/office/officeart/2005/8/layout/orgChart1"/>
    <dgm:cxn modelId="{0E246452-7D89-4E4E-B4B1-9DE4E7117D65}" type="presParOf" srcId="{DC60B647-1B97-4C44-A60E-6BAE67BD14A8}" destId="{67B38FD7-9AA7-4C4D-86F4-C1DF0336CCFD}" srcOrd="0" destOrd="0" presId="urn:microsoft.com/office/officeart/2005/8/layout/orgChart1"/>
    <dgm:cxn modelId="{85AA2779-556F-4991-A9D3-1E0C93DABF27}" type="presParOf" srcId="{DC60B647-1B97-4C44-A60E-6BAE67BD14A8}" destId="{E1AB28DD-73E1-42C0-8634-1422EC33816D}" srcOrd="1" destOrd="0" presId="urn:microsoft.com/office/officeart/2005/8/layout/orgChart1"/>
    <dgm:cxn modelId="{FB8B06A7-5F86-4450-AE95-C56CF2B72753}" type="presParOf" srcId="{7578A1EF-3835-4CFB-8F28-75B51257C7D0}" destId="{1BA46749-ED50-4372-B313-2FA587D1C4F1}" srcOrd="1" destOrd="0" presId="urn:microsoft.com/office/officeart/2005/8/layout/orgChart1"/>
    <dgm:cxn modelId="{E742BF45-118F-46D3-A241-019089EB29C6}" type="presParOf" srcId="{1BA46749-ED50-4372-B313-2FA587D1C4F1}" destId="{DF4BD2D9-34B0-4128-8463-BC924BF00B01}" srcOrd="0" destOrd="0" presId="urn:microsoft.com/office/officeart/2005/8/layout/orgChart1"/>
    <dgm:cxn modelId="{BE73478A-DAC7-49F1-8CFB-6DA9C556C08D}" type="presParOf" srcId="{1BA46749-ED50-4372-B313-2FA587D1C4F1}" destId="{38568B26-93F7-422B-B337-0C13487A31B4}" srcOrd="1" destOrd="0" presId="urn:microsoft.com/office/officeart/2005/8/layout/orgChart1"/>
    <dgm:cxn modelId="{8FFF875B-6C0B-490E-A439-A68464BA2D1E}" type="presParOf" srcId="{38568B26-93F7-422B-B337-0C13487A31B4}" destId="{BE8A838C-6155-43A8-A261-86DD9CCA086E}" srcOrd="0" destOrd="0" presId="urn:microsoft.com/office/officeart/2005/8/layout/orgChart1"/>
    <dgm:cxn modelId="{8608F514-9F5B-4865-9A5C-487F45F7F245}" type="presParOf" srcId="{BE8A838C-6155-43A8-A261-86DD9CCA086E}" destId="{18CF0C52-4D93-4209-AB7C-90F95D4A9612}" srcOrd="0" destOrd="0" presId="urn:microsoft.com/office/officeart/2005/8/layout/orgChart1"/>
    <dgm:cxn modelId="{EA0B4CDA-3979-46FE-A115-8D0EA60E3CF0}" type="presParOf" srcId="{BE8A838C-6155-43A8-A261-86DD9CCA086E}" destId="{62272FA7-0046-4E40-8B21-07E3FDF95468}" srcOrd="1" destOrd="0" presId="urn:microsoft.com/office/officeart/2005/8/layout/orgChart1"/>
    <dgm:cxn modelId="{39906D1A-9474-451C-A52D-07385E0D982B}" type="presParOf" srcId="{38568B26-93F7-422B-B337-0C13487A31B4}" destId="{973A32DF-4201-4405-9AA3-1BCD5958E226}" srcOrd="1" destOrd="0" presId="urn:microsoft.com/office/officeart/2005/8/layout/orgChart1"/>
    <dgm:cxn modelId="{AD644E16-D061-4FAE-8368-A8BA143189E4}" type="presParOf" srcId="{38568B26-93F7-422B-B337-0C13487A31B4}" destId="{CF79F38F-CF29-4D58-868C-22837DCDF1C6}" srcOrd="2" destOrd="0" presId="urn:microsoft.com/office/officeart/2005/8/layout/orgChart1"/>
    <dgm:cxn modelId="{CECAE7F8-4765-4C24-B652-3E2B651DD83E}" type="presParOf" srcId="{1BA46749-ED50-4372-B313-2FA587D1C4F1}" destId="{E84F4F8C-B7B8-4E96-8119-12463CF38D02}" srcOrd="2" destOrd="0" presId="urn:microsoft.com/office/officeart/2005/8/layout/orgChart1"/>
    <dgm:cxn modelId="{1670FAD5-6BD1-43AC-AC9A-D4017D4F1ECD}" type="presParOf" srcId="{1BA46749-ED50-4372-B313-2FA587D1C4F1}" destId="{ED75CE4B-E85E-4F53-B9F8-4F4DCF4788CF}" srcOrd="3" destOrd="0" presId="urn:microsoft.com/office/officeart/2005/8/layout/orgChart1"/>
    <dgm:cxn modelId="{525303D4-35DF-4827-8F10-449DA351F6E4}" type="presParOf" srcId="{ED75CE4B-E85E-4F53-B9F8-4F4DCF4788CF}" destId="{BE67F471-E293-46C1-B576-C25C634B21BC}" srcOrd="0" destOrd="0" presId="urn:microsoft.com/office/officeart/2005/8/layout/orgChart1"/>
    <dgm:cxn modelId="{1FCE9626-595C-47C9-B113-60F847CB8D04}" type="presParOf" srcId="{BE67F471-E293-46C1-B576-C25C634B21BC}" destId="{680C708C-F632-47DF-A24D-796BB8E4A74E}" srcOrd="0" destOrd="0" presId="urn:microsoft.com/office/officeart/2005/8/layout/orgChart1"/>
    <dgm:cxn modelId="{EFF57BF7-3C61-412C-BB46-A7C934BC1D4B}" type="presParOf" srcId="{BE67F471-E293-46C1-B576-C25C634B21BC}" destId="{904535A9-6B4C-4501-8076-DC3551835DEF}" srcOrd="1" destOrd="0" presId="urn:microsoft.com/office/officeart/2005/8/layout/orgChart1"/>
    <dgm:cxn modelId="{06A75755-F01B-4C9B-80E6-81E297DF0A1A}" type="presParOf" srcId="{ED75CE4B-E85E-4F53-B9F8-4F4DCF4788CF}" destId="{0C0159B0-3B55-4474-9DD6-096C25CADF96}" srcOrd="1" destOrd="0" presId="urn:microsoft.com/office/officeart/2005/8/layout/orgChart1"/>
    <dgm:cxn modelId="{12F0286B-27BB-459B-A7A3-3296CAE922EC}" type="presParOf" srcId="{ED75CE4B-E85E-4F53-B9F8-4F4DCF4788CF}" destId="{9D9777DA-5EED-4B28-900A-1BAA99DEFC38}" srcOrd="2" destOrd="0" presId="urn:microsoft.com/office/officeart/2005/8/layout/orgChart1"/>
    <dgm:cxn modelId="{A59349B9-CE50-4299-8A55-07400260DC1A}" type="presParOf" srcId="{1BA46749-ED50-4372-B313-2FA587D1C4F1}" destId="{8E62B49E-9952-4FF9-AC03-EE6DBB95E405}" srcOrd="4" destOrd="0" presId="urn:microsoft.com/office/officeart/2005/8/layout/orgChart1"/>
    <dgm:cxn modelId="{FEECCEE1-1263-43FE-AD14-761B09B2EDA1}" type="presParOf" srcId="{1BA46749-ED50-4372-B313-2FA587D1C4F1}" destId="{7B28153C-F86A-4588-900F-32BDDDC24C4B}" srcOrd="5" destOrd="0" presId="urn:microsoft.com/office/officeart/2005/8/layout/orgChart1"/>
    <dgm:cxn modelId="{0335BB95-CF1B-4379-B26D-A07AE6BBC919}" type="presParOf" srcId="{7B28153C-F86A-4588-900F-32BDDDC24C4B}" destId="{752886AA-6298-4BB2-92A1-0612F6E169C9}" srcOrd="0" destOrd="0" presId="urn:microsoft.com/office/officeart/2005/8/layout/orgChart1"/>
    <dgm:cxn modelId="{0CD7EC90-8F30-4269-8032-942CEAF55C19}" type="presParOf" srcId="{752886AA-6298-4BB2-92A1-0612F6E169C9}" destId="{B4618F2C-FC1C-445D-B2CE-E15E561BE28E}" srcOrd="0" destOrd="0" presId="urn:microsoft.com/office/officeart/2005/8/layout/orgChart1"/>
    <dgm:cxn modelId="{AA9825EC-A604-48D4-9CBB-ACF8538434D4}" type="presParOf" srcId="{752886AA-6298-4BB2-92A1-0612F6E169C9}" destId="{4C1B2CFD-37B6-4CCF-A29D-B274D7405438}" srcOrd="1" destOrd="0" presId="urn:microsoft.com/office/officeart/2005/8/layout/orgChart1"/>
    <dgm:cxn modelId="{A3337B03-82A4-464D-BBC8-7479A0BBE0B6}" type="presParOf" srcId="{7B28153C-F86A-4588-900F-32BDDDC24C4B}" destId="{7D30F31A-63AC-4778-B6DB-CA81E6055502}" srcOrd="1" destOrd="0" presId="urn:microsoft.com/office/officeart/2005/8/layout/orgChart1"/>
    <dgm:cxn modelId="{4071B567-429F-4780-AFCF-AE14EC89A57C}" type="presParOf" srcId="{7B28153C-F86A-4588-900F-32BDDDC24C4B}" destId="{0618BA9B-CD30-41FD-9C3E-62564EF10066}" srcOrd="2" destOrd="0" presId="urn:microsoft.com/office/officeart/2005/8/layout/orgChart1"/>
    <dgm:cxn modelId="{031FF315-F183-4CB8-B4D3-50CDAB011382}" type="presParOf" srcId="{7578A1EF-3835-4CFB-8F28-75B51257C7D0}" destId="{1436EF49-368C-40F7-B287-6182D878E0F9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BEC01C73-EC71-48F8-A745-300F69100A25}" type="doc">
      <dgm:prSet loTypeId="urn:microsoft.com/office/officeart/2005/8/layout/vProcess5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20A07A1D-873D-496D-AA4E-CECB526490E7}">
      <dgm:prSet phldrT="[Текст]" custT="1"/>
      <dgm:spPr/>
      <dgm:t>
        <a:bodyPr/>
        <a:lstStyle/>
        <a:p>
          <a:pPr algn="just"/>
          <a:r>
            <a:rPr lang="ru-RU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Проведенные в рамках исследования анализы позволили получить комплексную картину текущего состояния и перспектив цифровизации банковских продуктов и услуг в АКБ </a:t>
          </a:r>
          <a:r>
            <a:rPr lang="ru-RU" sz="140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Капиталбанке</a:t>
          </a:r>
          <a:r>
            <a:rPr lang="ru-RU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. Использование количественных и качественных методов обеспечило триангуляцию и валидацию основных выводов и инсайтов, полученных из разных источников данных.</a:t>
          </a:r>
          <a:endParaRPr lang="ru-RU" sz="1400" dirty="0">
            <a:solidFill>
              <a:schemeClr val="tx1"/>
            </a:solidFill>
          </a:endParaRPr>
        </a:p>
      </dgm:t>
    </dgm:pt>
    <dgm:pt modelId="{6ECE96F7-93F2-4ACA-9A51-3AB40485A4E8}" type="parTrans" cxnId="{A40A8129-7E6A-4F1A-88CA-FBA13807489F}">
      <dgm:prSet/>
      <dgm:spPr/>
      <dgm:t>
        <a:bodyPr/>
        <a:lstStyle/>
        <a:p>
          <a:endParaRPr lang="ru-RU"/>
        </a:p>
      </dgm:t>
    </dgm:pt>
    <dgm:pt modelId="{DB81A684-30E7-41CF-BE3E-155CEE5F9754}" type="sibTrans" cxnId="{A40A8129-7E6A-4F1A-88CA-FBA13807489F}">
      <dgm:prSet/>
      <dgm:spPr/>
      <dgm:t>
        <a:bodyPr/>
        <a:lstStyle/>
        <a:p>
          <a:endParaRPr lang="ru-RU"/>
        </a:p>
      </dgm:t>
    </dgm:pt>
    <dgm:pt modelId="{C75DD8E9-D227-4F47-BEDD-F2FC4AFB8051}">
      <dgm:prSet phldrT="[Текст]" custT="1"/>
      <dgm:spPr/>
      <dgm:t>
        <a:bodyPr/>
        <a:lstStyle/>
        <a:p>
          <a:pPr algn="just"/>
          <a:r>
            <a:rPr lang="ru-RU" sz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Анализ результатов опроса клиентов АКБ </a:t>
          </a:r>
          <a:r>
            <a:rPr lang="ru-RU" sz="120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Капиталбанка</a:t>
          </a:r>
          <a:r>
            <a:rPr lang="ru-RU" sz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показал высокий уровень востребованности и удовлетворенности цифровыми сервисами банка. Доля клиентов, использующих мобильное приложение и интернет-банкинг </a:t>
          </a:r>
          <a:r>
            <a:rPr lang="ru-RU" sz="120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Капиталбанка</a:t>
          </a:r>
          <a:r>
            <a:rPr lang="ru-RU" sz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хотя бы 1 раз в месяц, составила 75% среди физлиц и 90% среди МСБ. При этом более 60% пользователей оценивают функциональность и удобство цифровых каналов банка на 4 и 5 баллов по 5-балльной шкале. Ключевыми драйверами цифровизации для клиентов являются экономия времени и усилий, возможность совершать операции в любом месте и в любое время, а также интуитивно понятный интерфейс и высокая безопасность транзакций.</a:t>
          </a:r>
          <a:endParaRPr lang="ru-RU" sz="1200" dirty="0">
            <a:solidFill>
              <a:schemeClr val="tx1"/>
            </a:solidFill>
          </a:endParaRPr>
        </a:p>
      </dgm:t>
    </dgm:pt>
    <dgm:pt modelId="{17606FFD-6BEB-40EC-A895-369A038B740A}" type="parTrans" cxnId="{3A214D39-E7C3-4A5A-8229-DD12C744FFCB}">
      <dgm:prSet/>
      <dgm:spPr/>
      <dgm:t>
        <a:bodyPr/>
        <a:lstStyle/>
        <a:p>
          <a:endParaRPr lang="ru-RU"/>
        </a:p>
      </dgm:t>
    </dgm:pt>
    <dgm:pt modelId="{83E0EB56-710C-42B0-9610-DAD67D72E5F0}" type="sibTrans" cxnId="{3A214D39-E7C3-4A5A-8229-DD12C744FFCB}">
      <dgm:prSet/>
      <dgm:spPr/>
      <dgm:t>
        <a:bodyPr/>
        <a:lstStyle/>
        <a:p>
          <a:endParaRPr lang="ru-RU"/>
        </a:p>
      </dgm:t>
    </dgm:pt>
    <dgm:pt modelId="{55B960C1-974E-4491-BA48-12C5AB8AFADE}">
      <dgm:prSet phldrT="[Текст]" custT="1"/>
      <dgm:spPr/>
      <dgm:t>
        <a:bodyPr/>
        <a:lstStyle/>
        <a:p>
          <a:pPr algn="just"/>
          <a:r>
            <a:rPr lang="ru-RU" sz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Сравнительный анализ цифровых продуктов и каналов </a:t>
          </a:r>
          <a:r>
            <a:rPr lang="ru-RU" sz="120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Капиталбанка</a:t>
          </a:r>
          <a:r>
            <a:rPr lang="ru-RU" sz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с предложениями ключевых конкурентов показал, что банк занимает лидирующие позиции по ряду параметров цифрового обслуживания. В частности, мобильное приложение </a:t>
          </a:r>
          <a:r>
            <a:rPr lang="ru-RU" sz="120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Капиталбанк</a:t>
          </a:r>
          <a:r>
            <a:rPr lang="ru-RU" sz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обладает наиболее широким функционалом на рынке (более 100 типов операций и услуг) и высоким рейтингом пользователей (4,7 из 5 в </a:t>
          </a:r>
          <a:r>
            <a:rPr lang="ru-RU" sz="120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AppStore</a:t>
          </a:r>
          <a:r>
            <a:rPr lang="ru-RU" sz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и </a:t>
          </a:r>
          <a:r>
            <a:rPr lang="ru-RU" sz="120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GooglePlay</a:t>
          </a:r>
          <a:r>
            <a:rPr lang="ru-RU" sz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). Уровень проникновения мобильного банкинга среди клиентов </a:t>
          </a:r>
          <a:r>
            <a:rPr lang="ru-RU" sz="120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Капиталбанка</a:t>
          </a:r>
          <a:r>
            <a:rPr lang="ru-RU" sz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(75%) опережает средние значения по рынку (50-60%). В то же время, некоторые конкуренты (например, </a:t>
          </a:r>
          <a:r>
            <a:rPr lang="ru-RU" sz="120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Агробанк</a:t>
          </a:r>
          <a:r>
            <a:rPr lang="ru-RU" sz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и </a:t>
          </a:r>
          <a:r>
            <a:rPr lang="ru-RU" sz="120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Узпромстройбанк</a:t>
          </a:r>
          <a:r>
            <a:rPr lang="ru-RU" sz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) предлагают более привлекательные условия по отдельным цифровым продуктам, таким как мобильный эквайринг или онлайн-депозиты.</a:t>
          </a:r>
          <a:endParaRPr lang="en-US" sz="1200" dirty="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639A0B81-85FC-4457-A178-BB0835B2BC2E}" type="parTrans" cxnId="{E6C9E212-762C-4B0E-AA35-2840C436868B}">
      <dgm:prSet/>
      <dgm:spPr/>
      <dgm:t>
        <a:bodyPr/>
        <a:lstStyle/>
        <a:p>
          <a:endParaRPr lang="ru-RU"/>
        </a:p>
      </dgm:t>
    </dgm:pt>
    <dgm:pt modelId="{FA5B699B-3A1F-47AB-A9A1-FF4CFF3E0700}" type="sibTrans" cxnId="{E6C9E212-762C-4B0E-AA35-2840C436868B}">
      <dgm:prSet/>
      <dgm:spPr/>
      <dgm:t>
        <a:bodyPr/>
        <a:lstStyle/>
        <a:p>
          <a:endParaRPr lang="ru-RU"/>
        </a:p>
      </dgm:t>
    </dgm:pt>
    <dgm:pt modelId="{2DE65368-B21E-4792-8174-8E742632289D}" type="pres">
      <dgm:prSet presAssocID="{BEC01C73-EC71-48F8-A745-300F69100A25}" presName="outerComposite" presStyleCnt="0">
        <dgm:presLayoutVars>
          <dgm:chMax val="5"/>
          <dgm:dir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CD90340C-605F-4CEC-8F1E-531ABC95CACE}" type="pres">
      <dgm:prSet presAssocID="{BEC01C73-EC71-48F8-A745-300F69100A25}" presName="dummyMaxCanvas" presStyleCnt="0">
        <dgm:presLayoutVars/>
      </dgm:prSet>
      <dgm:spPr/>
    </dgm:pt>
    <dgm:pt modelId="{CF7BDD44-5E62-4B86-A264-B1188FFD4A61}" type="pres">
      <dgm:prSet presAssocID="{BEC01C73-EC71-48F8-A745-300F69100A25}" presName="ThreeNodes_1" presStyleLbl="node1" presStyleIdx="0" presStyleCnt="3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81F0EF94-7C46-436F-A350-18AA88633151}" type="pres">
      <dgm:prSet presAssocID="{BEC01C73-EC71-48F8-A745-300F69100A25}" presName="ThreeNodes_2" presStyleLbl="node1" presStyleIdx="1" presStyleCnt="3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CDC04B15-E3B1-4183-BDAC-C51AC3B105AB}" type="pres">
      <dgm:prSet presAssocID="{BEC01C73-EC71-48F8-A745-300F69100A25}" presName="ThreeNodes_3" presStyleLbl="node1" presStyleIdx="2" presStyleCnt="3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A86EC003-E367-4D91-BDFB-06BCFC2C615B}" type="pres">
      <dgm:prSet presAssocID="{BEC01C73-EC71-48F8-A745-300F69100A25}" presName="ThreeConn_1-2" presStyleLbl="fgAccFollowNode1" presStyleIdx="0" presStyleCnt="2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9AD7538D-0E99-4984-9E38-D53FC7EE706E}" type="pres">
      <dgm:prSet presAssocID="{BEC01C73-EC71-48F8-A745-300F69100A25}" presName="ThreeConn_2-3" presStyleLbl="fgAccFollowNode1" presStyleIdx="1" presStyleCnt="2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3CEB1D90-D912-468F-9A08-8A4087F6144F}" type="pres">
      <dgm:prSet presAssocID="{BEC01C73-EC71-48F8-A745-300F69100A25}" presName="ThreeNodes_1_text" presStyleLbl="node1" presStyleIdx="2" presStyleCnt="3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09D5DE1C-D769-4DC0-967A-BE3BED81A5E7}" type="pres">
      <dgm:prSet presAssocID="{BEC01C73-EC71-48F8-A745-300F69100A25}" presName="ThreeNodes_2_text" presStyleLbl="node1" presStyleIdx="2" presStyleCnt="3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B2084D6A-D600-4B3C-A96D-C27CAC1A9B33}" type="pres">
      <dgm:prSet presAssocID="{BEC01C73-EC71-48F8-A745-300F69100A25}" presName="ThreeNodes_3_text" presStyleLbl="node1" presStyleIdx="2" presStyleCnt="3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4F95AAA1-7B76-4A1C-A124-36C26B196234}" type="presOf" srcId="{20A07A1D-873D-496D-AA4E-CECB526490E7}" destId="{CF7BDD44-5E62-4B86-A264-B1188FFD4A61}" srcOrd="0" destOrd="0" presId="urn:microsoft.com/office/officeart/2005/8/layout/vProcess5"/>
    <dgm:cxn modelId="{4FAC1A53-A3D2-4191-A241-6717DC972CD6}" type="presOf" srcId="{C75DD8E9-D227-4F47-BEDD-F2FC4AFB8051}" destId="{81F0EF94-7C46-436F-A350-18AA88633151}" srcOrd="0" destOrd="0" presId="urn:microsoft.com/office/officeart/2005/8/layout/vProcess5"/>
    <dgm:cxn modelId="{3A214D39-E7C3-4A5A-8229-DD12C744FFCB}" srcId="{BEC01C73-EC71-48F8-A745-300F69100A25}" destId="{C75DD8E9-D227-4F47-BEDD-F2FC4AFB8051}" srcOrd="1" destOrd="0" parTransId="{17606FFD-6BEB-40EC-A895-369A038B740A}" sibTransId="{83E0EB56-710C-42B0-9610-DAD67D72E5F0}"/>
    <dgm:cxn modelId="{021F8935-5C41-4B41-82F2-54D02E7DD967}" type="presOf" srcId="{83E0EB56-710C-42B0-9610-DAD67D72E5F0}" destId="{9AD7538D-0E99-4984-9E38-D53FC7EE706E}" srcOrd="0" destOrd="0" presId="urn:microsoft.com/office/officeart/2005/8/layout/vProcess5"/>
    <dgm:cxn modelId="{A40A8129-7E6A-4F1A-88CA-FBA13807489F}" srcId="{BEC01C73-EC71-48F8-A745-300F69100A25}" destId="{20A07A1D-873D-496D-AA4E-CECB526490E7}" srcOrd="0" destOrd="0" parTransId="{6ECE96F7-93F2-4ACA-9A51-3AB40485A4E8}" sibTransId="{DB81A684-30E7-41CF-BE3E-155CEE5F9754}"/>
    <dgm:cxn modelId="{4BE72FE5-F868-457F-9428-46C0510866C7}" type="presOf" srcId="{55B960C1-974E-4491-BA48-12C5AB8AFADE}" destId="{CDC04B15-E3B1-4183-BDAC-C51AC3B105AB}" srcOrd="0" destOrd="0" presId="urn:microsoft.com/office/officeart/2005/8/layout/vProcess5"/>
    <dgm:cxn modelId="{47D1EABF-F87C-4F4B-8BCF-2089FA3794B8}" type="presOf" srcId="{55B960C1-974E-4491-BA48-12C5AB8AFADE}" destId="{B2084D6A-D600-4B3C-A96D-C27CAC1A9B33}" srcOrd="1" destOrd="0" presId="urn:microsoft.com/office/officeart/2005/8/layout/vProcess5"/>
    <dgm:cxn modelId="{E6C9E212-762C-4B0E-AA35-2840C436868B}" srcId="{BEC01C73-EC71-48F8-A745-300F69100A25}" destId="{55B960C1-974E-4491-BA48-12C5AB8AFADE}" srcOrd="2" destOrd="0" parTransId="{639A0B81-85FC-4457-A178-BB0835B2BC2E}" sibTransId="{FA5B699B-3A1F-47AB-A9A1-FF4CFF3E0700}"/>
    <dgm:cxn modelId="{0C877BE1-10AA-4274-B7A5-077DFE07FDF5}" type="presOf" srcId="{C75DD8E9-D227-4F47-BEDD-F2FC4AFB8051}" destId="{09D5DE1C-D769-4DC0-967A-BE3BED81A5E7}" srcOrd="1" destOrd="0" presId="urn:microsoft.com/office/officeart/2005/8/layout/vProcess5"/>
    <dgm:cxn modelId="{A1EDC906-1830-4C73-9D02-B3592C45EAB1}" type="presOf" srcId="{DB81A684-30E7-41CF-BE3E-155CEE5F9754}" destId="{A86EC003-E367-4D91-BDFB-06BCFC2C615B}" srcOrd="0" destOrd="0" presId="urn:microsoft.com/office/officeart/2005/8/layout/vProcess5"/>
    <dgm:cxn modelId="{601D7745-DF03-4250-9165-2A33DEED564B}" type="presOf" srcId="{BEC01C73-EC71-48F8-A745-300F69100A25}" destId="{2DE65368-B21E-4792-8174-8E742632289D}" srcOrd="0" destOrd="0" presId="urn:microsoft.com/office/officeart/2005/8/layout/vProcess5"/>
    <dgm:cxn modelId="{61433183-96E1-462A-A660-6EC2CB1B09FA}" type="presOf" srcId="{20A07A1D-873D-496D-AA4E-CECB526490E7}" destId="{3CEB1D90-D912-468F-9A08-8A4087F6144F}" srcOrd="1" destOrd="0" presId="urn:microsoft.com/office/officeart/2005/8/layout/vProcess5"/>
    <dgm:cxn modelId="{BE8CFD7B-DCC3-4A2B-8553-4DFD76EA606F}" type="presParOf" srcId="{2DE65368-B21E-4792-8174-8E742632289D}" destId="{CD90340C-605F-4CEC-8F1E-531ABC95CACE}" srcOrd="0" destOrd="0" presId="urn:microsoft.com/office/officeart/2005/8/layout/vProcess5"/>
    <dgm:cxn modelId="{293F51BD-3B45-4403-8A5F-70EF94006EA1}" type="presParOf" srcId="{2DE65368-B21E-4792-8174-8E742632289D}" destId="{CF7BDD44-5E62-4B86-A264-B1188FFD4A61}" srcOrd="1" destOrd="0" presId="urn:microsoft.com/office/officeart/2005/8/layout/vProcess5"/>
    <dgm:cxn modelId="{4005AD49-9EB8-4E65-B1A6-330DF7649811}" type="presParOf" srcId="{2DE65368-B21E-4792-8174-8E742632289D}" destId="{81F0EF94-7C46-436F-A350-18AA88633151}" srcOrd="2" destOrd="0" presId="urn:microsoft.com/office/officeart/2005/8/layout/vProcess5"/>
    <dgm:cxn modelId="{88AB29D2-3E1F-4A19-AA8A-66ED19F67217}" type="presParOf" srcId="{2DE65368-B21E-4792-8174-8E742632289D}" destId="{CDC04B15-E3B1-4183-BDAC-C51AC3B105AB}" srcOrd="3" destOrd="0" presId="urn:microsoft.com/office/officeart/2005/8/layout/vProcess5"/>
    <dgm:cxn modelId="{F7224ABA-225A-4E1A-8338-4B69B3926518}" type="presParOf" srcId="{2DE65368-B21E-4792-8174-8E742632289D}" destId="{A86EC003-E367-4D91-BDFB-06BCFC2C615B}" srcOrd="4" destOrd="0" presId="urn:microsoft.com/office/officeart/2005/8/layout/vProcess5"/>
    <dgm:cxn modelId="{8367BAEF-EABC-411D-AF77-DD542106B80C}" type="presParOf" srcId="{2DE65368-B21E-4792-8174-8E742632289D}" destId="{9AD7538D-0E99-4984-9E38-D53FC7EE706E}" srcOrd="5" destOrd="0" presId="urn:microsoft.com/office/officeart/2005/8/layout/vProcess5"/>
    <dgm:cxn modelId="{1635BF0F-24CD-4E30-831C-A3093DE17CE8}" type="presParOf" srcId="{2DE65368-B21E-4792-8174-8E742632289D}" destId="{3CEB1D90-D912-468F-9A08-8A4087F6144F}" srcOrd="6" destOrd="0" presId="urn:microsoft.com/office/officeart/2005/8/layout/vProcess5"/>
    <dgm:cxn modelId="{AE36CBD8-E655-41FD-B969-36B2F0EBFCA0}" type="presParOf" srcId="{2DE65368-B21E-4792-8174-8E742632289D}" destId="{09D5DE1C-D769-4DC0-967A-BE3BED81A5E7}" srcOrd="7" destOrd="0" presId="urn:microsoft.com/office/officeart/2005/8/layout/vProcess5"/>
    <dgm:cxn modelId="{AF56C296-B5B2-417A-96EA-3F28B604631A}" type="presParOf" srcId="{2DE65368-B21E-4792-8174-8E742632289D}" destId="{B2084D6A-D600-4B3C-A96D-C27CAC1A9B33}" srcOrd="8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5FDDD49F-9C83-4955-89E1-44B5269BE83A}" type="doc">
      <dgm:prSet loTypeId="urn:microsoft.com/office/officeart/2005/8/layout/cycle3" loCatId="cycl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DCFD2ACD-777E-4ADC-9A4A-96A7DFF2A0B3}">
      <dgm:prSet phldrT="[Текст]" custT="1"/>
      <dgm:spPr/>
      <dgm:t>
        <a:bodyPr/>
        <a:lstStyle/>
        <a:p>
          <a:r>
            <a:rPr lang="ru-RU" sz="11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Для повышения объективности и репрезентативности результатов в будущих исследованиях рекомендуется необходимо использовать количественные методы анализа данных (статистическое моделирование, эконометрику, А/В-тестирование) на больших выборках пользователей цифровых банковских сервисов.</a:t>
          </a:r>
          <a:endParaRPr lang="ru-RU" sz="1100" dirty="0">
            <a:solidFill>
              <a:schemeClr val="tx1"/>
            </a:solidFill>
          </a:endParaRPr>
        </a:p>
      </dgm:t>
    </dgm:pt>
    <dgm:pt modelId="{9CDF0879-03F2-4631-AD5D-6FA74E7C3AF0}" type="parTrans" cxnId="{D245F2D3-7CF6-421F-A07D-22B9CA7806F1}">
      <dgm:prSet/>
      <dgm:spPr/>
      <dgm:t>
        <a:bodyPr/>
        <a:lstStyle/>
        <a:p>
          <a:endParaRPr lang="ru-RU"/>
        </a:p>
      </dgm:t>
    </dgm:pt>
    <dgm:pt modelId="{5BB5FDA9-B0AD-4EE7-ADF8-EC7FC3E52E21}" type="sibTrans" cxnId="{D245F2D3-7CF6-421F-A07D-22B9CA7806F1}">
      <dgm:prSet/>
      <dgm:spPr/>
      <dgm:t>
        <a:bodyPr/>
        <a:lstStyle/>
        <a:p>
          <a:endParaRPr lang="ru-RU"/>
        </a:p>
      </dgm:t>
    </dgm:pt>
    <dgm:pt modelId="{42BF0DAA-3422-471A-AA31-A66A9A3B3016}">
      <dgm:prSet phldrT="[Текст]" custT="1"/>
      <dgm:spPr/>
      <dgm:t>
        <a:bodyPr/>
        <a:lstStyle/>
        <a:p>
          <a:r>
            <a:rPr lang="ru-RU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В силу ограниченности временных и финансовых ресурсов, исследование не затрагивало ряд смежных аспектов цифровизации банкинга, таких как информационная безопасность, правовое регулирование, социальные и этические последствия. Эти вопросы заслуживают отдельного глубокого изучения в рамках междисциплинарных исследовательских проектов с участием специалистов в области ИТ, юриспруденции, социологии и других релевантных областей.</a:t>
          </a:r>
          <a:endParaRPr lang="ru-RU" sz="1000" dirty="0">
            <a:solidFill>
              <a:schemeClr val="tx1"/>
            </a:solidFill>
          </a:endParaRPr>
        </a:p>
      </dgm:t>
    </dgm:pt>
    <dgm:pt modelId="{336A30B3-4D41-4FAD-B701-1E925A66F984}" type="parTrans" cxnId="{135F2AAD-8883-4153-8F79-30BFFD0C7FCE}">
      <dgm:prSet/>
      <dgm:spPr/>
      <dgm:t>
        <a:bodyPr/>
        <a:lstStyle/>
        <a:p>
          <a:endParaRPr lang="ru-RU"/>
        </a:p>
      </dgm:t>
    </dgm:pt>
    <dgm:pt modelId="{5D6B71B7-F299-48D1-9076-99089DA01DFF}" type="sibTrans" cxnId="{135F2AAD-8883-4153-8F79-30BFFD0C7FCE}">
      <dgm:prSet/>
      <dgm:spPr/>
      <dgm:t>
        <a:bodyPr/>
        <a:lstStyle/>
        <a:p>
          <a:endParaRPr lang="ru-RU"/>
        </a:p>
      </dgm:t>
    </dgm:pt>
    <dgm:pt modelId="{C7D12C77-12A7-49CC-9119-9033C4B4FFC9}">
      <dgm:prSet phldrT="[Текст]" custT="1"/>
      <dgm:spPr/>
      <dgm:t>
        <a:bodyPr/>
        <a:lstStyle/>
        <a:p>
          <a:r>
            <a:rPr lang="ru-RU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Динамичный и постоянно меняющийся характер цифровых технологий обуславливает необходимость регулярной актуализации результатов исследования и отслеживания новых тенденций и вызовов. В частности, перспективными направлениями для будущих исследований могут стать открытый банкинг и API-экономика, децентрализованные финансы (</a:t>
          </a:r>
          <a:r>
            <a:rPr lang="ru-RU" sz="100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DeFi</a:t>
          </a:r>
          <a:r>
            <a:rPr lang="ru-RU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) на базе </a:t>
          </a:r>
          <a:r>
            <a:rPr lang="ru-RU" sz="100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блокчейна</a:t>
          </a:r>
          <a:r>
            <a:rPr lang="ru-RU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, использование </a:t>
          </a:r>
          <a:r>
            <a:rPr lang="ru-RU" sz="100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нейроинтерфейсов</a:t>
          </a:r>
          <a:r>
            <a:rPr lang="ru-RU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и дополненной реальности в банковском обслуживании</a:t>
          </a:r>
          <a:r>
            <a:rPr lang="ru-RU" sz="9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.</a:t>
          </a:r>
          <a:endParaRPr lang="ru-RU" sz="900" dirty="0">
            <a:solidFill>
              <a:schemeClr val="tx1"/>
            </a:solidFill>
          </a:endParaRPr>
        </a:p>
      </dgm:t>
    </dgm:pt>
    <dgm:pt modelId="{ACD04D09-35FB-468E-8736-205DD9B96F04}" type="parTrans" cxnId="{9A2D641B-8948-46B0-AC67-ECB47EE6AC8B}">
      <dgm:prSet/>
      <dgm:spPr/>
      <dgm:t>
        <a:bodyPr/>
        <a:lstStyle/>
        <a:p>
          <a:endParaRPr lang="ru-RU"/>
        </a:p>
      </dgm:t>
    </dgm:pt>
    <dgm:pt modelId="{506015C5-8102-4945-860B-0C8B475F00DA}" type="sibTrans" cxnId="{9A2D641B-8948-46B0-AC67-ECB47EE6AC8B}">
      <dgm:prSet/>
      <dgm:spPr/>
      <dgm:t>
        <a:bodyPr/>
        <a:lstStyle/>
        <a:p>
          <a:endParaRPr lang="ru-RU"/>
        </a:p>
      </dgm:t>
    </dgm:pt>
    <dgm:pt modelId="{E6E2040C-6673-4469-9793-421359F8B651}">
      <dgm:prSet phldrT="[Текст]" custT="1"/>
      <dgm:spPr/>
      <dgm:t>
        <a:bodyPr/>
        <a:lstStyle/>
        <a:p>
          <a:r>
            <a:rPr lang="ru-RU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Исследование выполнено на материале одной страны (Узбекистан) и не учитывает страновую и культурную специфику процессов цифровизации в других государствах региона Центральной Азии. Кросс-культурный анализ восприятия и использования цифровых банковских сервисов, а также сопоставление институциональных и инфраструктурных факторов цифровизации в разных странах представляет большой интерес для развития теории и практики цифрового банкинга на развивающихся рынках.</a:t>
          </a:r>
          <a:endParaRPr lang="ru-RU" sz="1000" dirty="0">
            <a:solidFill>
              <a:schemeClr val="tx1"/>
            </a:solidFill>
          </a:endParaRPr>
        </a:p>
      </dgm:t>
    </dgm:pt>
    <dgm:pt modelId="{D887033D-04CB-4853-846D-AB3C09465F26}" type="parTrans" cxnId="{808339CE-479F-45FB-AFC4-0DBAC1413A14}">
      <dgm:prSet/>
      <dgm:spPr/>
      <dgm:t>
        <a:bodyPr/>
        <a:lstStyle/>
        <a:p>
          <a:endParaRPr lang="ru-RU"/>
        </a:p>
      </dgm:t>
    </dgm:pt>
    <dgm:pt modelId="{DBF200F3-D82B-4F71-B926-AC8EC19D92D4}" type="sibTrans" cxnId="{808339CE-479F-45FB-AFC4-0DBAC1413A14}">
      <dgm:prSet/>
      <dgm:spPr/>
      <dgm:t>
        <a:bodyPr/>
        <a:lstStyle/>
        <a:p>
          <a:endParaRPr lang="ru-RU"/>
        </a:p>
      </dgm:t>
    </dgm:pt>
    <dgm:pt modelId="{036A0847-0D19-4685-AE73-4E40A191DBB5}">
      <dgm:prSet phldrT="[Текст]" custT="1"/>
      <dgm:spPr/>
      <dgm:t>
        <a:bodyPr/>
        <a:lstStyle/>
        <a:p>
          <a:r>
            <a:rPr lang="ru-RU" sz="11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Построение финансовых и эконометрических моделей, позволяющих определить влияние цифровой трансформации на ключевые показатели деятельности банка (рентабельность, рыночную долю, стоимость привлечения и удержания клиента и др.), может стать предметом отдельного прикладного исследования.</a:t>
          </a:r>
          <a:endParaRPr lang="ru-RU" sz="1100" dirty="0">
            <a:solidFill>
              <a:schemeClr val="tx1"/>
            </a:solidFill>
          </a:endParaRPr>
        </a:p>
      </dgm:t>
    </dgm:pt>
    <dgm:pt modelId="{EC98C6FA-82B2-4A84-A6BA-90EE3BDE01A1}" type="parTrans" cxnId="{78F80833-7B95-4623-AD7B-E3AE9BD5C052}">
      <dgm:prSet/>
      <dgm:spPr/>
      <dgm:t>
        <a:bodyPr/>
        <a:lstStyle/>
        <a:p>
          <a:endParaRPr lang="ru-RU"/>
        </a:p>
      </dgm:t>
    </dgm:pt>
    <dgm:pt modelId="{949A67AD-8955-44C4-A7C7-84DD84D465A3}" type="sibTrans" cxnId="{78F80833-7B95-4623-AD7B-E3AE9BD5C052}">
      <dgm:prSet/>
      <dgm:spPr/>
      <dgm:t>
        <a:bodyPr/>
        <a:lstStyle/>
        <a:p>
          <a:endParaRPr lang="ru-RU"/>
        </a:p>
      </dgm:t>
    </dgm:pt>
    <dgm:pt modelId="{3D8612BB-5B83-42A6-9AB1-8B011FD658B4}">
      <dgm:prSet phldrT="[Текст]" custT="1"/>
      <dgm:spPr/>
      <dgm:t>
        <a:bodyPr/>
        <a:lstStyle/>
        <a:p>
          <a:r>
            <a:rPr lang="ru-RU" sz="105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Исследование было сфокусировано на отдельном кейсе (</a:t>
          </a:r>
          <a:r>
            <a:rPr lang="ru-RU" sz="105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Капиталбанк</a:t>
          </a:r>
          <a:r>
            <a:rPr lang="ru-RU" sz="105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) и не претендует на полноту охвата всех процессов и тенденций цифровизации банковского сектора Узбекистана. Для получения более системной картины в дальнейшем необходимо провести сравнительный анализ цифровых стратегий и практик ведущих узбекских банков, а также бенчмаркинг с лучшими зарубежными примерами цифровой трансформации банковского бизнеса.</a:t>
          </a:r>
          <a:endParaRPr lang="ru-RU" sz="1050" dirty="0">
            <a:solidFill>
              <a:schemeClr val="tx1"/>
            </a:solidFill>
          </a:endParaRPr>
        </a:p>
      </dgm:t>
    </dgm:pt>
    <dgm:pt modelId="{5C261F10-E0CB-408A-A126-954E61116BFD}" type="parTrans" cxnId="{D06EFDBA-AE2C-4A47-B2D7-96CE584DE947}">
      <dgm:prSet/>
      <dgm:spPr/>
      <dgm:t>
        <a:bodyPr/>
        <a:lstStyle/>
        <a:p>
          <a:endParaRPr lang="ru-RU"/>
        </a:p>
      </dgm:t>
    </dgm:pt>
    <dgm:pt modelId="{B1AF13CC-B3FB-495F-A2A0-8E42FC1662E1}" type="sibTrans" cxnId="{D06EFDBA-AE2C-4A47-B2D7-96CE584DE947}">
      <dgm:prSet/>
      <dgm:spPr/>
      <dgm:t>
        <a:bodyPr/>
        <a:lstStyle/>
        <a:p>
          <a:endParaRPr lang="ru-RU"/>
        </a:p>
      </dgm:t>
    </dgm:pt>
    <dgm:pt modelId="{B5CC4ED0-FB11-4082-9F7A-1C603BA14D49}" type="pres">
      <dgm:prSet presAssocID="{5FDDD49F-9C83-4955-89E1-44B5269BE83A}" presName="Name0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514E643D-95EB-4ABA-9476-F99641ADD611}" type="pres">
      <dgm:prSet presAssocID="{5FDDD49F-9C83-4955-89E1-44B5269BE83A}" presName="cycle" presStyleCnt="0"/>
      <dgm:spPr/>
    </dgm:pt>
    <dgm:pt modelId="{DB2F240C-96F9-4F2B-AB10-BE51950DDE9A}" type="pres">
      <dgm:prSet presAssocID="{DCFD2ACD-777E-4ADC-9A4A-96A7DFF2A0B3}" presName="nodeFirstNode" presStyleLbl="node1" presStyleIdx="0" presStyleCnt="6" custScaleX="157704" custScaleY="110351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155DEB57-0351-4883-B47B-E8C809C7919E}" type="pres">
      <dgm:prSet presAssocID="{5BB5FDA9-B0AD-4EE7-ADF8-EC7FC3E52E21}" presName="sibTransFirstNode" presStyleLbl="bgShp" presStyleIdx="0" presStyleCnt="1"/>
      <dgm:spPr/>
      <dgm:t>
        <a:bodyPr/>
        <a:lstStyle/>
        <a:p>
          <a:endParaRPr lang="ru-RU"/>
        </a:p>
      </dgm:t>
    </dgm:pt>
    <dgm:pt modelId="{0B1B86F1-3E7A-4569-B121-A63A82A9419A}" type="pres">
      <dgm:prSet presAssocID="{3D8612BB-5B83-42A6-9AB1-8B011FD658B4}" presName="nodeFollowingNodes" presStyleLbl="node1" presStyleIdx="1" presStyleCnt="6" custScaleX="171729" custScaleY="131578" custRadScaleRad="93344" custRadScaleInc="12240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732F16A0-7066-40E6-A222-E4470005A182}" type="pres">
      <dgm:prSet presAssocID="{42BF0DAA-3422-471A-AA31-A66A9A3B3016}" presName="nodeFollowingNodes" presStyleLbl="node1" presStyleIdx="2" presStyleCnt="6" custScaleX="175398" custScaleY="124248" custRadScaleRad="90952" custRadScaleInc="-19452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E525E4B2-FD55-44F4-BE7E-FE596D5C4F33}" type="pres">
      <dgm:prSet presAssocID="{C7D12C77-12A7-49CC-9119-9033C4B4FFC9}" presName="nodeFollowingNodes" presStyleLbl="node1" presStyleIdx="3" presStyleCnt="6" custScaleX="189580" custRadScaleRad="87908" custRadScaleInc="958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B2CCA13D-E0B6-49BB-9B39-C93F2DA58A95}" type="pres">
      <dgm:prSet presAssocID="{E6E2040C-6673-4469-9793-421359F8B651}" presName="nodeFollowingNodes" presStyleLbl="node1" presStyleIdx="4" presStyleCnt="6" custScaleX="184699" custRadScaleRad="101054" custRadScaleInc="23917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F55FEA1A-7263-4F3B-BC5B-9FB09B54BB29}" type="pres">
      <dgm:prSet presAssocID="{036A0847-0D19-4685-AE73-4E40A191DBB5}" presName="nodeFollowingNodes" presStyleLbl="node1" presStyleIdx="5" presStyleCnt="6" custScaleX="158212" custRadScaleRad="99550" custRadScaleInc="-14357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D245F2D3-7CF6-421F-A07D-22B9CA7806F1}" srcId="{5FDDD49F-9C83-4955-89E1-44B5269BE83A}" destId="{DCFD2ACD-777E-4ADC-9A4A-96A7DFF2A0B3}" srcOrd="0" destOrd="0" parTransId="{9CDF0879-03F2-4631-AD5D-6FA74E7C3AF0}" sibTransId="{5BB5FDA9-B0AD-4EE7-ADF8-EC7FC3E52E21}"/>
    <dgm:cxn modelId="{18736F7E-0FF9-44FA-A78F-AFE7B10CB7FF}" type="presOf" srcId="{E6E2040C-6673-4469-9793-421359F8B651}" destId="{B2CCA13D-E0B6-49BB-9B39-C93F2DA58A95}" srcOrd="0" destOrd="0" presId="urn:microsoft.com/office/officeart/2005/8/layout/cycle3"/>
    <dgm:cxn modelId="{D06EFDBA-AE2C-4A47-B2D7-96CE584DE947}" srcId="{5FDDD49F-9C83-4955-89E1-44B5269BE83A}" destId="{3D8612BB-5B83-42A6-9AB1-8B011FD658B4}" srcOrd="1" destOrd="0" parTransId="{5C261F10-E0CB-408A-A126-954E61116BFD}" sibTransId="{B1AF13CC-B3FB-495F-A2A0-8E42FC1662E1}"/>
    <dgm:cxn modelId="{32D8A8DE-57F0-4A8F-8527-465B445E9E0B}" type="presOf" srcId="{5FDDD49F-9C83-4955-89E1-44B5269BE83A}" destId="{B5CC4ED0-FB11-4082-9F7A-1C603BA14D49}" srcOrd="0" destOrd="0" presId="urn:microsoft.com/office/officeart/2005/8/layout/cycle3"/>
    <dgm:cxn modelId="{A8206F4B-A8F9-446E-893D-F4FDD236EB93}" type="presOf" srcId="{42BF0DAA-3422-471A-AA31-A66A9A3B3016}" destId="{732F16A0-7066-40E6-A222-E4470005A182}" srcOrd="0" destOrd="0" presId="urn:microsoft.com/office/officeart/2005/8/layout/cycle3"/>
    <dgm:cxn modelId="{135F2AAD-8883-4153-8F79-30BFFD0C7FCE}" srcId="{5FDDD49F-9C83-4955-89E1-44B5269BE83A}" destId="{42BF0DAA-3422-471A-AA31-A66A9A3B3016}" srcOrd="2" destOrd="0" parTransId="{336A30B3-4D41-4FAD-B701-1E925A66F984}" sibTransId="{5D6B71B7-F299-48D1-9076-99089DA01DFF}"/>
    <dgm:cxn modelId="{FBE6B98E-AC5F-446C-8457-9EEE799D3BA8}" type="presOf" srcId="{C7D12C77-12A7-49CC-9119-9033C4B4FFC9}" destId="{E525E4B2-FD55-44F4-BE7E-FE596D5C4F33}" srcOrd="0" destOrd="0" presId="urn:microsoft.com/office/officeart/2005/8/layout/cycle3"/>
    <dgm:cxn modelId="{C5080FD9-1E30-4C51-BCC3-E7004708C1F3}" type="presOf" srcId="{036A0847-0D19-4685-AE73-4E40A191DBB5}" destId="{F55FEA1A-7263-4F3B-BC5B-9FB09B54BB29}" srcOrd="0" destOrd="0" presId="urn:microsoft.com/office/officeart/2005/8/layout/cycle3"/>
    <dgm:cxn modelId="{808339CE-479F-45FB-AFC4-0DBAC1413A14}" srcId="{5FDDD49F-9C83-4955-89E1-44B5269BE83A}" destId="{E6E2040C-6673-4469-9793-421359F8B651}" srcOrd="4" destOrd="0" parTransId="{D887033D-04CB-4853-846D-AB3C09465F26}" sibTransId="{DBF200F3-D82B-4F71-B926-AC8EC19D92D4}"/>
    <dgm:cxn modelId="{9A2D641B-8948-46B0-AC67-ECB47EE6AC8B}" srcId="{5FDDD49F-9C83-4955-89E1-44B5269BE83A}" destId="{C7D12C77-12A7-49CC-9119-9033C4B4FFC9}" srcOrd="3" destOrd="0" parTransId="{ACD04D09-35FB-468E-8736-205DD9B96F04}" sibTransId="{506015C5-8102-4945-860B-0C8B475F00DA}"/>
    <dgm:cxn modelId="{78F80833-7B95-4623-AD7B-E3AE9BD5C052}" srcId="{5FDDD49F-9C83-4955-89E1-44B5269BE83A}" destId="{036A0847-0D19-4685-AE73-4E40A191DBB5}" srcOrd="5" destOrd="0" parTransId="{EC98C6FA-82B2-4A84-A6BA-90EE3BDE01A1}" sibTransId="{949A67AD-8955-44C4-A7C7-84DD84D465A3}"/>
    <dgm:cxn modelId="{71FA505A-B73E-47D0-BB73-89649DAC248B}" type="presOf" srcId="{3D8612BB-5B83-42A6-9AB1-8B011FD658B4}" destId="{0B1B86F1-3E7A-4569-B121-A63A82A9419A}" srcOrd="0" destOrd="0" presId="urn:microsoft.com/office/officeart/2005/8/layout/cycle3"/>
    <dgm:cxn modelId="{F7998BDD-7A18-43DB-BE82-ED298A1DA2EC}" type="presOf" srcId="{5BB5FDA9-B0AD-4EE7-ADF8-EC7FC3E52E21}" destId="{155DEB57-0351-4883-B47B-E8C809C7919E}" srcOrd="0" destOrd="0" presId="urn:microsoft.com/office/officeart/2005/8/layout/cycle3"/>
    <dgm:cxn modelId="{7FC793FF-5760-4286-9E46-4B608336C3D2}" type="presOf" srcId="{DCFD2ACD-777E-4ADC-9A4A-96A7DFF2A0B3}" destId="{DB2F240C-96F9-4F2B-AB10-BE51950DDE9A}" srcOrd="0" destOrd="0" presId="urn:microsoft.com/office/officeart/2005/8/layout/cycle3"/>
    <dgm:cxn modelId="{873F067C-84B4-4E57-A7F1-0E44272CF420}" type="presParOf" srcId="{B5CC4ED0-FB11-4082-9F7A-1C603BA14D49}" destId="{514E643D-95EB-4ABA-9476-F99641ADD611}" srcOrd="0" destOrd="0" presId="urn:microsoft.com/office/officeart/2005/8/layout/cycle3"/>
    <dgm:cxn modelId="{C12CBDEA-D603-4EDC-BFE6-E77F99593DCE}" type="presParOf" srcId="{514E643D-95EB-4ABA-9476-F99641ADD611}" destId="{DB2F240C-96F9-4F2B-AB10-BE51950DDE9A}" srcOrd="0" destOrd="0" presId="urn:microsoft.com/office/officeart/2005/8/layout/cycle3"/>
    <dgm:cxn modelId="{9421782E-7B64-4C42-86C7-4FC1F8E90335}" type="presParOf" srcId="{514E643D-95EB-4ABA-9476-F99641ADD611}" destId="{155DEB57-0351-4883-B47B-E8C809C7919E}" srcOrd="1" destOrd="0" presId="urn:microsoft.com/office/officeart/2005/8/layout/cycle3"/>
    <dgm:cxn modelId="{27619092-F71B-4B39-A213-017F193871A3}" type="presParOf" srcId="{514E643D-95EB-4ABA-9476-F99641ADD611}" destId="{0B1B86F1-3E7A-4569-B121-A63A82A9419A}" srcOrd="2" destOrd="0" presId="urn:microsoft.com/office/officeart/2005/8/layout/cycle3"/>
    <dgm:cxn modelId="{19ECF134-8634-4C1E-B169-3BD7DA2AB3BE}" type="presParOf" srcId="{514E643D-95EB-4ABA-9476-F99641ADD611}" destId="{732F16A0-7066-40E6-A222-E4470005A182}" srcOrd="3" destOrd="0" presId="urn:microsoft.com/office/officeart/2005/8/layout/cycle3"/>
    <dgm:cxn modelId="{C69A9937-9960-4D52-B876-E950A8905FB4}" type="presParOf" srcId="{514E643D-95EB-4ABA-9476-F99641ADD611}" destId="{E525E4B2-FD55-44F4-BE7E-FE596D5C4F33}" srcOrd="4" destOrd="0" presId="urn:microsoft.com/office/officeart/2005/8/layout/cycle3"/>
    <dgm:cxn modelId="{03D2EFFD-0091-47DD-89E8-CFA3FF132B4F}" type="presParOf" srcId="{514E643D-95EB-4ABA-9476-F99641ADD611}" destId="{B2CCA13D-E0B6-49BB-9B39-C93F2DA58A95}" srcOrd="5" destOrd="0" presId="urn:microsoft.com/office/officeart/2005/8/layout/cycle3"/>
    <dgm:cxn modelId="{A8073026-EA82-415B-A77C-5BE19FF181E0}" type="presParOf" srcId="{514E643D-95EB-4ABA-9476-F99641ADD611}" destId="{F55FEA1A-7263-4F3B-BC5B-9FB09B54BB29}" srcOrd="6" destOrd="0" presId="urn:microsoft.com/office/officeart/2005/8/layout/cycle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89D2141-D6F9-45A5-8953-F5C90E5B8766}">
      <dsp:nvSpPr>
        <dsp:cNvPr id="0" name=""/>
        <dsp:cNvSpPr/>
      </dsp:nvSpPr>
      <dsp:spPr>
        <a:xfrm>
          <a:off x="-6898425" y="-1054690"/>
          <a:ext cx="8209908" cy="8209908"/>
        </a:xfrm>
        <a:prstGeom prst="blockArc">
          <a:avLst>
            <a:gd name="adj1" fmla="val 18900000"/>
            <a:gd name="adj2" fmla="val 2700000"/>
            <a:gd name="adj3" fmla="val 263"/>
          </a:avLst>
        </a:prstGeom>
        <a:noFill/>
        <a:ln w="19050" cap="rnd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7D071BE-B4A3-43BC-9C6A-0CA0FC530404}">
      <dsp:nvSpPr>
        <dsp:cNvPr id="0" name=""/>
        <dsp:cNvSpPr/>
      </dsp:nvSpPr>
      <dsp:spPr>
        <a:xfrm>
          <a:off x="572725" y="312565"/>
          <a:ext cx="8561742" cy="90000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5480" tIns="35560" rIns="35560" bIns="35560" numCol="1" spcCol="1270" anchor="ctr" anchorCtr="0">
          <a:noAutofit/>
        </a:bodyPr>
        <a:lstStyle/>
        <a:p>
          <a:pPr lvl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b="1" kern="1200" dirty="0" err="1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Davlat</a:t>
          </a:r>
          <a:r>
            <a:rPr lang="en-US" sz="1400" b="1" kern="12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400" b="1" kern="1200" dirty="0" err="1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rahbariyatining</a:t>
          </a:r>
          <a:r>
            <a:rPr lang="en-US" sz="1400" b="1" kern="12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400" b="1" kern="1200" dirty="0" err="1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strategik</a:t>
          </a:r>
          <a:r>
            <a:rPr lang="en-US" sz="1400" b="1" kern="12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400" b="1" kern="1200" dirty="0" err="1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talablari</a:t>
          </a:r>
          <a:r>
            <a:rPr lang="en-US" sz="1400" b="1" kern="12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:</a:t>
          </a:r>
          <a:r>
            <a:rPr lang="en-US" sz="1400" kern="12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Bank </a:t>
          </a:r>
          <a:r>
            <a:rPr lang="en-US" sz="1400" kern="1200" dirty="0" err="1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tizimini</a:t>
          </a:r>
          <a:r>
            <a:rPr lang="en-US" sz="1400" kern="12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400" kern="1200" dirty="0" err="1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iqtisodiyotning</a:t>
          </a:r>
          <a:r>
            <a:rPr lang="en-US" sz="1400" kern="12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400" kern="1200" dirty="0" err="1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chinakam</a:t>
          </a:r>
          <a:r>
            <a:rPr lang="en-US" sz="1400" kern="12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400" kern="1200" dirty="0" err="1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drayveriga</a:t>
          </a:r>
          <a:r>
            <a:rPr lang="en-US" sz="1400" kern="12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400" kern="1200" dirty="0" err="1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aylantirish</a:t>
          </a:r>
          <a:r>
            <a:rPr lang="en-US" sz="1400" kern="12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, </a:t>
          </a:r>
          <a:r>
            <a:rPr lang="en-US" sz="1400" kern="1200" dirty="0" err="1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kredit</a:t>
          </a:r>
          <a:r>
            <a:rPr lang="en-US" sz="1400" kern="12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400" kern="1200" dirty="0" err="1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berish</a:t>
          </a:r>
          <a:r>
            <a:rPr lang="en-US" sz="1400" kern="12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400" kern="1200" dirty="0" err="1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jarayonidagi</a:t>
          </a:r>
          <a:r>
            <a:rPr lang="en-US" sz="1400" kern="12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400" kern="1200" dirty="0" err="1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loyihalarni</a:t>
          </a:r>
          <a:r>
            <a:rPr lang="en-US" sz="1400" kern="12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400" kern="1200" dirty="0" err="1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yuzaki</a:t>
          </a:r>
          <a:r>
            <a:rPr lang="en-US" sz="1400" kern="12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400" kern="1200" dirty="0" err="1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baholashga</a:t>
          </a:r>
          <a:r>
            <a:rPr lang="en-US" sz="1400" kern="12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400" kern="1200" dirty="0" err="1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barham</a:t>
          </a:r>
          <a:r>
            <a:rPr lang="en-US" sz="1400" kern="12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400" kern="1200" dirty="0" err="1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berish</a:t>
          </a:r>
          <a:r>
            <a:rPr lang="en-US" sz="1400" kern="12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400" kern="1200" dirty="0" err="1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va</a:t>
          </a:r>
          <a:r>
            <a:rPr lang="en-US" sz="1400" kern="12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400" kern="1200" dirty="0" err="1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ajratilayotgan</a:t>
          </a:r>
          <a:r>
            <a:rPr lang="en-US" sz="1400" kern="12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400" kern="1200" dirty="0" err="1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har</a:t>
          </a:r>
          <a:r>
            <a:rPr lang="en-US" sz="1400" kern="12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400" kern="1200" dirty="0" err="1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bir</a:t>
          </a:r>
          <a:r>
            <a:rPr lang="en-US" sz="1400" kern="12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400" kern="1200" dirty="0" err="1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kredit</a:t>
          </a:r>
          <a:r>
            <a:rPr lang="en-US" sz="1400" kern="12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400" kern="1200" dirty="0" err="1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liniyasining</a:t>
          </a:r>
          <a:r>
            <a:rPr lang="en-US" sz="1400" kern="12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400" kern="1200" dirty="0" err="1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matematik</a:t>
          </a:r>
          <a:r>
            <a:rPr lang="en-US" sz="1400" kern="12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400" kern="1200" dirty="0" err="1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hisob-kitoblarga</a:t>
          </a:r>
          <a:r>
            <a:rPr lang="en-US" sz="1400" kern="12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400" kern="1200" dirty="0" err="1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asoslangan</a:t>
          </a:r>
          <a:r>
            <a:rPr lang="en-US" sz="1400" kern="12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400" kern="1200" dirty="0" err="1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iqtisodiy</a:t>
          </a:r>
          <a:r>
            <a:rPr lang="en-US" sz="1400" kern="12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400" kern="1200" dirty="0" err="1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samaradorligini</a:t>
          </a:r>
          <a:r>
            <a:rPr lang="en-US" sz="1400" kern="12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400" kern="1200" dirty="0" err="1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ta’minlash</a:t>
          </a:r>
          <a:r>
            <a:rPr lang="en-US" sz="1400" kern="12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400" kern="1200" dirty="0" err="1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boʻyicha</a:t>
          </a:r>
          <a:r>
            <a:rPr lang="en-US" sz="1400" kern="12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400" kern="1200" dirty="0" err="1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qoʻyilgan</a:t>
          </a:r>
          <a:r>
            <a:rPr lang="en-US" sz="1400" kern="12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400" kern="1200" dirty="0" err="1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qatʼiy</a:t>
          </a:r>
          <a:r>
            <a:rPr lang="en-US" sz="1400" kern="12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400" kern="1200" dirty="0" err="1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vazifalar</a:t>
          </a:r>
          <a:r>
            <a:rPr lang="en-US" sz="1400" kern="12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400" kern="1200" dirty="0" err="1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mavjud</a:t>
          </a:r>
          <a:r>
            <a:rPr lang="en-US" sz="1400" kern="12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.</a:t>
          </a:r>
          <a:endParaRPr lang="ru-RU" sz="1400" kern="1200" dirty="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572725" y="312565"/>
        <a:ext cx="8561742" cy="900001"/>
      </dsp:txXfrm>
    </dsp:sp>
    <dsp:sp modelId="{6027DEBE-7D82-4B26-A029-2F4EB502AA77}">
      <dsp:nvSpPr>
        <dsp:cNvPr id="0" name=""/>
        <dsp:cNvSpPr/>
      </dsp:nvSpPr>
      <dsp:spPr>
        <a:xfrm>
          <a:off x="95969" y="285809"/>
          <a:ext cx="953512" cy="95351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AB6D006-4074-4478-A38D-B9170817E3E1}">
      <dsp:nvSpPr>
        <dsp:cNvPr id="0" name=""/>
        <dsp:cNvSpPr/>
      </dsp:nvSpPr>
      <dsp:spPr>
        <a:xfrm>
          <a:off x="1119332" y="1456414"/>
          <a:ext cx="8015135" cy="90000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5480" tIns="35560" rIns="35560" bIns="35560" numCol="1" spcCol="1270" anchor="ctr" anchorCtr="0">
          <a:noAutofit/>
        </a:bodyPr>
        <a:lstStyle/>
        <a:p>
          <a:pPr lvl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b="1" kern="12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Global </a:t>
          </a:r>
          <a:r>
            <a:rPr lang="en-US" sz="1400" b="1" kern="1200" dirty="0" err="1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iqtisodiy</a:t>
          </a:r>
          <a:r>
            <a:rPr lang="en-US" sz="1400" b="1" kern="12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400" b="1" kern="1200" dirty="0" err="1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oʻzgarishlar</a:t>
          </a:r>
          <a:r>
            <a:rPr lang="en-US" sz="1400" b="1" kern="12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400" b="1" kern="1200" dirty="0" err="1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va</a:t>
          </a:r>
          <a:r>
            <a:rPr lang="en-US" sz="1400" b="1" kern="12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400" b="1" kern="1200" dirty="0" err="1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risklar</a:t>
          </a:r>
          <a:r>
            <a:rPr lang="en-US" sz="1400" b="1" kern="12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400" b="1" kern="1200" dirty="0" err="1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transferi</a:t>
          </a:r>
          <a:r>
            <a:rPr lang="en-US" sz="1400" b="1" kern="12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: </a:t>
          </a:r>
          <a:r>
            <a:rPr lang="en-US" sz="1400" kern="1200" dirty="0" err="1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Zamonaviy</a:t>
          </a:r>
          <a:r>
            <a:rPr lang="en-US" sz="1400" kern="12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400" kern="1200" dirty="0" err="1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globallashuv</a:t>
          </a:r>
          <a:r>
            <a:rPr lang="en-US" sz="1400" kern="12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400" kern="1200" dirty="0" err="1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jarayonlari</a:t>
          </a:r>
          <a:r>
            <a:rPr lang="en-US" sz="1400" kern="12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, </a:t>
          </a:r>
          <a:r>
            <a:rPr lang="en-US" sz="1400" kern="1200" dirty="0" err="1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xalqaro</a:t>
          </a:r>
          <a:r>
            <a:rPr lang="en-US" sz="1400" kern="12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400" kern="1200" dirty="0" err="1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moliya</a:t>
          </a:r>
          <a:r>
            <a:rPr lang="en-US" sz="1400" kern="12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400" kern="1200" dirty="0" err="1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bozorlaridagi</a:t>
          </a:r>
          <a:r>
            <a:rPr lang="en-US" sz="1400" kern="12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400" kern="1200" dirty="0" err="1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yuqori</a:t>
          </a:r>
          <a:r>
            <a:rPr lang="en-US" sz="1400" kern="12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400" kern="1200" dirty="0" err="1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volatillik</a:t>
          </a:r>
          <a:r>
            <a:rPr lang="en-US" sz="1400" kern="12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, </a:t>
          </a:r>
          <a:r>
            <a:rPr lang="en-US" sz="1400" kern="1200" dirty="0" err="1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geosiyosiy</a:t>
          </a:r>
          <a:r>
            <a:rPr lang="en-US" sz="1400" kern="12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400" kern="1200" dirty="0" err="1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tebranishlar</a:t>
          </a:r>
          <a:r>
            <a:rPr lang="en-US" sz="1400" kern="12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400" kern="1200" dirty="0" err="1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hamda</a:t>
          </a:r>
          <a:r>
            <a:rPr lang="en-US" sz="1400" kern="12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400" kern="1200" dirty="0" err="1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risklarning</a:t>
          </a:r>
          <a:r>
            <a:rPr lang="en-US" sz="1400" kern="12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400" kern="1200" dirty="0" err="1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transchegaraviy</a:t>
          </a:r>
          <a:r>
            <a:rPr lang="en-US" sz="1400" kern="12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transfer </a:t>
          </a:r>
          <a:r>
            <a:rPr lang="en-US" sz="1400" kern="1200" dirty="0" err="1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boʻlish</a:t>
          </a:r>
          <a:r>
            <a:rPr lang="en-US" sz="1400" kern="12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400" kern="1200" dirty="0" err="1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tezligi</a:t>
          </a:r>
          <a:r>
            <a:rPr lang="en-US" sz="1400" kern="12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400" kern="1200" dirty="0" err="1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sharoitida</a:t>
          </a:r>
          <a:r>
            <a:rPr lang="en-US" sz="1400" kern="12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400" kern="1200" dirty="0" err="1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milliy</a:t>
          </a:r>
          <a:r>
            <a:rPr lang="en-US" sz="1400" kern="12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bank </a:t>
          </a:r>
          <a:r>
            <a:rPr lang="en-US" sz="1400" kern="1200" dirty="0" err="1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tizimi</a:t>
          </a:r>
          <a:r>
            <a:rPr lang="en-US" sz="1400" kern="12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400" kern="1200" dirty="0" err="1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barqarorligini</a:t>
          </a:r>
          <a:r>
            <a:rPr lang="en-US" sz="1400" kern="12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400" kern="1200" dirty="0" err="1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ta’minlash</a:t>
          </a:r>
          <a:r>
            <a:rPr lang="en-US" sz="1400" kern="12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400" kern="1200" dirty="0" err="1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zarurati</a:t>
          </a:r>
          <a:r>
            <a:rPr lang="en-US" sz="1400" kern="12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400" kern="1200" dirty="0" err="1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yuzaga</a:t>
          </a:r>
          <a:r>
            <a:rPr lang="en-US" sz="1400" kern="12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400" kern="1200" dirty="0" err="1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kelmoqda</a:t>
          </a:r>
          <a:r>
            <a:rPr lang="en-US" sz="1400" kern="12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.</a:t>
          </a:r>
          <a:r>
            <a:rPr lang="ru-RU" sz="1400" kern="12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.</a:t>
          </a:r>
          <a:endParaRPr lang="ru-RU" sz="1400" kern="1200" dirty="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1119332" y="1456414"/>
        <a:ext cx="8015135" cy="900001"/>
      </dsp:txXfrm>
    </dsp:sp>
    <dsp:sp modelId="{A88D1E4A-56BC-4553-AFCF-A72E71EFE97A}">
      <dsp:nvSpPr>
        <dsp:cNvPr id="0" name=""/>
        <dsp:cNvSpPr/>
      </dsp:nvSpPr>
      <dsp:spPr>
        <a:xfrm>
          <a:off x="642576" y="1429658"/>
          <a:ext cx="953512" cy="95351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51BDAAD-8AE0-466E-BB81-BF35E7EEEF80}">
      <dsp:nvSpPr>
        <dsp:cNvPr id="0" name=""/>
        <dsp:cNvSpPr/>
      </dsp:nvSpPr>
      <dsp:spPr>
        <a:xfrm>
          <a:off x="1287097" y="2564262"/>
          <a:ext cx="7847371" cy="97200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5480" tIns="35560" rIns="35560" bIns="35560" numCol="1" spcCol="1270" anchor="ctr" anchorCtr="0">
          <a:noAutofit/>
        </a:bodyPr>
        <a:lstStyle/>
        <a:p>
          <a:pPr lvl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b="1" kern="1200" dirty="0" err="1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Multiplikativ</a:t>
          </a:r>
          <a:r>
            <a:rPr lang="en-US" sz="1400" b="1" kern="12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400" b="1" kern="1200" dirty="0" err="1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salbiy</a:t>
          </a:r>
          <a:r>
            <a:rPr lang="en-US" sz="1400" b="1" kern="12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samara (Makroiqtisodiy </a:t>
          </a:r>
          <a:r>
            <a:rPr lang="en-US" sz="1400" b="1" kern="1200" dirty="0" err="1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destruksiya</a:t>
          </a:r>
          <a:r>
            <a:rPr lang="en-US" sz="1400" b="1" kern="12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):</a:t>
          </a:r>
          <a:r>
            <a:rPr lang="en-US" sz="1400" kern="12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400" kern="1200" dirty="0" err="1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Muammoli</a:t>
          </a:r>
          <a:r>
            <a:rPr lang="en-US" sz="1400" kern="12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400" kern="1200" dirty="0" err="1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kreditlar</a:t>
          </a:r>
          <a:r>
            <a:rPr lang="en-US" sz="1400" kern="12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400" kern="1200" dirty="0" err="1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massasining</a:t>
          </a:r>
          <a:r>
            <a:rPr lang="en-US" sz="1400" kern="12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400" kern="1200" dirty="0" err="1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toʻplanishi</a:t>
          </a:r>
          <a:r>
            <a:rPr lang="en-US" sz="1400" kern="12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400" kern="1200" dirty="0" err="1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banklarni</a:t>
          </a:r>
          <a:r>
            <a:rPr lang="en-US" sz="1400" kern="12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400" kern="1200" dirty="0" err="1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zaxira</a:t>
          </a:r>
          <a:r>
            <a:rPr lang="en-US" sz="1400" kern="12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400" kern="1200" dirty="0" err="1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fondlariga</a:t>
          </a:r>
          <a:r>
            <a:rPr lang="en-US" sz="1400" kern="12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400" kern="1200" dirty="0" err="1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koʻproq</a:t>
          </a:r>
          <a:r>
            <a:rPr lang="en-US" sz="1400" kern="12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400" kern="1200" dirty="0" err="1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mablagʻ</a:t>
          </a:r>
          <a:r>
            <a:rPr lang="en-US" sz="1400" kern="12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400" kern="1200" dirty="0" err="1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oʻtkazishga</a:t>
          </a:r>
          <a:r>
            <a:rPr lang="en-US" sz="1400" kern="12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400" kern="1200" dirty="0" err="1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majbur</a:t>
          </a:r>
          <a:r>
            <a:rPr lang="en-US" sz="1400" kern="12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400" kern="1200" dirty="0" err="1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qiladi</a:t>
          </a:r>
          <a:r>
            <a:rPr lang="en-US" sz="1400" kern="12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, </a:t>
          </a:r>
          <a:r>
            <a:rPr lang="en-US" sz="1400" kern="1200" dirty="0" err="1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bu</a:t>
          </a:r>
          <a:r>
            <a:rPr lang="en-US" sz="1400" kern="12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400" kern="1200" dirty="0" err="1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esa</a:t>
          </a:r>
          <a:r>
            <a:rPr lang="en-US" sz="1400" kern="12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400" kern="1200" dirty="0" err="1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kapital</a:t>
          </a:r>
          <a:r>
            <a:rPr lang="en-US" sz="1400" kern="12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400" kern="1200" dirty="0" err="1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etarliligiga</a:t>
          </a:r>
          <a:r>
            <a:rPr lang="en-US" sz="1400" kern="12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400" kern="1200" dirty="0" err="1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zarba</a:t>
          </a:r>
          <a:r>
            <a:rPr lang="en-US" sz="1400" kern="12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400" kern="1200" dirty="0" err="1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beradi</a:t>
          </a:r>
          <a:r>
            <a:rPr lang="en-US" sz="1400" kern="12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, </a:t>
          </a:r>
          <a:r>
            <a:rPr lang="en-US" sz="1400" kern="1200" dirty="0" err="1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likvidlilikni</a:t>
          </a:r>
          <a:r>
            <a:rPr lang="en-US" sz="1400" kern="12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400" kern="1200" dirty="0" err="1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pasaytiradi</a:t>
          </a:r>
          <a:r>
            <a:rPr lang="en-US" sz="1400" kern="12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, </a:t>
          </a:r>
          <a:r>
            <a:rPr lang="en-US" sz="1400" kern="1200" dirty="0" err="1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kredit</a:t>
          </a:r>
          <a:r>
            <a:rPr lang="en-US" sz="1400" kern="12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400" kern="1200" dirty="0" err="1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siqilishini</a:t>
          </a:r>
          <a:r>
            <a:rPr lang="en-US" sz="1400" kern="12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400" kern="1200" dirty="0" err="1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yuzaga</a:t>
          </a:r>
          <a:r>
            <a:rPr lang="en-US" sz="1400" kern="12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400" kern="1200" dirty="0" err="1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keltirib</a:t>
          </a:r>
          <a:r>
            <a:rPr lang="en-US" sz="1400" kern="12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, real </a:t>
          </a:r>
          <a:r>
            <a:rPr lang="en-US" sz="1400" kern="1200" dirty="0" err="1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sektorda</a:t>
          </a:r>
          <a:r>
            <a:rPr lang="en-US" sz="1400" kern="12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400" kern="1200" dirty="0" err="1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ishlab</a:t>
          </a:r>
          <a:r>
            <a:rPr lang="en-US" sz="1400" kern="12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400" kern="1200" dirty="0" err="1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chiqarish</a:t>
          </a:r>
          <a:r>
            <a:rPr lang="en-US" sz="1400" kern="12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400" kern="1200" dirty="0" err="1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pasayishi</a:t>
          </a:r>
          <a:r>
            <a:rPr lang="en-US" sz="1400" kern="12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400" kern="1200" dirty="0" err="1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va</a:t>
          </a:r>
          <a:r>
            <a:rPr lang="en-US" sz="1400" kern="12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400" kern="1200" dirty="0" err="1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ishsizlik</a:t>
          </a:r>
          <a:r>
            <a:rPr lang="en-US" sz="1400" kern="12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400" kern="1200" dirty="0" err="1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ortishiga</a:t>
          </a:r>
          <a:r>
            <a:rPr lang="en-US" sz="1400" kern="12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400" kern="1200" dirty="0" err="1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sabab</a:t>
          </a:r>
          <a:r>
            <a:rPr lang="en-US" sz="1400" kern="12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400" kern="1200" dirty="0" err="1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boʻladi</a:t>
          </a:r>
          <a:r>
            <a:rPr lang="en-US" sz="1400" kern="12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.</a:t>
          </a:r>
          <a:endParaRPr lang="ru-RU" sz="1400" kern="1200" dirty="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1287097" y="2564262"/>
        <a:ext cx="7847371" cy="972002"/>
      </dsp:txXfrm>
    </dsp:sp>
    <dsp:sp modelId="{843D771B-D6C1-4A77-A47C-982616FF90AF}">
      <dsp:nvSpPr>
        <dsp:cNvPr id="0" name=""/>
        <dsp:cNvSpPr/>
      </dsp:nvSpPr>
      <dsp:spPr>
        <a:xfrm>
          <a:off x="810341" y="2573507"/>
          <a:ext cx="953512" cy="95351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FB50635-FB47-42AD-958A-99ECBBB7E8A2}">
      <dsp:nvSpPr>
        <dsp:cNvPr id="0" name=""/>
        <dsp:cNvSpPr/>
      </dsp:nvSpPr>
      <dsp:spPr>
        <a:xfrm>
          <a:off x="1119332" y="3672113"/>
          <a:ext cx="8015135" cy="104399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5480" tIns="35560" rIns="35560" bIns="35560" numCol="1" spcCol="1270" anchor="ctr" anchorCtr="0">
          <a:noAutofit/>
        </a:bodyPr>
        <a:lstStyle/>
        <a:p>
          <a:pPr lvl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b="1" kern="1200" dirty="0" err="1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Zamonaviy</a:t>
          </a:r>
          <a:r>
            <a:rPr lang="en-US" sz="1400" b="1" kern="12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400" b="1" kern="1200" dirty="0" err="1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moslashuvchan</a:t>
          </a:r>
          <a:r>
            <a:rPr lang="en-US" sz="1400" b="1" kern="12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400" b="1" kern="1200" dirty="0" err="1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instrumentlarga</a:t>
          </a:r>
          <a:r>
            <a:rPr lang="en-US" sz="1400" b="1" kern="12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400" b="1" kern="1200" dirty="0" err="1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boʻlgan</a:t>
          </a:r>
          <a:r>
            <a:rPr lang="en-US" sz="1400" b="1" kern="12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400" b="1" kern="1200" dirty="0" err="1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ehtiyoj</a:t>
          </a:r>
          <a:r>
            <a:rPr lang="en-US" sz="1400" b="1" kern="12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:</a:t>
          </a:r>
          <a:r>
            <a:rPr lang="en-US" sz="1400" kern="12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400" kern="1200" dirty="0" err="1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Oʻzbekiston</a:t>
          </a:r>
          <a:r>
            <a:rPr lang="en-US" sz="1400" kern="12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400" kern="1200" dirty="0" err="1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sharoitida</a:t>
          </a:r>
          <a:r>
            <a:rPr lang="en-US" sz="1400" kern="12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400" kern="1200" dirty="0" err="1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muammoli</a:t>
          </a:r>
          <a:r>
            <a:rPr lang="en-US" sz="1400" kern="12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400" kern="1200" dirty="0" err="1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aktivlarni</a:t>
          </a:r>
          <a:r>
            <a:rPr lang="en-US" sz="1400" kern="12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400" kern="1200" dirty="0" err="1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undirishda</a:t>
          </a:r>
          <a:r>
            <a:rPr lang="en-US" sz="1400" kern="12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400" kern="1200" dirty="0" err="1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hamon</a:t>
          </a:r>
          <a:r>
            <a:rPr lang="en-US" sz="1400" kern="12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400" kern="1200" dirty="0" err="1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eskirgan</a:t>
          </a:r>
          <a:r>
            <a:rPr lang="en-US" sz="1400" kern="12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400" kern="1200" dirty="0" err="1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sud</a:t>
          </a:r>
          <a:r>
            <a:rPr lang="en-US" sz="1400" kern="12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400" kern="1200" dirty="0" err="1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va</a:t>
          </a:r>
          <a:r>
            <a:rPr lang="en-US" sz="1400" kern="12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400" kern="1200" dirty="0" err="1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ma’muriy</a:t>
          </a:r>
          <a:r>
            <a:rPr lang="en-US" sz="1400" kern="12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400" kern="1200" dirty="0" err="1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bosim</a:t>
          </a:r>
          <a:r>
            <a:rPr lang="en-US" sz="1400" kern="12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400" kern="1200" dirty="0" err="1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usullaridan</a:t>
          </a:r>
          <a:r>
            <a:rPr lang="en-US" sz="1400" kern="12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400" kern="1200" dirty="0" err="1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foydalanilayotgan</a:t>
          </a:r>
          <a:r>
            <a:rPr lang="en-US" sz="1400" kern="12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400" kern="1200" dirty="0" err="1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boʻlib</a:t>
          </a:r>
          <a:r>
            <a:rPr lang="en-US" sz="1400" kern="12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, </a:t>
          </a:r>
          <a:r>
            <a:rPr lang="en-US" sz="1400" kern="1200" dirty="0" err="1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jahon</a:t>
          </a:r>
          <a:r>
            <a:rPr lang="en-US" sz="1400" kern="12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400" kern="1200" dirty="0" err="1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amaliyotidagi</a:t>
          </a:r>
          <a:r>
            <a:rPr lang="en-US" sz="1400" kern="12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“</a:t>
          </a:r>
          <a:r>
            <a:rPr lang="en-US" sz="1400" kern="1200" dirty="0" err="1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Yomon</a:t>
          </a:r>
          <a:r>
            <a:rPr lang="en-US" sz="1400" kern="12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400" kern="1200" dirty="0" err="1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aktivlarni</a:t>
          </a:r>
          <a:r>
            <a:rPr lang="en-US" sz="1400" kern="12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400" kern="1200" dirty="0" err="1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boshqarish</a:t>
          </a:r>
          <a:r>
            <a:rPr lang="en-US" sz="1400" kern="12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400" kern="1200" dirty="0" err="1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kompaniyalari</a:t>
          </a:r>
          <a:r>
            <a:rPr lang="en-US" sz="1400" kern="12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” (AMC), </a:t>
          </a:r>
          <a:r>
            <a:rPr lang="en-US" sz="1400" kern="1200" dirty="0" err="1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sekuritizatsiya</a:t>
          </a:r>
          <a:r>
            <a:rPr lang="en-US" sz="1400" kern="12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400" kern="1200" dirty="0" err="1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va</a:t>
          </a:r>
          <a:r>
            <a:rPr lang="en-US" sz="1400" kern="12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400" kern="1200" dirty="0" err="1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kredit</a:t>
          </a:r>
          <a:r>
            <a:rPr lang="en-US" sz="1400" kern="12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400" kern="1200" dirty="0" err="1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derivativlari</a:t>
          </a:r>
          <a:r>
            <a:rPr lang="en-US" sz="1400" kern="12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400" kern="1200" dirty="0" err="1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kabi</a:t>
          </a:r>
          <a:r>
            <a:rPr lang="en-US" sz="1400" kern="12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400" kern="1200" dirty="0" err="1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moslashuvchan</a:t>
          </a:r>
          <a:r>
            <a:rPr lang="en-US" sz="1400" kern="12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400" kern="1200" dirty="0" err="1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moliyaviy</a:t>
          </a:r>
          <a:r>
            <a:rPr lang="en-US" sz="1400" kern="12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400" kern="1200" dirty="0" err="1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instrumentlarni</a:t>
          </a:r>
          <a:r>
            <a:rPr lang="en-US" sz="1400" kern="12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400" kern="1200" dirty="0" err="1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hamda</a:t>
          </a:r>
          <a:r>
            <a:rPr lang="en-US" sz="1400" kern="12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400" kern="1200" dirty="0" err="1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anderraytingda</a:t>
          </a:r>
          <a:r>
            <a:rPr lang="en-US" sz="1400" kern="12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400" kern="1200" dirty="0" err="1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inson</a:t>
          </a:r>
          <a:r>
            <a:rPr lang="en-US" sz="1400" kern="12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400" kern="1200" dirty="0" err="1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omilini</a:t>
          </a:r>
          <a:r>
            <a:rPr lang="en-US" sz="1400" kern="12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400" kern="1200" dirty="0" err="1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minimallashtiruvchi</a:t>
          </a:r>
          <a:r>
            <a:rPr lang="en-US" sz="1400" kern="12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400" kern="1200" dirty="0" err="1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raqamli</a:t>
          </a:r>
          <a:r>
            <a:rPr lang="en-US" sz="1400" kern="12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400" kern="1200" dirty="0" err="1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tizimlarni</a:t>
          </a:r>
          <a:r>
            <a:rPr lang="en-US" sz="1400" kern="12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400" kern="1200" dirty="0" err="1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joriy</a:t>
          </a:r>
          <a:r>
            <a:rPr lang="en-US" sz="1400" kern="12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400" kern="1200" dirty="0" err="1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etish</a:t>
          </a:r>
          <a:r>
            <a:rPr lang="en-US" sz="1400" kern="12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400" kern="1200" dirty="0" err="1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zarurati</a:t>
          </a:r>
          <a:r>
            <a:rPr lang="en-US" sz="1400" kern="12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400" kern="1200" dirty="0" err="1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dolzarb</a:t>
          </a:r>
          <a:r>
            <a:rPr lang="en-US" sz="1400" kern="12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400" kern="1200" dirty="0" err="1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boʻlib</a:t>
          </a:r>
          <a:r>
            <a:rPr lang="en-US" sz="1400" kern="12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1400" kern="1200" dirty="0" err="1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turibdi</a:t>
          </a:r>
          <a:r>
            <a:rPr lang="en-US" sz="1400" kern="12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.</a:t>
          </a:r>
          <a:endParaRPr lang="ru-RU" sz="1400" kern="1200" dirty="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1119332" y="3672113"/>
        <a:ext cx="8015135" cy="1043996"/>
      </dsp:txXfrm>
    </dsp:sp>
    <dsp:sp modelId="{5D45270E-10CF-496C-AC94-FC4EA659B88E}">
      <dsp:nvSpPr>
        <dsp:cNvPr id="0" name=""/>
        <dsp:cNvSpPr/>
      </dsp:nvSpPr>
      <dsp:spPr>
        <a:xfrm>
          <a:off x="642576" y="3717356"/>
          <a:ext cx="953512" cy="95351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3BD83FE-1796-463F-8B7A-A22B48DD12BD}">
      <dsp:nvSpPr>
        <dsp:cNvPr id="0" name=""/>
        <dsp:cNvSpPr/>
      </dsp:nvSpPr>
      <dsp:spPr>
        <a:xfrm>
          <a:off x="572725" y="4869961"/>
          <a:ext cx="8561742" cy="93599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5480" tIns="35560" rIns="35560" bIns="35560" numCol="1" spcCol="1270" anchor="ctr" anchorCtr="0">
          <a:noAutofit/>
        </a:bodyPr>
        <a:lstStyle/>
        <a:p>
          <a:pPr lvl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b="1" kern="120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Mamlakatning xalqaro reytingi va investitsion jozibadorligi:</a:t>
          </a:r>
          <a:r>
            <a:rPr lang="en-US" sz="1400" kern="120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Davlat ulushi mavjud boʻlgan yirik banklarni transformatsiya qilish va xususiylashtirish sharoitida NPL koʻrsatkichining past boʻlishi mamlakatning suveren hamda korporativ kredit reytinglariga, shuningdek, arzon xorijiy resurslarni jalb qilish imkoniyatiga toʻgʻridan-toʻgʻri ta’sir koʻrsatadi.</a:t>
          </a:r>
          <a:endParaRPr lang="ru-RU" sz="1400" kern="1200" dirty="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572725" y="4869961"/>
        <a:ext cx="8561742" cy="935998"/>
      </dsp:txXfrm>
    </dsp:sp>
    <dsp:sp modelId="{93BAB19E-7042-45B3-AB0D-C7FCC6A9A175}">
      <dsp:nvSpPr>
        <dsp:cNvPr id="0" name=""/>
        <dsp:cNvSpPr/>
      </dsp:nvSpPr>
      <dsp:spPr>
        <a:xfrm>
          <a:off x="95969" y="4861204"/>
          <a:ext cx="953512" cy="95351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DDB8485-C064-4344-803F-8708C14E7FCE}">
      <dsp:nvSpPr>
        <dsp:cNvPr id="0" name=""/>
        <dsp:cNvSpPr/>
      </dsp:nvSpPr>
      <dsp:spPr>
        <a:xfrm rot="16200000">
          <a:off x="-1637457" y="1637457"/>
          <a:ext cx="6177064" cy="2902148"/>
        </a:xfrm>
        <a:prstGeom prst="flowChartManualOperation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0" rIns="114300" bIns="0" numCol="1" spcCol="1270" anchor="ctr" anchorCtr="0">
          <a:noAutofit/>
        </a:bodyPr>
        <a:lstStyle/>
        <a:p>
          <a:pPr lvl="0" algn="ctr" defTabSz="800100">
            <a:lnSpc>
              <a:spcPct val="150000"/>
            </a:lnSpc>
            <a:spcBef>
              <a:spcPct val="0"/>
            </a:spcBef>
            <a:spcAft>
              <a:spcPct val="35000"/>
            </a:spcAft>
          </a:pPr>
          <a:r>
            <a:rPr lang="ru-RU" sz="1800" b="1" kern="1200" smtClean="0">
              <a:latin typeface="Times New Roman" panose="02020603050405020304" pitchFamily="18" charset="0"/>
              <a:cs typeface="Times New Roman" panose="02020603050405020304" pitchFamily="18" charset="0"/>
            </a:rPr>
            <a:t>Monitoring va barvaqt prognozlash:</a:t>
          </a:r>
          <a:r>
            <a:rPr lang="ru-RU" sz="1800" kern="1200" smtClean="0">
              <a:latin typeface="Times New Roman" panose="02020603050405020304" pitchFamily="18" charset="0"/>
              <a:cs typeface="Times New Roman" panose="02020603050405020304" pitchFamily="18" charset="0"/>
            </a:rPr>
            <a:t> Tijorat banklarida muammoli kreditlar ulushini kamaytirish, anderrayting va skoring modellarini raqamlashtirish orqali risklarni dastlabki bosqichda aniqlash imkoniyati yaratiladi. </a:t>
          </a:r>
          <a:endParaRPr lang="ru-RU" sz="1800" kern="120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 rot="5400000">
        <a:off x="1" y="1235412"/>
        <a:ext cx="2902148" cy="3706238"/>
      </dsp:txXfrm>
    </dsp:sp>
    <dsp:sp modelId="{033A89A2-46CD-4E84-8AE6-428344062761}">
      <dsp:nvSpPr>
        <dsp:cNvPr id="0" name=""/>
        <dsp:cNvSpPr/>
      </dsp:nvSpPr>
      <dsp:spPr>
        <a:xfrm rot="16200000">
          <a:off x="1483468" y="1637457"/>
          <a:ext cx="6177064" cy="2902148"/>
        </a:xfrm>
        <a:prstGeom prst="flowChartManualOperation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0" rIns="114300" bIns="0" numCol="1" spcCol="1270" anchor="ctr" anchorCtr="0">
          <a:noAutofit/>
        </a:bodyPr>
        <a:lstStyle/>
        <a:p>
          <a:pPr lvl="0" algn="ctr" defTabSz="800100">
            <a:lnSpc>
              <a:spcPct val="150000"/>
            </a:lnSpc>
            <a:spcBef>
              <a:spcPct val="0"/>
            </a:spcBef>
            <a:spcAft>
              <a:spcPct val="35000"/>
            </a:spcAft>
          </a:pPr>
          <a:r>
            <a:rPr lang="ru-RU" sz="1800" b="1" kern="1200" smtClean="0">
              <a:latin typeface="Times New Roman" panose="02020603050405020304" pitchFamily="18" charset="0"/>
              <a:cs typeface="Times New Roman" panose="02020603050405020304" pitchFamily="18" charset="0"/>
            </a:rPr>
            <a:t>Moliyaviy barqarorlik:</a:t>
          </a:r>
          <a:r>
            <a:rPr lang="ru-RU" sz="1800" kern="1200" smtClean="0">
              <a:latin typeface="Times New Roman" panose="02020603050405020304" pitchFamily="18" charset="0"/>
              <a:cs typeface="Times New Roman" panose="02020603050405020304" pitchFamily="18" charset="0"/>
            </a:rPr>
            <a:t> Ishlab chiqilgan tavsiya va mexanizmlar banklarning likvidliligi hamda kapital etarliligi koʻrsatkichlarini yaxshilashga, zaxira fondlariga ajratmalarni optimallashtirishga xizmat qiladi. </a:t>
          </a:r>
          <a:endParaRPr lang="ru-RU" sz="1800" kern="120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 rot="5400000">
        <a:off x="3120926" y="1235412"/>
        <a:ext cx="2902148" cy="3706238"/>
      </dsp:txXfrm>
    </dsp:sp>
    <dsp:sp modelId="{A6E1F551-464C-4836-99F8-09688D8CF636}">
      <dsp:nvSpPr>
        <dsp:cNvPr id="0" name=""/>
        <dsp:cNvSpPr/>
      </dsp:nvSpPr>
      <dsp:spPr>
        <a:xfrm rot="16200000">
          <a:off x="4603277" y="1637457"/>
          <a:ext cx="6177064" cy="2902148"/>
        </a:xfrm>
        <a:prstGeom prst="flowChartManualOperation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0" rIns="114300" bIns="0" numCol="1" spcCol="1270" anchor="ctr" anchorCtr="0">
          <a:noAutofit/>
        </a:bodyPr>
        <a:lstStyle/>
        <a:p>
          <a:pPr lvl="0" algn="ctr" defTabSz="800100">
            <a:lnSpc>
              <a:spcPct val="150000"/>
            </a:lnSpc>
            <a:spcBef>
              <a:spcPct val="0"/>
            </a:spcBef>
            <a:spcAft>
              <a:spcPct val="35000"/>
            </a:spcAft>
          </a:pPr>
          <a:r>
            <a:rPr lang="ru-RU" sz="1800" b="1" kern="1200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Strategik</a:t>
          </a:r>
          <a:r>
            <a:rPr lang="ru-RU" sz="1800" b="1" kern="120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ru-RU" sz="1800" b="1" kern="1200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qarorlar</a:t>
          </a:r>
          <a:r>
            <a:rPr lang="ru-RU" sz="1800" b="1" kern="120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:</a:t>
          </a:r>
          <a:r>
            <a:rPr lang="ru-RU" sz="1800" kern="120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ru-RU" sz="1800" kern="1200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Natijalardan</a:t>
          </a:r>
          <a:r>
            <a:rPr lang="ru-RU" sz="1800" kern="120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ru-RU" sz="1800" kern="1200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tijorat</a:t>
          </a:r>
          <a:r>
            <a:rPr lang="ru-RU" sz="1800" kern="120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ru-RU" sz="1800" kern="1200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banklari</a:t>
          </a:r>
          <a:r>
            <a:rPr lang="ru-RU" sz="1800" kern="120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ru-RU" sz="1800" kern="1200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moliya-bank</a:t>
          </a:r>
          <a:r>
            <a:rPr lang="ru-RU" sz="1800" kern="120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ru-RU" sz="1800" kern="1200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tizimidagi</a:t>
          </a:r>
          <a:r>
            <a:rPr lang="ru-RU" sz="1800" kern="120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ru-RU" sz="1800" kern="1200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tarkibiy</a:t>
          </a:r>
          <a:r>
            <a:rPr lang="ru-RU" sz="1800" kern="120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ru-RU" sz="1800" kern="1200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islohotlar</a:t>
          </a:r>
          <a:r>
            <a:rPr lang="ru-RU" sz="1800" kern="120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ru-RU" sz="1800" kern="1200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va</a:t>
          </a:r>
          <a:r>
            <a:rPr lang="ru-RU" sz="1800" kern="120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ru-RU" sz="1800" kern="1200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transformatsiya</a:t>
          </a:r>
          <a:r>
            <a:rPr lang="ru-RU" sz="1800" kern="120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ru-RU" sz="1800" kern="1200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jarayonlarida</a:t>
          </a:r>
          <a:r>
            <a:rPr lang="ru-RU" sz="1800" kern="120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ru-RU" sz="1800" kern="1200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risk-menejment</a:t>
          </a:r>
          <a:r>
            <a:rPr lang="ru-RU" sz="1800" kern="120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ru-RU" sz="1800" kern="1200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strategiyalarini</a:t>
          </a:r>
          <a:r>
            <a:rPr lang="ru-RU" sz="1800" kern="120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ru-RU" sz="1800" kern="1200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shakllantirishda</a:t>
          </a:r>
          <a:r>
            <a:rPr lang="ru-RU" sz="1800" kern="120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ru-RU" sz="1800" kern="1200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amaliy</a:t>
          </a:r>
          <a:r>
            <a:rPr lang="ru-RU" sz="1800" kern="120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ru-RU" sz="1800" kern="1200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qoʻllanma</a:t>
          </a:r>
          <a:r>
            <a:rPr lang="ru-RU" sz="1800" kern="120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ru-RU" sz="1800" kern="1200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sifatida</a:t>
          </a:r>
          <a:r>
            <a:rPr lang="ru-RU" sz="1800" kern="120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ru-RU" sz="1800" kern="1200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foydalanishlari</a:t>
          </a:r>
          <a:r>
            <a:rPr lang="ru-RU" sz="1800" kern="120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ru-RU" sz="1800" kern="1200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mumkin</a:t>
          </a:r>
          <a:r>
            <a:rPr lang="ru-RU" sz="1800" kern="120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.</a:t>
          </a:r>
          <a:endParaRPr lang="ru-RU" sz="18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 rot="5400000">
        <a:off x="6240735" y="1235412"/>
        <a:ext cx="2902148" cy="3706238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DAB7E79-4EB5-4160-983E-493E37FCA23A}">
      <dsp:nvSpPr>
        <dsp:cNvPr id="0" name=""/>
        <dsp:cNvSpPr/>
      </dsp:nvSpPr>
      <dsp:spPr>
        <a:xfrm rot="10800000">
          <a:off x="867911" y="4939"/>
          <a:ext cx="7403255" cy="1596560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04039" tIns="53340" rIns="99568" bIns="5334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40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Эмпирические исследования помогают в изучении процессов цифровизации банковских продуктов и формирования банковских экосистем, что позволяет получить актуальные данные о состоянии и тенденциях развития данной области.</a:t>
          </a:r>
          <a:endParaRPr lang="ru-RU" sz="1400" kern="1200" dirty="0">
            <a:solidFill>
              <a:schemeClr val="tx1"/>
            </a:solidFill>
          </a:endParaRPr>
        </a:p>
      </dsp:txBody>
      <dsp:txXfrm rot="10800000">
        <a:off x="1267051" y="4939"/>
        <a:ext cx="7004115" cy="1596560"/>
      </dsp:txXfrm>
    </dsp:sp>
    <dsp:sp modelId="{A55FE57D-B1B2-43CB-B93E-4BEE0491A43F}">
      <dsp:nvSpPr>
        <dsp:cNvPr id="0" name=""/>
        <dsp:cNvSpPr/>
      </dsp:nvSpPr>
      <dsp:spPr>
        <a:xfrm>
          <a:off x="82781" y="4939"/>
          <a:ext cx="1596560" cy="1596560"/>
        </a:xfrm>
        <a:prstGeom prst="ellipse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33000" r="-33000"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014A8D1-E83D-46EE-B834-C0E78A8A2123}">
      <dsp:nvSpPr>
        <dsp:cNvPr id="0" name=""/>
        <dsp:cNvSpPr/>
      </dsp:nvSpPr>
      <dsp:spPr>
        <a:xfrm rot="10800000">
          <a:off x="867911" y="2078084"/>
          <a:ext cx="7403255" cy="1596560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04039" tIns="45720" rIns="85344" bIns="4572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20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Одним из ключевых направлений эмпирических исследований является изучение факторов, влияющих на принятие и использование цифровых банковских продуктов и услуг потребителями. Так, Алимов Б., Рахимов С. на основе опроса 500 клиентов банков Узбекистана выявили, что основными драйверами использования мобильного банкинга являются удобство, скорость и безопасность транзакций, а также доверие к банку и уровень цифровой грамотности пользователей. При этом авторы отмечают, что барьерами для более широкого распространения мобильного банкинга в стране остаются недостаточная осведомленность населения о преимуществах цифровых финансовых услуг, а также сохраняющееся предпочтение части клиентов к традиционным каналам обслуживания.</a:t>
          </a:r>
          <a:endParaRPr lang="ru-RU" sz="1200" kern="1200" dirty="0">
            <a:solidFill>
              <a:schemeClr val="tx1"/>
            </a:solidFill>
          </a:endParaRPr>
        </a:p>
      </dsp:txBody>
      <dsp:txXfrm rot="10800000">
        <a:off x="1267051" y="2078084"/>
        <a:ext cx="7004115" cy="1596560"/>
      </dsp:txXfrm>
    </dsp:sp>
    <dsp:sp modelId="{D819BA44-8070-4D64-827F-27B9FB76F7D2}">
      <dsp:nvSpPr>
        <dsp:cNvPr id="0" name=""/>
        <dsp:cNvSpPr/>
      </dsp:nvSpPr>
      <dsp:spPr>
        <a:xfrm>
          <a:off x="82781" y="2078084"/>
          <a:ext cx="1596560" cy="1596560"/>
        </a:xfrm>
        <a:prstGeom prst="ellipse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33000" r="-33000"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AD775B3-6C4B-4E2A-B947-D1D782AC9DD5}">
      <dsp:nvSpPr>
        <dsp:cNvPr id="0" name=""/>
        <dsp:cNvSpPr/>
      </dsp:nvSpPr>
      <dsp:spPr>
        <a:xfrm rot="10800000">
          <a:off x="867911" y="4151230"/>
          <a:ext cx="7403255" cy="1596560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04039" tIns="45720" rIns="85344" bIns="4572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20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Зарубежные эмпирические исследования также подтверждают трансформирующее влияние пандемии на развитие цифрового банкинга. Так, </a:t>
          </a:r>
          <a:r>
            <a:rPr lang="ru-RU" sz="1200" kern="120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Шен</a:t>
          </a:r>
          <a:r>
            <a:rPr lang="ru-RU" sz="120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Дж., Ли С. на основе анализа данных о транзакциях 500 000 клиентов 10 крупнейших банков Китая выявили, что доля цифровых каналов в общем объеме банковских операций выросла с 55% в 2019 году до 80% в 2020 году, при этом наиболее значительный рост наблюдался в сегментах старшего поколения и жителей сельских регионов, традиционно демонстрировавших более низкий уровень использования цифровых сервисов. Авторы отмечают, что банки, сумевшие оперативно адаптировать свои цифровые платформы и продукты к потребностям клиентов в условиях пандемии, смогли не только сохранить, но и расширить свою клиентскую базу и долю рынка.</a:t>
          </a:r>
          <a:endParaRPr lang="ru-RU" sz="1200" kern="1200" dirty="0">
            <a:solidFill>
              <a:schemeClr val="tx1"/>
            </a:solidFill>
          </a:endParaRPr>
        </a:p>
      </dsp:txBody>
      <dsp:txXfrm rot="10800000">
        <a:off x="1267051" y="4151230"/>
        <a:ext cx="7004115" cy="1596560"/>
      </dsp:txXfrm>
    </dsp:sp>
    <dsp:sp modelId="{F87CDEC1-247C-4846-A381-546AA8FDF4F7}">
      <dsp:nvSpPr>
        <dsp:cNvPr id="0" name=""/>
        <dsp:cNvSpPr/>
      </dsp:nvSpPr>
      <dsp:spPr>
        <a:xfrm>
          <a:off x="82781" y="4151230"/>
          <a:ext cx="1596560" cy="1596560"/>
        </a:xfrm>
        <a:prstGeom prst="ellipse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33000" r="-33000"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E62B49E-9952-4FF9-AC03-EE6DBB95E405}">
      <dsp:nvSpPr>
        <dsp:cNvPr id="0" name=""/>
        <dsp:cNvSpPr/>
      </dsp:nvSpPr>
      <dsp:spPr>
        <a:xfrm>
          <a:off x="3523891" y="1070063"/>
          <a:ext cx="2274570" cy="39476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97380"/>
              </a:lnTo>
              <a:lnTo>
                <a:pt x="2274570" y="197380"/>
              </a:lnTo>
              <a:lnTo>
                <a:pt x="2274570" y="394760"/>
              </a:lnTo>
            </a:path>
          </a:pathLst>
        </a:custGeom>
        <a:noFill/>
        <a:ln w="19050" cap="rnd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84F4F8C-B7B8-4E96-8119-12463CF38D02}">
      <dsp:nvSpPr>
        <dsp:cNvPr id="0" name=""/>
        <dsp:cNvSpPr/>
      </dsp:nvSpPr>
      <dsp:spPr>
        <a:xfrm>
          <a:off x="3216213" y="1070063"/>
          <a:ext cx="307677" cy="394760"/>
        </a:xfrm>
        <a:custGeom>
          <a:avLst/>
          <a:gdLst/>
          <a:ahLst/>
          <a:cxnLst/>
          <a:rect l="0" t="0" r="0" b="0"/>
          <a:pathLst>
            <a:path>
              <a:moveTo>
                <a:pt x="307677" y="0"/>
              </a:moveTo>
              <a:lnTo>
                <a:pt x="307677" y="197380"/>
              </a:lnTo>
              <a:lnTo>
                <a:pt x="0" y="197380"/>
              </a:lnTo>
              <a:lnTo>
                <a:pt x="0" y="394760"/>
              </a:lnTo>
            </a:path>
          </a:pathLst>
        </a:custGeom>
        <a:noFill/>
        <a:ln w="19050" cap="rnd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F4BD2D9-34B0-4128-8463-BC924BF00B01}">
      <dsp:nvSpPr>
        <dsp:cNvPr id="0" name=""/>
        <dsp:cNvSpPr/>
      </dsp:nvSpPr>
      <dsp:spPr>
        <a:xfrm>
          <a:off x="941642" y="1070063"/>
          <a:ext cx="2582248" cy="394760"/>
        </a:xfrm>
        <a:custGeom>
          <a:avLst/>
          <a:gdLst/>
          <a:ahLst/>
          <a:cxnLst/>
          <a:rect l="0" t="0" r="0" b="0"/>
          <a:pathLst>
            <a:path>
              <a:moveTo>
                <a:pt x="2582248" y="0"/>
              </a:moveTo>
              <a:lnTo>
                <a:pt x="2582248" y="197380"/>
              </a:lnTo>
              <a:lnTo>
                <a:pt x="0" y="197380"/>
              </a:lnTo>
              <a:lnTo>
                <a:pt x="0" y="394760"/>
              </a:lnTo>
            </a:path>
          </a:pathLst>
        </a:custGeom>
        <a:noFill/>
        <a:ln w="19050" cap="rnd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7B38FD7-9AA7-4C4D-86F4-C1DF0336CCFD}">
      <dsp:nvSpPr>
        <dsp:cNvPr id="0" name=""/>
        <dsp:cNvSpPr/>
      </dsp:nvSpPr>
      <dsp:spPr>
        <a:xfrm>
          <a:off x="2583985" y="130158"/>
          <a:ext cx="1879810" cy="939905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65000"/>
                <a:lumMod val="110000"/>
              </a:schemeClr>
            </a:gs>
            <a:gs pos="88000">
              <a:schemeClr val="accent1">
                <a:hueOff val="0"/>
                <a:satOff val="0"/>
                <a:lumOff val="0"/>
                <a:alphaOff val="0"/>
                <a:tint val="90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4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Что получает банк при участии в ESG проектах.</a:t>
          </a:r>
          <a:endParaRPr lang="ru-RU" sz="14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2583985" y="130158"/>
        <a:ext cx="1879810" cy="939905"/>
      </dsp:txXfrm>
    </dsp:sp>
    <dsp:sp modelId="{18CF0C52-4D93-4209-AB7C-90F95D4A9612}">
      <dsp:nvSpPr>
        <dsp:cNvPr id="0" name=""/>
        <dsp:cNvSpPr/>
      </dsp:nvSpPr>
      <dsp:spPr>
        <a:xfrm>
          <a:off x="1737" y="1464823"/>
          <a:ext cx="1879810" cy="939905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65000"/>
                <a:lumMod val="110000"/>
              </a:schemeClr>
            </a:gs>
            <a:gs pos="88000">
              <a:schemeClr val="accent1">
                <a:hueOff val="0"/>
                <a:satOff val="0"/>
                <a:lumOff val="0"/>
                <a:alphaOff val="0"/>
                <a:tint val="90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400" b="0" i="1" kern="1200">
              <a:latin typeface="Times New Roman" panose="02020603050405020304" pitchFamily="18" charset="0"/>
              <a:cs typeface="Times New Roman" panose="02020603050405020304" pitchFamily="18" charset="0"/>
            </a:rPr>
            <a:t>Повышение лояльности клиентов и инвесторов</a:t>
          </a:r>
          <a:endParaRPr lang="ru-RU" sz="1400" kern="120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1737" y="1464823"/>
        <a:ext cx="1879810" cy="939905"/>
      </dsp:txXfrm>
    </dsp:sp>
    <dsp:sp modelId="{680C708C-F632-47DF-A24D-796BB8E4A74E}">
      <dsp:nvSpPr>
        <dsp:cNvPr id="0" name=""/>
        <dsp:cNvSpPr/>
      </dsp:nvSpPr>
      <dsp:spPr>
        <a:xfrm>
          <a:off x="2276308" y="1464823"/>
          <a:ext cx="1879810" cy="939905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65000"/>
                <a:lumMod val="110000"/>
              </a:schemeClr>
            </a:gs>
            <a:gs pos="88000">
              <a:schemeClr val="accent1">
                <a:hueOff val="0"/>
                <a:satOff val="0"/>
                <a:lumOff val="0"/>
                <a:alphaOff val="0"/>
                <a:tint val="90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400" b="0" i="1" kern="1200">
              <a:latin typeface="Times New Roman" panose="02020603050405020304" pitchFamily="18" charset="0"/>
              <a:cs typeface="Times New Roman" panose="02020603050405020304" pitchFamily="18" charset="0"/>
            </a:rPr>
            <a:t>Улучшение репутации и имиджа</a:t>
          </a:r>
          <a:endParaRPr lang="ru-RU" sz="1400" kern="120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2276308" y="1464823"/>
        <a:ext cx="1879810" cy="939905"/>
      </dsp:txXfrm>
    </dsp:sp>
    <dsp:sp modelId="{B4618F2C-FC1C-445D-B2CE-E15E561BE28E}">
      <dsp:nvSpPr>
        <dsp:cNvPr id="0" name=""/>
        <dsp:cNvSpPr/>
      </dsp:nvSpPr>
      <dsp:spPr>
        <a:xfrm>
          <a:off x="4550878" y="1464823"/>
          <a:ext cx="2495165" cy="941183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65000"/>
                <a:lumMod val="110000"/>
              </a:schemeClr>
            </a:gs>
            <a:gs pos="88000">
              <a:schemeClr val="accent1">
                <a:hueOff val="0"/>
                <a:satOff val="0"/>
                <a:lumOff val="0"/>
                <a:alphaOff val="0"/>
                <a:tint val="90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400" b="0" i="1" kern="1200">
              <a:latin typeface="Times New Roman" panose="02020603050405020304" pitchFamily="18" charset="0"/>
              <a:cs typeface="Times New Roman" panose="02020603050405020304" pitchFamily="18" charset="0"/>
            </a:rPr>
            <a:t>Соответствие растущим требованиям регуляторов и рынка</a:t>
          </a:r>
          <a:endParaRPr lang="ru-RU" sz="1400" kern="120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4550878" y="1464823"/>
        <a:ext cx="2495165" cy="941183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F7BDD44-5E62-4B86-A264-B1188FFD4A61}">
      <dsp:nvSpPr>
        <dsp:cNvPr id="0" name=""/>
        <dsp:cNvSpPr/>
      </dsp:nvSpPr>
      <dsp:spPr>
        <a:xfrm>
          <a:off x="0" y="0"/>
          <a:ext cx="7772400" cy="170051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lvl="0" algn="just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40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Проведенные в рамках исследования анализы позволили получить комплексную картину текущего состояния и перспектив цифровизации банковских продуктов и услуг в АКБ </a:t>
          </a:r>
          <a:r>
            <a:rPr lang="ru-RU" sz="1400" kern="120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Капиталбанке</a:t>
          </a:r>
          <a:r>
            <a:rPr lang="ru-RU" sz="140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. Использование количественных и качественных методов обеспечило триангуляцию и валидацию основных выводов и инсайтов, полученных из разных источников данных.</a:t>
          </a:r>
          <a:endParaRPr lang="ru-RU" sz="1400" kern="1200" dirty="0">
            <a:solidFill>
              <a:schemeClr val="tx1"/>
            </a:solidFill>
          </a:endParaRPr>
        </a:p>
      </dsp:txBody>
      <dsp:txXfrm>
        <a:off x="49806" y="49806"/>
        <a:ext cx="5937409" cy="1600905"/>
      </dsp:txXfrm>
    </dsp:sp>
    <dsp:sp modelId="{81F0EF94-7C46-436F-A350-18AA88633151}">
      <dsp:nvSpPr>
        <dsp:cNvPr id="0" name=""/>
        <dsp:cNvSpPr/>
      </dsp:nvSpPr>
      <dsp:spPr>
        <a:xfrm>
          <a:off x="685799" y="1983937"/>
          <a:ext cx="7772400" cy="170051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lvl="0" algn="just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20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Анализ результатов опроса клиентов АКБ </a:t>
          </a:r>
          <a:r>
            <a:rPr lang="ru-RU" sz="1200" kern="120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Капиталбанка</a:t>
          </a:r>
          <a:r>
            <a:rPr lang="ru-RU" sz="120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показал высокий уровень востребованности и удовлетворенности цифровыми сервисами банка. Доля клиентов, использующих мобильное приложение и интернет-банкинг </a:t>
          </a:r>
          <a:r>
            <a:rPr lang="ru-RU" sz="1200" kern="120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Капиталбанка</a:t>
          </a:r>
          <a:r>
            <a:rPr lang="ru-RU" sz="120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хотя бы 1 раз в месяц, составила 75% среди физлиц и 90% среди МСБ. При этом более 60% пользователей оценивают функциональность и удобство цифровых каналов банка на 4 и 5 баллов по 5-балльной шкале. Ключевыми драйверами цифровизации для клиентов являются экономия времени и усилий, возможность совершать операции в любом месте и в любое время, а также интуитивно понятный интерфейс и высокая безопасность транзакций.</a:t>
          </a:r>
          <a:endParaRPr lang="ru-RU" sz="1200" kern="1200" dirty="0">
            <a:solidFill>
              <a:schemeClr val="tx1"/>
            </a:solidFill>
          </a:endParaRPr>
        </a:p>
      </dsp:txBody>
      <dsp:txXfrm>
        <a:off x="735605" y="2033743"/>
        <a:ext cx="5881651" cy="1600905"/>
      </dsp:txXfrm>
    </dsp:sp>
    <dsp:sp modelId="{CDC04B15-E3B1-4183-BDAC-C51AC3B105AB}">
      <dsp:nvSpPr>
        <dsp:cNvPr id="0" name=""/>
        <dsp:cNvSpPr/>
      </dsp:nvSpPr>
      <dsp:spPr>
        <a:xfrm>
          <a:off x="1371599" y="3967874"/>
          <a:ext cx="7772400" cy="170051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lvl="0" algn="just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20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Сравнительный анализ цифровых продуктов и каналов </a:t>
          </a:r>
          <a:r>
            <a:rPr lang="ru-RU" sz="1200" kern="120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Капиталбанка</a:t>
          </a:r>
          <a:r>
            <a:rPr lang="ru-RU" sz="120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с предложениями ключевых конкурентов показал, что банк занимает лидирующие позиции по ряду параметров цифрового обслуживания. В частности, мобильное приложение </a:t>
          </a:r>
          <a:r>
            <a:rPr lang="ru-RU" sz="1200" kern="120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Капиталбанк</a:t>
          </a:r>
          <a:r>
            <a:rPr lang="ru-RU" sz="120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обладает наиболее широким функционалом на рынке (более 100 типов операций и услуг) и высоким рейтингом пользователей (4,7 из 5 в </a:t>
          </a:r>
          <a:r>
            <a:rPr lang="ru-RU" sz="1200" kern="120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AppStore</a:t>
          </a:r>
          <a:r>
            <a:rPr lang="ru-RU" sz="120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и </a:t>
          </a:r>
          <a:r>
            <a:rPr lang="ru-RU" sz="1200" kern="120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GooglePlay</a:t>
          </a:r>
          <a:r>
            <a:rPr lang="ru-RU" sz="120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). Уровень проникновения мобильного банкинга среди клиентов </a:t>
          </a:r>
          <a:r>
            <a:rPr lang="ru-RU" sz="1200" kern="120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Капиталбанка</a:t>
          </a:r>
          <a:r>
            <a:rPr lang="ru-RU" sz="120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(75%) опережает средние значения по рынку (50-60%). В то же время, некоторые конкуренты (например, </a:t>
          </a:r>
          <a:r>
            <a:rPr lang="ru-RU" sz="1200" kern="120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Агробанк</a:t>
          </a:r>
          <a:r>
            <a:rPr lang="ru-RU" sz="120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и </a:t>
          </a:r>
          <a:r>
            <a:rPr lang="ru-RU" sz="1200" kern="120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Узпромстройбанк</a:t>
          </a:r>
          <a:r>
            <a:rPr lang="ru-RU" sz="120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) предлагают более привлекательные условия по отдельным цифровым продуктам, таким как мобильный эквайринг или онлайн-депозиты.</a:t>
          </a:r>
          <a:endParaRPr lang="en-US" sz="1200" kern="1200" dirty="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1421405" y="4017680"/>
        <a:ext cx="5881651" cy="1600905"/>
      </dsp:txXfrm>
    </dsp:sp>
    <dsp:sp modelId="{A86EC003-E367-4D91-BDFB-06BCFC2C615B}">
      <dsp:nvSpPr>
        <dsp:cNvPr id="0" name=""/>
        <dsp:cNvSpPr/>
      </dsp:nvSpPr>
      <dsp:spPr>
        <a:xfrm>
          <a:off x="6667063" y="1289559"/>
          <a:ext cx="1105336" cy="1105336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lvl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ru-RU" sz="3600" kern="1200"/>
        </a:p>
      </dsp:txBody>
      <dsp:txXfrm>
        <a:off x="6915764" y="1289559"/>
        <a:ext cx="607934" cy="831765"/>
      </dsp:txXfrm>
    </dsp:sp>
    <dsp:sp modelId="{9AD7538D-0E99-4984-9E38-D53FC7EE706E}">
      <dsp:nvSpPr>
        <dsp:cNvPr id="0" name=""/>
        <dsp:cNvSpPr/>
      </dsp:nvSpPr>
      <dsp:spPr>
        <a:xfrm>
          <a:off x="7352863" y="3262159"/>
          <a:ext cx="1105336" cy="1105336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lvl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ru-RU" sz="3600" kern="1200"/>
        </a:p>
      </dsp:txBody>
      <dsp:txXfrm>
        <a:off x="7601564" y="3262159"/>
        <a:ext cx="607934" cy="831765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55DEB57-0351-4883-B47B-E8C809C7919E}">
      <dsp:nvSpPr>
        <dsp:cNvPr id="0" name=""/>
        <dsp:cNvSpPr/>
      </dsp:nvSpPr>
      <dsp:spPr>
        <a:xfrm>
          <a:off x="1809108" y="-396329"/>
          <a:ext cx="5625863" cy="5625863"/>
        </a:xfrm>
        <a:prstGeom prst="circularArrow">
          <a:avLst>
            <a:gd name="adj1" fmla="val 5274"/>
            <a:gd name="adj2" fmla="val 312630"/>
            <a:gd name="adj3" fmla="val 13103423"/>
            <a:gd name="adj4" fmla="val 17822111"/>
            <a:gd name="adj5" fmla="val 5477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B2F240C-96F9-4F2B-AB10-BE51950DDE9A}">
      <dsp:nvSpPr>
        <dsp:cNvPr id="0" name=""/>
        <dsp:cNvSpPr/>
      </dsp:nvSpPr>
      <dsp:spPr>
        <a:xfrm>
          <a:off x="2925102" y="-27276"/>
          <a:ext cx="3393876" cy="118740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10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Для повышения объективности и репрезентативности результатов в будущих исследованиях рекомендуется необходимо использовать количественные методы анализа данных (статистическое моделирование, эконометрику, А/В-тестирование) на больших выборках пользователей цифровых банковских сервисов.</a:t>
          </a:r>
          <a:endParaRPr lang="ru-RU" sz="1100" kern="1200" dirty="0">
            <a:solidFill>
              <a:schemeClr val="tx1"/>
            </a:solidFill>
          </a:endParaRPr>
        </a:p>
      </dsp:txBody>
      <dsp:txXfrm>
        <a:off x="2983066" y="30688"/>
        <a:ext cx="3277948" cy="1071478"/>
      </dsp:txXfrm>
    </dsp:sp>
    <dsp:sp modelId="{0B1B86F1-3E7A-4569-B121-A63A82A9419A}">
      <dsp:nvSpPr>
        <dsp:cNvPr id="0" name=""/>
        <dsp:cNvSpPr/>
      </dsp:nvSpPr>
      <dsp:spPr>
        <a:xfrm>
          <a:off x="4724829" y="1284337"/>
          <a:ext cx="3695701" cy="141581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lvl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05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Исследование было сфокусировано на отдельном кейсе (</a:t>
          </a:r>
          <a:r>
            <a:rPr lang="ru-RU" sz="1050" kern="120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Капиталбанк</a:t>
          </a:r>
          <a:r>
            <a:rPr lang="ru-RU" sz="105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) и не претендует на полноту охвата всех процессов и тенденций цифровизации банковского сектора Узбекистана. Для получения более системной картины в дальнейшем необходимо провести сравнительный анализ цифровых стратегий и практик ведущих узбекских банков, а также бенчмаркинг с лучшими зарубежными примерами цифровой трансформации банковского бизнеса.</a:t>
          </a:r>
          <a:endParaRPr lang="ru-RU" sz="1050" kern="1200" dirty="0">
            <a:solidFill>
              <a:schemeClr val="tx1"/>
            </a:solidFill>
          </a:endParaRPr>
        </a:p>
      </dsp:txBody>
      <dsp:txXfrm>
        <a:off x="4793943" y="1353451"/>
        <a:ext cx="3557473" cy="1277587"/>
      </dsp:txXfrm>
    </dsp:sp>
    <dsp:sp modelId="{732F16A0-7066-40E6-A222-E4470005A182}">
      <dsp:nvSpPr>
        <dsp:cNvPr id="0" name=""/>
        <dsp:cNvSpPr/>
      </dsp:nvSpPr>
      <dsp:spPr>
        <a:xfrm>
          <a:off x="4685367" y="2890084"/>
          <a:ext cx="3774660" cy="133694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00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В силу ограниченности временных и финансовых ресурсов, исследование не затрагивало ряд смежных аспектов цифровизации банкинга, таких как информационная безопасность, правовое регулирование, социальные и этические последствия. Эти вопросы заслуживают отдельного глубокого изучения в рамках междисциплинарных исследовательских проектов с участием специалистов в области ИТ, юриспруденции, социологии и других релевантных областей.</a:t>
          </a:r>
          <a:endParaRPr lang="ru-RU" sz="1000" kern="1200" dirty="0">
            <a:solidFill>
              <a:schemeClr val="tx1"/>
            </a:solidFill>
          </a:endParaRPr>
        </a:p>
      </dsp:txBody>
      <dsp:txXfrm>
        <a:off x="4750631" y="2955348"/>
        <a:ext cx="3644132" cy="1206414"/>
      </dsp:txXfrm>
    </dsp:sp>
    <dsp:sp modelId="{E525E4B2-FD55-44F4-BE7E-FE596D5C4F33}">
      <dsp:nvSpPr>
        <dsp:cNvPr id="0" name=""/>
        <dsp:cNvSpPr/>
      </dsp:nvSpPr>
      <dsp:spPr>
        <a:xfrm>
          <a:off x="2564855" y="4316958"/>
          <a:ext cx="4079865" cy="1076027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00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Динамичный и постоянно меняющийся характер цифровых технологий обуславливает необходимость регулярной актуализации результатов исследования и отслеживания новых тенденций и вызовов. В частности, перспективными направлениями для будущих исследований могут стать открытый банкинг и API-экономика, децентрализованные финансы (</a:t>
          </a:r>
          <a:r>
            <a:rPr lang="ru-RU" sz="1000" kern="120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DeFi</a:t>
          </a:r>
          <a:r>
            <a:rPr lang="ru-RU" sz="100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) на базе </a:t>
          </a:r>
          <a:r>
            <a:rPr lang="ru-RU" sz="1000" kern="120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блокчейна</a:t>
          </a:r>
          <a:r>
            <a:rPr lang="ru-RU" sz="100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, использование </a:t>
          </a:r>
          <a:r>
            <a:rPr lang="ru-RU" sz="1000" kern="120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нейроинтерфейсов</a:t>
          </a:r>
          <a:r>
            <a:rPr lang="ru-RU" sz="100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и дополненной реальности в банковском обслуживании</a:t>
          </a:r>
          <a:r>
            <a:rPr lang="ru-RU" sz="90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.</a:t>
          </a:r>
          <a:endParaRPr lang="ru-RU" sz="900" kern="1200" dirty="0">
            <a:solidFill>
              <a:schemeClr val="tx1"/>
            </a:solidFill>
          </a:endParaRPr>
        </a:p>
      </dsp:txBody>
      <dsp:txXfrm>
        <a:off x="2617382" y="4369485"/>
        <a:ext cx="3974811" cy="970973"/>
      </dsp:txXfrm>
    </dsp:sp>
    <dsp:sp modelId="{B2CCA13D-E0B6-49BB-9B39-C93F2DA58A95}">
      <dsp:nvSpPr>
        <dsp:cNvPr id="0" name=""/>
        <dsp:cNvSpPr/>
      </dsp:nvSpPr>
      <dsp:spPr>
        <a:xfrm>
          <a:off x="437453" y="3011911"/>
          <a:ext cx="3974823" cy="1076027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00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Исследование выполнено на материале одной страны (Узбекистан) и не учитывает страновую и культурную специфику процессов цифровизации в других государствах региона Центральной Азии. Кросс-культурный анализ восприятия и использования цифровых банковских сервисов, а также сопоставление институциональных и инфраструктурных факторов цифровизации в разных странах представляет большой интерес для развития теории и практики цифрового банкинга на развивающихся рынках.</a:t>
          </a:r>
          <a:endParaRPr lang="ru-RU" sz="1000" kern="1200" dirty="0">
            <a:solidFill>
              <a:schemeClr val="tx1"/>
            </a:solidFill>
          </a:endParaRPr>
        </a:p>
      </dsp:txBody>
      <dsp:txXfrm>
        <a:off x="489980" y="3064438"/>
        <a:ext cx="3869769" cy="970973"/>
      </dsp:txXfrm>
    </dsp:sp>
    <dsp:sp modelId="{F55FEA1A-7263-4F3B-BC5B-9FB09B54BB29}">
      <dsp:nvSpPr>
        <dsp:cNvPr id="0" name=""/>
        <dsp:cNvSpPr/>
      </dsp:nvSpPr>
      <dsp:spPr>
        <a:xfrm>
          <a:off x="822327" y="1436980"/>
          <a:ext cx="3404808" cy="1076027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10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Построение финансовых и эконометрических моделей, позволяющих определить влияние цифровой трансформации на ключевые показатели деятельности банка (рентабельность, рыночную долю, стоимость привлечения и удержания клиента и др.), может стать предметом отдельного прикладного исследования.</a:t>
          </a:r>
          <a:endParaRPr lang="ru-RU" sz="1100" kern="1200" dirty="0">
            <a:solidFill>
              <a:schemeClr val="tx1"/>
            </a:solidFill>
          </a:endParaRPr>
        </a:p>
      </dsp:txBody>
      <dsp:txXfrm>
        <a:off x="874854" y="1489507"/>
        <a:ext cx="3299754" cy="97097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List6">
  <dgm:title val=""/>
  <dgm:desc val=""/>
  <dgm:catLst>
    <dgm:cat type="list" pri="18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ptType="node" refType="h"/>
      <dgm:constr type="w" for="ch" ptType="node" refType="w"/>
      <dgm:constr type="primFontSz" for="ch" ptType="node" op="equ"/>
      <dgm:constr type="w" for="ch" forName="sibTrans" refType="w" fact="0.075"/>
    </dgm:constrLst>
    <dgm:ruleLst/>
    <dgm:forEach name="nodesForEach" axis="ch" ptType="node">
      <dgm:layoutNode name="node">
        <dgm:varLst>
          <dgm:bulletEnabled val="1"/>
        </dgm:varLst>
        <dgm:alg type="tx"/>
        <dgm:choose name="Name4">
          <dgm:if name="Name5" func="var" arg="dir" op="equ" val="norm">
            <dgm:shape xmlns:r="http://schemas.openxmlformats.org/officeDocument/2006/relationships" rot="-90" type="flowChartManualOperation" r:blip="">
              <dgm:adjLst/>
            </dgm:shape>
          </dgm:if>
          <dgm:else name="Name6">
            <dgm:shape xmlns:r="http://schemas.openxmlformats.org/officeDocument/2006/relationships" rot="90" type="flowChartManualOperation" r:blip="">
              <dgm:adjLst/>
            </dgm:shape>
          </dgm:else>
        </dgm:choose>
        <dgm:presOf axis="desOrSelf" ptType="node"/>
        <dgm:constrLst>
          <dgm:constr type="primFontSz" val="65"/>
          <dgm:constr type="tMarg"/>
          <dgm:constr type="bMarg"/>
          <dgm:constr type="lMarg" refType="primFontSz" fact="0.5"/>
          <dgm:constr type="rMarg" refType="lMarg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cycle3">
  <dgm:title val=""/>
  <dgm:desc val=""/>
  <dgm:catLst>
    <dgm:cat type="cycle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ch" ptType="node" func="cnt" op="equ" val="2">
        <dgm:alg type="composite">
          <dgm:param type="ar" val="0.9"/>
        </dgm:alg>
        <dgm:shape xmlns:r="http://schemas.openxmlformats.org/officeDocument/2006/relationships" r:blip="">
          <dgm:adjLst/>
        </dgm:shape>
        <dgm:presOf/>
        <dgm:constrLst>
          <dgm:constr type="primFontSz" for="ch" ptType="node" op="equ" val="65"/>
          <dgm:constr type="ctrX" for="ch" forName="node1" refType="w" fact="0.5"/>
          <dgm:constr type="t" for="ch" forName="node1"/>
          <dgm:constr type="w" for="ch" forName="node1" refType="w" fact="0.8"/>
          <dgm:constr type="h" for="ch" forName="node1" refType="w" refFor="ch" refForName="node1" fact="0.5"/>
          <dgm:constr type="ctrX" for="ch" forName="sibTrans" refType="w" fact="0.5"/>
          <dgm:constr type="t" for="ch" forName="sibTrans"/>
          <dgm:constr type="w" for="ch" forName="sibTrans" refType="w" fact="0.8"/>
          <dgm:constr type="h" for="ch" forName="sibTrans" refType="w" refFor="ch" refForName="node1" fact="0.5"/>
          <dgm:constr type="userA" for="ch" forName="sibTrans" refType="w" fact="1.07"/>
          <dgm:constr type="ctrX" for="ch" forName="node2" refType="w" fact="0.5"/>
          <dgm:constr type="b" for="ch" forName="node2" refType="h"/>
          <dgm:constr type="w" for="ch" forName="node2" refType="w" fact="0.8"/>
          <dgm:constr type="h" for="ch" forName="node2" refType="w" refFor="ch" refForName="node1" fact="0.5"/>
          <dgm:constr type="l" for="ch" forName="sp1"/>
          <dgm:constr type="t" for="ch" forName="sp1" refType="h" fact="0.5"/>
          <dgm:constr type="w" for="ch" forName="sp1" val="1"/>
          <dgm:constr type="h" for="ch" forName="sp1" val="1"/>
          <dgm:constr type="r" for="ch" forName="sp2" refType="w"/>
          <dgm:constr type="t" for="ch" forName="sp2" refType="h" fact="0.5"/>
          <dgm:constr type="w" for="ch" forName="sp2" val="1"/>
          <dgm:constr type="h" for="ch" forName="sp2" val="1"/>
        </dgm:constrLst>
        <dgm:ruleLst/>
      </dgm:if>
      <dgm:else name="Name3">
        <dgm:alg type="composite"/>
        <dgm:shape xmlns:r="http://schemas.openxmlformats.org/officeDocument/2006/relationships" r:blip="">
          <dgm:adjLst/>
        </dgm:shape>
        <dgm:presOf/>
        <dgm:constrLst>
          <dgm:constr type="primFontSz" for="ch" ptType="node" op="equ" val="65"/>
        </dgm:constrLst>
        <dgm:ruleLst/>
      </dgm:else>
    </dgm:choose>
    <dgm:choose name="Name4">
      <dgm:if name="Name5" axis="ch" ptType="node" func="cnt" op="equ" val="2">
        <dgm:layoutNode name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sibTrans" styleLbl="bgShp">
          <dgm:choose name="Name6">
            <dgm:if name="Name7" func="var" arg="dir" op="equ" val="norm">
              <dgm:alg type="conn">
                <dgm:param type="connRout" val="longCurve"/>
                <dgm:param type="begPts" val="midR"/>
                <dgm:param type="endPts" val="midL"/>
                <dgm:param type="dstNode" val="node1"/>
              </dgm:alg>
              <dgm:shape xmlns:r="http://schemas.openxmlformats.org/officeDocument/2006/relationships" type="conn" r:blip="" zOrderOff="-2">
                <dgm:adjLst/>
              </dgm:shape>
              <dgm:presOf axis="ch" ptType="sibTrans"/>
              <dgm:constrLst>
                <dgm:constr type="userA"/>
                <dgm:constr type="diam" refType="userA" fact="-1"/>
                <dgm:constr type="wArH" refType="userA" fact="0.05"/>
                <dgm:constr type="hArH" refType="userA" fact="0.1"/>
                <dgm:constr type="stemThick" refType="userA" fact="0.06"/>
                <dgm:constr type="begPad" refType="connDist" fact="-0.2"/>
                <dgm:constr type="endPad" refType="connDist" fact="0.05"/>
              </dgm:constrLst>
            </dgm:if>
            <dgm:else name="Name8">
              <dgm:alg type="conn">
                <dgm:param type="connRout" val="longCurve"/>
                <dgm:param type="begPts" val="midL"/>
                <dgm:param type="endPts" val="midR"/>
                <dgm:param type="dstNode" val="node1"/>
              </dgm:alg>
              <dgm:shape xmlns:r="http://schemas.openxmlformats.org/officeDocument/2006/relationships" type="conn" r:blip="" zOrderOff="-2">
                <dgm:adjLst/>
              </dgm:shape>
              <dgm:presOf axis="ch" ptType="sibTrans"/>
              <dgm:constrLst>
                <dgm:constr type="userA"/>
                <dgm:constr type="diam" refType="userA"/>
                <dgm:constr type="wArH" refType="userA" fact="0.05"/>
                <dgm:constr type="hArH" refType="userA" fact="0.1"/>
                <dgm:constr type="stemThick" refType="userA" fact="0.06"/>
                <dgm:constr type="begPad" refType="connDist" fact="-0.2"/>
                <dgm:constr type="endPad" refType="connDist" fact="0.05"/>
              </dgm:constrLst>
            </dgm:else>
          </dgm:choose>
          <dgm:ruleLst/>
        </dgm:layoutNode>
        <dgm:layoutNode name="node2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sp1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sp2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if>
      <dgm:else name="Name9">
        <dgm:layoutNode name="cycle">
          <dgm:choose name="Name10">
            <dgm:if name="Name11" func="var" arg="dir" op="equ" val="norm">
              <dgm:alg type="cycle">
                <dgm:param type="stAng" val="0"/>
                <dgm:param type="spanAng" val="360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diam" refType="w"/>
                <dgm:constr type="w" for="ch" ptType="node" refType="w"/>
                <dgm:constr type="sibSp" val="15"/>
                <dgm:constr type="userA" for="ch" ptType="sibTrans" refType="diam" op="equ" fact="-1"/>
                <dgm:constr type="wArH" for="ch" ptType="sibTrans" refType="diam" op="equ" fact="0.05"/>
                <dgm:constr type="hArH" for="ch" ptType="sibTrans" refType="diam" op="equ" fact="0.1"/>
                <dgm:constr type="stemThick" for="ch" ptType="sibTrans" refType="diam" op="equ" fact="0.065"/>
                <dgm:constr type="primFontSz" for="ch" ptType="node" op="equ"/>
              </dgm:constrLst>
            </dgm:if>
            <dgm:else name="Name12">
              <dgm:alg type="cycle">
                <dgm:param type="stAng" val="0"/>
                <dgm:param type="spanAng" val="-360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diam" refType="w"/>
                <dgm:constr type="w" for="ch" ptType="node" refType="w"/>
                <dgm:constr type="sibSp" val="15"/>
                <dgm:constr type="userA" for="ch" ptType="sibTrans" refType="diam" op="equ"/>
                <dgm:constr type="wArH" for="ch" ptType="sibTrans" refType="diam" op="equ" fact="0.05"/>
                <dgm:constr type="hArH" for="ch" ptType="sibTrans" refType="diam" op="equ" fact="0.1"/>
                <dgm:constr type="stemThick" for="ch" ptType="sibTrans" refType="diam" op="equ" fact="0.065"/>
                <dgm:constr type="primFontSz" for="ch" ptType="node" op="equ"/>
              </dgm:constrLst>
            </dgm:else>
          </dgm:choose>
          <dgm:ruleLst/>
          <dgm:forEach name="nodesFirstNodeForEach" axis="ch" ptType="node" cnt="1">
            <dgm:layoutNode name="nodeFirstNode">
              <dgm:varLst>
                <dgm:bulletEnabled val="1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desOrSelf" ptType="node"/>
              <dgm:constrLst>
                <dgm:constr type="h" refType="w" fact="0.5"/>
                <dgm:constr type="primFontSz" val="65"/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  <dgm:forEach name="sibTransForEach" axis="followSib" ptType="sibTrans" cnt="1">
              <dgm:layoutNode name="sibTransFirstNode" styleLbl="bgShp">
                <dgm:choose name="Name13">
                  <dgm:if name="Name14" func="var" arg="dir" op="equ" val="norm">
                    <dgm:alg type="conn">
                      <dgm:param type="connRout" val="longCurve"/>
                      <dgm:param type="begPts" val="midR"/>
                      <dgm:param type="endPts" val="midL"/>
                      <dgm:param type="dstNode" val="nodeFirstNode"/>
                    </dgm:alg>
                  </dgm:if>
                  <dgm:else name="Name15">
                    <dgm:alg type="conn">
                      <dgm:param type="connRout" val="longCurve"/>
                      <dgm:param type="begPts" val="midL"/>
                      <dgm:param type="endPts" val="midR"/>
                      <dgm:param type="dstNode" val="nodeFirstNode"/>
                    </dgm:alg>
                  </dgm:else>
                </dgm:choose>
                <dgm:shape xmlns:r="http://schemas.openxmlformats.org/officeDocument/2006/relationships" type="conn" r:blip="" zOrderOff="-2">
                  <dgm:adjLst/>
                </dgm:shape>
                <dgm:presOf axis="self"/>
                <dgm:choose name="Name16">
                  <dgm:if name="Name17" axis="par ch" ptType="doc node" func="cnt" op="equ" val="3">
                    <dgm:constrLst>
                      <dgm:constr type="userA"/>
                      <dgm:constr type="diam" refType="userA" fact="1.01"/>
                      <dgm:constr type="begPad" refType="connDist" fact="-0.2"/>
                      <dgm:constr type="endPad" refType="connDist" fact="0.05"/>
                    </dgm:constrLst>
                  </dgm:if>
                  <dgm:if name="Name18" axis="par ch" ptType="doc node" func="cnt" op="equ" val="4">
                    <dgm:constrLst>
                      <dgm:constr type="userA"/>
                      <dgm:constr type="diam" refType="userA" fact="1.26"/>
                      <dgm:constr type="begPad" refType="connDist" fact="-0.2"/>
                      <dgm:constr type="endPad" refType="connDist" fact="0.05"/>
                    </dgm:constrLst>
                  </dgm:if>
                  <dgm:if name="Name19" axis="par ch" ptType="doc node" func="cnt" op="equ" val="5">
                    <dgm:constrLst>
                      <dgm:constr type="userA"/>
                      <dgm:constr type="diam" refType="userA" fact="1.04"/>
                      <dgm:constr type="begPad" refType="connDist" fact="-0.2"/>
                      <dgm:constr type="endPad" refType="connDist" fact="0.05"/>
                    </dgm:constrLst>
                  </dgm:if>
                  <dgm:if name="Name20" axis="par ch" ptType="doc node" func="cnt" op="equ" val="6">
                    <dgm:constrLst>
                      <dgm:constr type="userA"/>
                      <dgm:constr type="diam" refType="userA" fact="1.1"/>
                      <dgm:constr type="begPad" refType="connDist" fact="-0.2"/>
                      <dgm:constr type="endPad" refType="connDist" fact="0.05"/>
                    </dgm:constrLst>
                  </dgm:if>
                  <dgm:else name="Name21">
                    <dgm:constrLst>
                      <dgm:constr type="userA"/>
                      <dgm:constr type="diam" refType="userA" fact="1.04"/>
                      <dgm:constr type="begPad" refType="connDist" fact="-0.2"/>
                      <dgm:constr type="endPad" refType="connDist" fact="0.05"/>
                    </dgm:constrLst>
                  </dgm:else>
                </dgm:choose>
                <dgm:ruleLst/>
              </dgm:layoutNode>
            </dgm:forEach>
          </dgm:forEach>
          <dgm:forEach name="followingNodesForEach" axis="ch" ptType="node" st="2">
            <dgm:layoutNode name="nodeFollowingNodes">
              <dgm:varLst>
                <dgm:bulletEnabled val="1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desOrSelf" ptType="node"/>
              <dgm:constrLst>
                <dgm:constr type="h" refType="w" fact="0.5"/>
                <dgm:constr type="primFontSz" val="65"/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forEach>
        </dgm:layoutNode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e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8466" y="-8468"/>
            <a:ext cx="9169804" cy="6874935"/>
            <a:chOff x="-8466" y="-8468"/>
            <a:chExt cx="9169804" cy="6874935"/>
          </a:xfrm>
        </p:grpSpPr>
        <p:cxnSp>
          <p:nvCxnSpPr>
            <p:cNvPr id="17" name="Straight Connector 16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Freeform 18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19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20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21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Freeform 22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Freeform 23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24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Freeform 27"/>
            <p:cNvSpPr/>
            <p:nvPr/>
          </p:nvSpPr>
          <p:spPr>
            <a:xfrm>
              <a:off x="-8466" y="-8468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0595" y="2404534"/>
            <a:ext cx="5826719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0595" y="4050834"/>
            <a:ext cx="5826719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29138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2281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2700868"/>
            <a:ext cx="6347715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61097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1320800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2160589"/>
            <a:ext cx="3088109" cy="3880772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9204" y="2160590"/>
            <a:ext cx="3088110" cy="388077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80090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</p:spPr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99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66640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66640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02046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4" cy="1320800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81447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1694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1498604"/>
            <a:ext cx="2790182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1275" y="514925"/>
            <a:ext cx="3386037" cy="5526437"/>
          </a:xfrm>
        </p:spPr>
        <p:txBody>
          <a:bodyPr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2777069"/>
            <a:ext cx="2790182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17965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4800600"/>
            <a:ext cx="634771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" y="609600"/>
            <a:ext cx="6347714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5367338"/>
            <a:ext cx="6347714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43018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4470400"/>
            <a:ext cx="6347714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17713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01074" y="3632200"/>
            <a:ext cx="541980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470400"/>
            <a:ext cx="6347715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13277913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1931988"/>
            <a:ext cx="6347715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681487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карточки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15587667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Истина или лож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5848" y="609600"/>
            <a:ext cx="6341465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145455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474642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77312" y="609600"/>
            <a:ext cx="978812" cy="5251451"/>
          </a:xfrm>
        </p:spPr>
        <p:txBody>
          <a:bodyPr vert="eaVert" anchor="ctr"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99" y="609600"/>
            <a:ext cx="5195026" cy="5251451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05047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-8467" y="-8468"/>
            <a:ext cx="9169805" cy="6874935"/>
            <a:chOff x="-8467" y="-8468"/>
            <a:chExt cx="9169805" cy="6874935"/>
          </a:xfrm>
        </p:grpSpPr>
        <p:sp>
          <p:nvSpPr>
            <p:cNvPr id="7" name="Freeform 6"/>
            <p:cNvSpPr/>
            <p:nvPr/>
          </p:nvSpPr>
          <p:spPr>
            <a:xfrm>
              <a:off x="-8467" y="4013200"/>
              <a:ext cx="457200" cy="2853267"/>
            </a:xfrm>
            <a:custGeom>
              <a:avLst/>
              <a:gdLst/>
              <a:ahLst/>
              <a:cxnLst/>
              <a:rect l="l" t="t" r="r" b="b"/>
              <a:pathLst>
                <a:path w="457200" h="2853267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8" name="Straight Connector 7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Freeform 9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12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13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Freeform 14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15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590"/>
            <a:ext cx="6347714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71290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7" r:id="rId1"/>
    <p:sldLayoutId id="2147483708" r:id="rId2"/>
    <p:sldLayoutId id="2147483709" r:id="rId3"/>
    <p:sldLayoutId id="2147483710" r:id="rId4"/>
    <p:sldLayoutId id="2147483711" r:id="rId5"/>
    <p:sldLayoutId id="2147483712" r:id="rId6"/>
    <p:sldLayoutId id="2147483713" r:id="rId7"/>
    <p:sldLayoutId id="2147483714" r:id="rId8"/>
    <p:sldLayoutId id="2147483715" r:id="rId9"/>
    <p:sldLayoutId id="2147483716" r:id="rId10"/>
    <p:sldLayoutId id="2147483717" r:id="rId11"/>
    <p:sldLayoutId id="2147483718" r:id="rId12"/>
    <p:sldLayoutId id="2147483719" r:id="rId13"/>
    <p:sldLayoutId id="2147483720" r:id="rId14"/>
    <p:sldLayoutId id="2147483721" r:id="rId15"/>
    <p:sldLayoutId id="2147483722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Visio_Drawing.vsd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6.emf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tmp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Visio_Drawing1.vsd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10.emf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5" Type="http://schemas.openxmlformats.org/officeDocument/2006/relationships/image" Target="../media/image11.emf"/><Relationship Id="rId4" Type="http://schemas.openxmlformats.org/officeDocument/2006/relationships/package" Target="../embeddings/Microsoft_Visio_Drawing2.vsdx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890077" y="134502"/>
            <a:ext cx="7402749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en-US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O‘ZBEKISTON RESPUBLIKASI BANK-MOLIYA </a:t>
            </a:r>
            <a:r>
              <a:rPr lang="en-US" altLang="en-US" sz="24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AKADEMIYASI</a:t>
            </a:r>
          </a:p>
        </p:txBody>
      </p:sp>
      <p:sp>
        <p:nvSpPr>
          <p:cNvPr id="6" name="Прямоугольник 5"/>
          <p:cNvSpPr/>
          <p:nvPr/>
        </p:nvSpPr>
        <p:spPr>
          <a:xfrm>
            <a:off x="1435930" y="2382983"/>
            <a:ext cx="605287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JUMABOYEV</a:t>
            </a:r>
            <a:r>
              <a:rPr lang="en-US" b="1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MAQSUD PARXOD O‘G‘LI</a:t>
            </a:r>
            <a:endParaRPr lang="ru-RU" sz="24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Прямоугольник 6"/>
          <p:cNvSpPr/>
          <p:nvPr/>
        </p:nvSpPr>
        <p:spPr>
          <a:xfrm>
            <a:off x="466927" y="3243396"/>
            <a:ext cx="8365787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lang="en-US" sz="2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TIJORAT BANKLARIDA MUAMMOLI KREDITLARNING VUJUDGA KELISHI VA OQIBATLARINI HAL ETISH </a:t>
            </a:r>
            <a:r>
              <a:rPr lang="en-US" sz="20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YOʻLLARI</a:t>
            </a:r>
            <a:r>
              <a:rPr lang="en-US" sz="2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ru-RU" sz="20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2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(ATB </a:t>
            </a:r>
            <a:r>
              <a:rPr lang="en-US" sz="2000" b="1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misolida</a:t>
            </a:r>
            <a:r>
              <a:rPr lang="en-US" sz="2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ru-RU" sz="20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Прямоугольник 7"/>
          <p:cNvSpPr/>
          <p:nvPr/>
        </p:nvSpPr>
        <p:spPr>
          <a:xfrm>
            <a:off x="1326689" y="1054395"/>
            <a:ext cx="6060331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sv-SE" sz="2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BIZNES VA MENEJMENT </a:t>
            </a:r>
            <a:r>
              <a:rPr lang="sv-SE" sz="2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FAKULTETI</a:t>
            </a:r>
            <a:endParaRPr lang="sv-SE" sz="20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Прямоугольник 8"/>
          <p:cNvSpPr/>
          <p:nvPr/>
        </p:nvSpPr>
        <p:spPr>
          <a:xfrm>
            <a:off x="1867711" y="1564541"/>
            <a:ext cx="5092924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sv-SE" sz="2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BIZNESNI BOSHQARISH KAFEDRASI</a:t>
            </a:r>
            <a:endParaRPr lang="sv-SE" sz="20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Прямоугольник 9"/>
          <p:cNvSpPr/>
          <p:nvPr/>
        </p:nvSpPr>
        <p:spPr>
          <a:xfrm>
            <a:off x="466927" y="4170163"/>
            <a:ext cx="8587868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70410901 - </a:t>
            </a:r>
            <a:r>
              <a:rPr lang="en-US" sz="20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Biznesni</a:t>
            </a:r>
            <a:r>
              <a:rPr lang="en-US" sz="2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boshqarish</a:t>
            </a:r>
            <a:r>
              <a:rPr lang="en-US" sz="2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(Master of Business Administration-MBA)</a:t>
            </a:r>
            <a:endParaRPr lang="ru-RU" sz="20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Прямоугольник 10"/>
          <p:cNvSpPr/>
          <p:nvPr/>
        </p:nvSpPr>
        <p:spPr>
          <a:xfrm>
            <a:off x="3647922" y="6488668"/>
            <a:ext cx="243983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en-US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TOSHKENT  </a:t>
            </a:r>
            <a:r>
              <a:rPr lang="en-US" altLang="en-US" b="1" dirty="0">
                <a:solidFill>
                  <a:srgbClr val="00206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– 202</a:t>
            </a:r>
            <a:r>
              <a:rPr lang="ru-RU" altLang="en-US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5</a:t>
            </a:r>
            <a:r>
              <a:rPr lang="en-US" altLang="en-US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y</a:t>
            </a:r>
            <a:r>
              <a:rPr lang="ru-RU" altLang="en-US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.</a:t>
            </a:r>
            <a:endParaRPr lang="ru-RU" dirty="0"/>
          </a:p>
        </p:txBody>
      </p:sp>
      <p:graphicFrame>
        <p:nvGraphicFramePr>
          <p:cNvPr id="13" name="Таблица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72814616"/>
              </p:ext>
            </p:extLst>
          </p:nvPr>
        </p:nvGraphicFramePr>
        <p:xfrm>
          <a:off x="3647923" y="5160517"/>
          <a:ext cx="5406874" cy="402400"/>
        </p:xfrm>
        <a:graphic>
          <a:graphicData uri="http://schemas.openxmlformats.org/drawingml/2006/table">
            <a:tbl>
              <a:tblPr firstRow="1" firstCol="1" bandRow="1"/>
              <a:tblGrid>
                <a:gridCol w="2345341">
                  <a:extLst>
                    <a:ext uri="{9D8B030D-6E8A-4147-A177-3AD203B41FA5}">
                      <a16:colId xmlns:a16="http://schemas.microsoft.com/office/drawing/2014/main" val="2952191951"/>
                    </a:ext>
                  </a:extLst>
                </a:gridCol>
                <a:gridCol w="3061533">
                  <a:extLst>
                    <a:ext uri="{9D8B030D-6E8A-4147-A177-3AD203B41FA5}">
                      <a16:colId xmlns:a16="http://schemas.microsoft.com/office/drawing/2014/main" val="135433194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000" b="1" kern="1200" dirty="0" err="1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Ilmiy</a:t>
                      </a:r>
                      <a:r>
                        <a:rPr lang="en-US" sz="2000" b="1" kern="1200" dirty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000" b="1" kern="1200" dirty="0" err="1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rahbar</a:t>
                      </a:r>
                      <a:endParaRPr lang="ru-RU" sz="2000" b="1" kern="1200" dirty="0">
                        <a:solidFill>
                          <a:srgbClr val="00206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000" b="1" kern="1200" dirty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PhD., dots. </a:t>
                      </a:r>
                      <a:r>
                        <a:rPr lang="en-US" sz="2000" b="1" kern="1200" dirty="0" err="1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O.M.Axmedov</a:t>
                      </a:r>
                      <a:endParaRPr lang="ru-RU" sz="2000" b="1" kern="1200" dirty="0">
                        <a:solidFill>
                          <a:srgbClr val="00206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19892348"/>
                  </a:ext>
                </a:extLst>
              </a:tr>
            </a:tbl>
          </a:graphicData>
        </a:graphic>
      </p:graphicFrame>
      <p:pic>
        <p:nvPicPr>
          <p:cNvPr id="16" name="Рисунок 1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76078" y="-86944"/>
            <a:ext cx="1712008" cy="1141339"/>
          </a:xfrm>
          <a:prstGeom prst="rect">
            <a:avLst/>
          </a:prstGeom>
        </p:spPr>
      </p:pic>
      <p:pic>
        <p:nvPicPr>
          <p:cNvPr id="17" name="Рисунок 16"/>
          <p:cNvPicPr>
            <a:picLocks noChangeAspect="1"/>
          </p:cNvPicPr>
          <p:nvPr/>
        </p:nvPicPr>
        <p:blipFill rotWithShape="1">
          <a:blip r:embed="rId3"/>
          <a:srcRect l="18671" t="4376" r="18860" b="7013"/>
          <a:stretch/>
        </p:blipFill>
        <p:spPr>
          <a:xfrm>
            <a:off x="0" y="-30885"/>
            <a:ext cx="1075579" cy="1016733"/>
          </a:xfrm>
          <a:prstGeom prst="rect">
            <a:avLst/>
          </a:prstGeom>
        </p:spPr>
      </p:pic>
      <p:pic>
        <p:nvPicPr>
          <p:cNvPr id="5124" name="Picture 4" descr="Bankxizmatlari.uz - Информационный портал финансовых услуг коммерческих ...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94" t="34259" r="63272" b="34226"/>
          <a:stretch/>
        </p:blipFill>
        <p:spPr bwMode="auto">
          <a:xfrm>
            <a:off x="8074000" y="-21778"/>
            <a:ext cx="1070000" cy="10761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9651" y="2058"/>
            <a:ext cx="8317149" cy="622007"/>
          </a:xfrm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KIRISH</a:t>
            </a:r>
            <a:endParaRPr sz="3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01336"/>
            <a:ext cx="8229600" cy="6077335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</a:p>
          <a:p>
            <a:pPr marL="0" indent="0" algn="just">
              <a:buNone/>
            </a:pPr>
            <a:endParaRPr 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endParaRPr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>
              <a:buFont typeface="Wingdings" panose="05000000000000000000" pitchFamily="2" charset="2"/>
              <a:buChar char="Ø"/>
            </a:pP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>
              <a:buFont typeface="Wingdings" panose="05000000000000000000" pitchFamily="2" charset="2"/>
              <a:buChar char="Ø"/>
            </a:pP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ru-RU" sz="1400" dirty="0"/>
          </a:p>
        </p:txBody>
      </p:sp>
      <p:sp>
        <p:nvSpPr>
          <p:cNvPr id="4" name="Блок-схема: альтернативный процесс 3"/>
          <p:cNvSpPr/>
          <p:nvPr/>
        </p:nvSpPr>
        <p:spPr>
          <a:xfrm>
            <a:off x="107004" y="701336"/>
            <a:ext cx="8852170" cy="2353149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Zamonaviy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globallashuv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jarayonlari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xalqaro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moliya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bozorlaridagi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yuqori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volatillik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hamda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makroiqtisodiy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geosiyosiy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tebranishlar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sharoitida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milliy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bank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tizimlarining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barqarorligini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ta’minlash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har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bir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davlatning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iqtisodiy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xavfsizligi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suverenitetining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fundamental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asosi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hisoblanadi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Dunyo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miqyosida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kredit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bozorlarining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jadal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sur’atlar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bilan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ekspansiya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qilinishi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banklararo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raqobatning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an’anaviy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formatlardan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raqamli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ekotizimlar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darajasiga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koʻchishi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moliyaviy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xavf-xatarlarning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transchegaraviy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transfer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boʻlish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tezligi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hamda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iqtisodiy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sikllarning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oʻzgaruvchanligi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bank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aktivlari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xususan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kredit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portfellarining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sifati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masalasini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global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iqtisodiyotning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eng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oʻtkir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muammolaridan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biriga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aylantirdi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lang="ru-RU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Блок-схема: альтернативный процесс 4"/>
          <p:cNvSpPr/>
          <p:nvPr/>
        </p:nvSpPr>
        <p:spPr>
          <a:xfrm>
            <a:off x="107004" y="3209027"/>
            <a:ext cx="8852170" cy="3569644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Oʻzbekiston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Respublikasi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Markaziy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bankining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statistik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ma’lumotlari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dinamik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tahlillari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shuni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koʻrsatadiki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kredit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portfelining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miqdoriy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ekspansiyasi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har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doim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ham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uning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sifati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bilan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mutanosib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kechayotgani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yoʻq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Iqtisodiyotning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tarkibiy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transformatsiyalashuvi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jarayonida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ayrim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tarmoqlarda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toʻlov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intizomining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susayishi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qarz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oluvchi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korxonalarning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marketing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strategik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xatolari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tufayli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moliyaviy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barqarorligini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yoʻqotishi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shuningdek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banklarning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oʻzida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kredit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monitoringi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tizimining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post-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faktum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ya’ni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muammo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yuzaga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kelgandan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keyingina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xarakterga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ega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ekanligi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muammoli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kreditlar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ulushining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tebranishiga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sabab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boʻlmoqda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Ayniqsa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soʻnggi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yillarda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ommaviy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tus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olgan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chakana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kreditlash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avtokreditlar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mikroqarzlar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onlayn-kreditlar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segmentida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anderrayting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jarayonlarining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tezlashtirilgani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skoring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modellarining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mukammal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emasligi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sababli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qaytmaslik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xavfi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ortib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bormoqda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6187" y="79329"/>
            <a:ext cx="8929993" cy="921335"/>
          </a:xfrm>
        </p:spPr>
        <p:txBody>
          <a:bodyPr>
            <a:normAutofit fontScale="90000"/>
          </a:bodyPr>
          <a:lstStyle/>
          <a:p>
            <a:pPr algn="ctr"/>
            <a:r>
              <a:rPr lang="en-US" sz="32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Dissertatsiya</a:t>
            </a:r>
            <a:r>
              <a:rPr lang="en-US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mavzusining</a:t>
            </a:r>
            <a:r>
              <a:rPr lang="en-US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dolzarbligi</a:t>
            </a:r>
            <a:r>
              <a:rPr lang="en-US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quyidagi</a:t>
            </a:r>
            <a:r>
              <a:rPr lang="en-US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omillar</a:t>
            </a:r>
            <a:r>
              <a:rPr lang="en-US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bilan</a:t>
            </a:r>
            <a:r>
              <a:rPr lang="en-US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belgilanadi</a:t>
            </a:r>
            <a:r>
              <a:rPr lang="ru-RU" sz="32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sz="3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9" name="Схема 8"/>
          <p:cNvGraphicFramePr/>
          <p:nvPr>
            <p:extLst>
              <p:ext uri="{D42A27DB-BD31-4B8C-83A1-F6EECF244321}">
                <p14:modId xmlns:p14="http://schemas.microsoft.com/office/powerpoint/2010/main" val="3238429052"/>
              </p:ext>
            </p:extLst>
          </p:nvPr>
        </p:nvGraphicFramePr>
        <p:xfrm>
          <a:off x="-77820" y="775643"/>
          <a:ext cx="9221820" cy="610052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381913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Скругленный прямоугольник 3"/>
          <p:cNvSpPr/>
          <p:nvPr/>
        </p:nvSpPr>
        <p:spPr>
          <a:xfrm>
            <a:off x="3142034" y="2447182"/>
            <a:ext cx="5856051" cy="157125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Oʻzbekiston</a:t>
            </a: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Respublikasi</a:t>
            </a: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moliya</a:t>
            </a: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-bank </a:t>
            </a:r>
            <a:r>
              <a:rPr lang="en-US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tizimidagi</a:t>
            </a: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tarkibiy</a:t>
            </a: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oʻzgarishlar</a:t>
            </a: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transformatsiya</a:t>
            </a: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jarayonlari</a:t>
            </a: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sharoitida</a:t>
            </a: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tijorat</a:t>
            </a: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banklarining</a:t>
            </a: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kredit</a:t>
            </a: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faoliyati</a:t>
            </a: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hamda</a:t>
            </a: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ularda</a:t>
            </a: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muammoli</a:t>
            </a: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kreditlarni</a:t>
            </a: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(NPL) </a:t>
            </a:r>
            <a:r>
              <a:rPr lang="en-US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boshqarish</a:t>
            </a: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minimallashtirish</a:t>
            </a: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tizimi</a:t>
            </a: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hisoblanadi</a:t>
            </a: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Скругленный прямоугольник 5"/>
          <p:cNvSpPr/>
          <p:nvPr/>
        </p:nvSpPr>
        <p:spPr>
          <a:xfrm>
            <a:off x="3307404" y="4632332"/>
            <a:ext cx="5690681" cy="1705643"/>
          </a:xfrm>
          <a:prstGeom prst="round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tijorat</a:t>
            </a: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banklarida</a:t>
            </a: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muammoli</a:t>
            </a: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kreditlar</a:t>
            </a: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(NPL) </a:t>
            </a:r>
            <a:r>
              <a:rPr lang="en-US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yuzaga</a:t>
            </a: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kelishini</a:t>
            </a: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barvaqt</a:t>
            </a: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prognozlash</a:t>
            </a: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anderrayting</a:t>
            </a: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skoring</a:t>
            </a: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modellarini</a:t>
            </a: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raqamlashtirish</a:t>
            </a: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shuningdek</a:t>
            </a: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kredit</a:t>
            </a: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risklarini</a:t>
            </a: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boshqarish</a:t>
            </a: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tizimini</a:t>
            </a: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takomillashtirish</a:t>
            </a: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jarayonida</a:t>
            </a: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yuzaga</a:t>
            </a: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keladigan</a:t>
            </a: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iqtisodiy</a:t>
            </a: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moliyaviy</a:t>
            </a: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tashkiliy-boshqaruv</a:t>
            </a: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munosabatlari</a:t>
            </a: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majmuasidir</a:t>
            </a:r>
            <a:endParaRPr lang="ru-RU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Скругленный прямоугольник 7"/>
          <p:cNvSpPr/>
          <p:nvPr/>
        </p:nvSpPr>
        <p:spPr>
          <a:xfrm>
            <a:off x="3004149" y="427010"/>
            <a:ext cx="5993936" cy="1406281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tijorat</a:t>
            </a: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banklarida</a:t>
            </a: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muammoli</a:t>
            </a: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kreditlar</a:t>
            </a: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(NPL) </a:t>
            </a:r>
            <a:r>
              <a:rPr lang="en-US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hajmini</a:t>
            </a: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kamaytirish</a:t>
            </a: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anderrayting</a:t>
            </a: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skoring</a:t>
            </a: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modellarini</a:t>
            </a: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raqamlashtirish</a:t>
            </a: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hamda</a:t>
            </a: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ilgʻor</a:t>
            </a: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xalqaro</a:t>
            </a: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mexanizmlarni</a:t>
            </a: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sekuritizatsiya</a:t>
            </a: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AMC) </a:t>
            </a:r>
            <a:r>
              <a:rPr lang="en-US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joriy</a:t>
            </a: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etish</a:t>
            </a: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orqali</a:t>
            </a: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kredit</a:t>
            </a: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risklarini</a:t>
            </a: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boshqarish</a:t>
            </a: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barvaqt</a:t>
            </a: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prognozlash</a:t>
            </a: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tizimini</a:t>
            </a: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takomillashtirishdan</a:t>
            </a: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iborat</a:t>
            </a: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Овал 12"/>
          <p:cNvSpPr/>
          <p:nvPr/>
        </p:nvSpPr>
        <p:spPr>
          <a:xfrm>
            <a:off x="241541" y="2372921"/>
            <a:ext cx="2794958" cy="155506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Tadqiqot</a:t>
            </a:r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obyekti</a:t>
            </a:r>
            <a:endParaRPr lang="ru-RU" sz="2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Овал 13"/>
          <p:cNvSpPr/>
          <p:nvPr/>
        </p:nvSpPr>
        <p:spPr>
          <a:xfrm>
            <a:off x="370937" y="4632332"/>
            <a:ext cx="2665562" cy="1447310"/>
          </a:xfrm>
          <a:prstGeom prst="ellipse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Tadqiqotning</a:t>
            </a:r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predmeti</a:t>
            </a:r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ru-RU" sz="2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Овал 14"/>
          <p:cNvSpPr/>
          <p:nvPr/>
        </p:nvSpPr>
        <p:spPr>
          <a:xfrm>
            <a:off x="241541" y="339606"/>
            <a:ext cx="2730259" cy="1356799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Tadqiqotning</a:t>
            </a:r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maqsadi</a:t>
            </a:r>
            <a:r>
              <a:rPr lang="en-US" sz="20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ru-RU" sz="2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815522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9698845-14C2-4A04-8849-82E7560800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130481" cy="933856"/>
          </a:xfrm>
          <a:prstGeom prst="snip2DiagRect">
            <a:avLst>
              <a:gd name="adj1" fmla="val 0"/>
              <a:gd name="adj2" fmla="val 25000"/>
            </a:avLst>
          </a:prstGeom>
          <a:solidFill>
            <a:schemeClr val="accent1">
              <a:lumMod val="60000"/>
              <a:lumOff val="40000"/>
            </a:schemeClr>
          </a:solidFill>
          <a:ln w="19050">
            <a:solidFill>
              <a:srgbClr val="00B050"/>
            </a:solidFill>
          </a:ln>
        </p:spPr>
        <p:txBody>
          <a:bodyPr>
            <a:noAutofit/>
          </a:bodyPr>
          <a:lstStyle/>
          <a:p>
            <a:pPr marL="174625" lvl="1" indent="-174625" algn="ctr" defTabSz="457200" rtl="0">
              <a:spcBef>
                <a:spcPct val="0"/>
              </a:spcBef>
            </a:pP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Belgilab </a:t>
            </a:r>
            <a:r>
              <a:rPr lang="en-US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olingan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maqsad</a:t>
            </a:r>
            <a:r>
              <a:rPr lang="en-US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dan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kelib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chiqqan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holda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tadqiqotning</a:t>
            </a:r>
            <a:r>
              <a:rPr lang="en-US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asosiy</a:t>
            </a:r>
            <a:r>
              <a:rPr 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vazifalari</a:t>
            </a:r>
            <a:r>
              <a:rPr 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sifatida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quyidagilar</a:t>
            </a:r>
            <a:r>
              <a:rPr lang="en-US" sz="24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belgilangan</a:t>
            </a:r>
            <a:r>
              <a:rPr lang="ru-RU" sz="24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ru-RU" sz="2400" dirty="0">
              <a:solidFill>
                <a:schemeClr val="bg1">
                  <a:lumMod val="9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Прямоугольник с двумя скругленными противолежащими углами 4"/>
          <p:cNvSpPr/>
          <p:nvPr/>
        </p:nvSpPr>
        <p:spPr>
          <a:xfrm>
            <a:off x="-15665" y="1071976"/>
            <a:ext cx="9146146" cy="836763"/>
          </a:xfrm>
          <a:prstGeom prst="round2DiagRect">
            <a:avLst/>
          </a:prstGeom>
          <a:gradFill>
            <a:gsLst>
              <a:gs pos="0">
                <a:schemeClr val="accent1">
                  <a:lumMod val="40000"/>
                  <a:lumOff val="60000"/>
                </a:schemeClr>
              </a:gs>
              <a:gs pos="88000">
                <a:schemeClr val="accent6">
                  <a:lumMod val="20000"/>
                  <a:lumOff val="80000"/>
                </a:schemeClr>
              </a:gs>
            </a:gsLst>
          </a:gradFill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tijorat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banklarida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kreditlash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jarayonining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nazariy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asoslari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kredit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sifati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kredit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risklarini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boshqarish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yondashuvlarini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o‘rganish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Прямоугольник с одним усеченным и одним скругленным углом 6"/>
          <p:cNvSpPr/>
          <p:nvPr/>
        </p:nvSpPr>
        <p:spPr>
          <a:xfrm>
            <a:off x="0" y="2005128"/>
            <a:ext cx="9146146" cy="984009"/>
          </a:xfrm>
          <a:prstGeom prst="snipRoundRect">
            <a:avLst/>
          </a:prstGeom>
          <a:gradFill>
            <a:gsLst>
              <a:gs pos="0">
                <a:schemeClr val="accent1">
                  <a:lumMod val="40000"/>
                  <a:lumOff val="60000"/>
                </a:schemeClr>
              </a:gs>
              <a:gs pos="88000">
                <a:schemeClr val="accent6">
                  <a:lumMod val="20000"/>
                  <a:lumOff val="80000"/>
                </a:schemeClr>
              </a:gs>
            </a:gsLst>
          </a:gradFill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muammoli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kreditlarning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kelib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chiqish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sabablari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bank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ichki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boshqaruvi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makroiqtisodiy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omillar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qarz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oluvchilarning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xatti-harakati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bilan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bog‘liq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faktorlarni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tizimli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tahlil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qilish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Прямоугольник с одним усеченным и одним скругленным углом 8"/>
          <p:cNvSpPr/>
          <p:nvPr/>
        </p:nvSpPr>
        <p:spPr>
          <a:xfrm>
            <a:off x="-15668" y="3093851"/>
            <a:ext cx="9161814" cy="841686"/>
          </a:xfrm>
          <a:prstGeom prst="snipRoundRect">
            <a:avLst/>
          </a:prstGeom>
          <a:gradFill>
            <a:gsLst>
              <a:gs pos="0">
                <a:schemeClr val="accent1">
                  <a:lumMod val="40000"/>
                  <a:lumOff val="60000"/>
                </a:schemeClr>
              </a:gs>
              <a:gs pos="88000">
                <a:schemeClr val="accent6">
                  <a:lumMod val="20000"/>
                  <a:lumOff val="80000"/>
                </a:schemeClr>
              </a:gs>
            </a:gsLst>
          </a:gradFill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O‘zbekiston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tijorat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banklari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kredit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portfeli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misolida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muammoli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kreditlar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ulushi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dinamikasi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tuzilmasini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amaliy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tahlil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qilish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Прямоугольник с одним усеченным и одним скругленным углом 9"/>
          <p:cNvSpPr/>
          <p:nvPr/>
        </p:nvSpPr>
        <p:spPr>
          <a:xfrm>
            <a:off x="-15667" y="4060537"/>
            <a:ext cx="9161813" cy="795037"/>
          </a:xfrm>
          <a:prstGeom prst="snipRoundRect">
            <a:avLst/>
          </a:prstGeom>
          <a:gradFill>
            <a:gsLst>
              <a:gs pos="0">
                <a:schemeClr val="accent1">
                  <a:lumMod val="40000"/>
                  <a:lumOff val="60000"/>
                </a:schemeClr>
              </a:gs>
              <a:gs pos="88000">
                <a:schemeClr val="accent6">
                  <a:lumMod val="20000"/>
                  <a:lumOff val="80000"/>
                </a:schemeClr>
              </a:gs>
            </a:gsLst>
          </a:gradFill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muammoli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kreditlarning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banklar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likvidligi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rentabelligi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moliyaviy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barqarorligiga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ta’sirini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baholash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Прямоугольник с одним усеченным и одним скругленным углом 10"/>
          <p:cNvSpPr/>
          <p:nvPr/>
        </p:nvSpPr>
        <p:spPr>
          <a:xfrm>
            <a:off x="-15666" y="4961118"/>
            <a:ext cx="9161812" cy="741786"/>
          </a:xfrm>
          <a:prstGeom prst="snipRoundRect">
            <a:avLst/>
          </a:prstGeom>
          <a:gradFill>
            <a:gsLst>
              <a:gs pos="0">
                <a:schemeClr val="accent1">
                  <a:lumMod val="40000"/>
                  <a:lumOff val="60000"/>
                </a:schemeClr>
              </a:gs>
              <a:gs pos="88000">
                <a:schemeClr val="accent6">
                  <a:lumMod val="20000"/>
                  <a:lumOff val="80000"/>
                </a:schemeClr>
              </a:gs>
            </a:gsLst>
          </a:gradFill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dunyo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bank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amaliyotida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qo‘llanilayotgan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muammoli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kreditlarni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boshqarish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strategiyalari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ilg‘or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tajribalarni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o‘rganish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Прямоугольник с одним усеченным и одним скругленным углом 11"/>
          <p:cNvSpPr/>
          <p:nvPr/>
        </p:nvSpPr>
        <p:spPr>
          <a:xfrm>
            <a:off x="-15665" y="5826439"/>
            <a:ext cx="9161811" cy="934283"/>
          </a:xfrm>
          <a:prstGeom prst="snipRoundRect">
            <a:avLst/>
          </a:prstGeom>
          <a:gradFill>
            <a:gsLst>
              <a:gs pos="0">
                <a:schemeClr val="accent1">
                  <a:lumMod val="40000"/>
                  <a:lumOff val="60000"/>
                </a:schemeClr>
              </a:gs>
              <a:gs pos="88000">
                <a:schemeClr val="accent6">
                  <a:lumMod val="20000"/>
                  <a:lumOff val="80000"/>
                </a:schemeClr>
              </a:gs>
            </a:gsLst>
          </a:gradFill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O‘zbekistonda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muammoli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kreditlarni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qisqartirish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qarz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oluvchilarni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baholash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kredit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monitoringini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takomillashtirish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bo‘yicha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ilmiy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asoslangan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taklif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tavsiyalar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ishlab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chiqish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282293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с двумя скругленными противолежащими углами 4"/>
          <p:cNvSpPr/>
          <p:nvPr/>
        </p:nvSpPr>
        <p:spPr>
          <a:xfrm>
            <a:off x="0" y="799978"/>
            <a:ext cx="9144000" cy="542439"/>
          </a:xfrm>
          <a:prstGeom prst="round2DiagRect">
            <a:avLst/>
          </a:prstGeom>
          <a:gradFill>
            <a:gsLst>
              <a:gs pos="0">
                <a:schemeClr val="accent1">
                  <a:lumMod val="40000"/>
                  <a:lumOff val="60000"/>
                </a:schemeClr>
              </a:gs>
              <a:gs pos="88000">
                <a:schemeClr val="accent1">
                  <a:lumMod val="20000"/>
                  <a:lumOff val="80000"/>
                </a:schemeClr>
              </a:gs>
            </a:gsLst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Tijorat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banklarida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muammoli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kreditlarning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asosiy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kelib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chiqish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omillari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nimalardan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iborat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ular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qanday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shakllanadi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endParaRPr lang="ru-RU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Прямоугольник с одним усеченным и одним скругленным углом 6"/>
          <p:cNvSpPr/>
          <p:nvPr/>
        </p:nvSpPr>
        <p:spPr>
          <a:xfrm>
            <a:off x="-19903" y="1441942"/>
            <a:ext cx="9150384" cy="595912"/>
          </a:xfrm>
          <a:prstGeom prst="snipRoundRect">
            <a:avLst/>
          </a:prstGeom>
          <a:gradFill>
            <a:gsLst>
              <a:gs pos="0">
                <a:schemeClr val="accent1">
                  <a:lumMod val="40000"/>
                  <a:lumOff val="60000"/>
                </a:schemeClr>
              </a:gs>
              <a:gs pos="88000">
                <a:schemeClr val="accent1">
                  <a:lumMod val="20000"/>
                  <a:lumOff val="80000"/>
                </a:schemeClr>
              </a:gs>
            </a:gsLst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Birinchidan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kredit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risklarini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baholashning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amaldagi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mexanizmlari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muammoli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kreditlarning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oldini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olishda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qanchalik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samarali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endParaRPr lang="ru-RU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Прямоугольник с одним усеченным и одним скругленным углом 8"/>
          <p:cNvSpPr/>
          <p:nvPr/>
        </p:nvSpPr>
        <p:spPr>
          <a:xfrm>
            <a:off x="-1" y="2107934"/>
            <a:ext cx="9144001" cy="729836"/>
          </a:xfrm>
          <a:prstGeom prst="snipRoundRect">
            <a:avLst/>
          </a:prstGeom>
          <a:gradFill>
            <a:gsLst>
              <a:gs pos="0">
                <a:schemeClr val="accent1">
                  <a:lumMod val="40000"/>
                  <a:lumOff val="60000"/>
                </a:schemeClr>
              </a:gs>
              <a:gs pos="88000">
                <a:schemeClr val="accent1">
                  <a:lumMod val="20000"/>
                  <a:lumOff val="80000"/>
                </a:schemeClr>
              </a:gs>
            </a:gsLst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Ikkinchidan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qarz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oluvchilarning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to‘lov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intizomi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moliyaviy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madaniyatini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oshirish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muammoli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kreditlar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ulushini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kamaytirishga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qanchalik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ta’sir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qiladi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endParaRPr lang="ru-RU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Прямоугольник с одним усеченным и одним скругленным углом 9"/>
          <p:cNvSpPr/>
          <p:nvPr/>
        </p:nvSpPr>
        <p:spPr>
          <a:xfrm>
            <a:off x="-19904" y="2950908"/>
            <a:ext cx="9163903" cy="628871"/>
          </a:xfrm>
          <a:prstGeom prst="snipRoundRect">
            <a:avLst/>
          </a:prstGeom>
          <a:gradFill>
            <a:gsLst>
              <a:gs pos="0">
                <a:schemeClr val="accent1">
                  <a:lumMod val="40000"/>
                  <a:lumOff val="60000"/>
                </a:schemeClr>
              </a:gs>
              <a:gs pos="88000">
                <a:schemeClr val="accent1">
                  <a:lumMod val="20000"/>
                  <a:lumOff val="80000"/>
                </a:schemeClr>
              </a:gs>
            </a:gsLst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/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Uchinchidan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tijorat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banklari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kredit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portfeli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tarkibidagi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nomutanosiblik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muammoli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kreditlarning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ko‘payishiga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qanday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ta’sir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ko‘rsatadi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endParaRPr lang="ru-RU" sz="1400" dirty="0"/>
          </a:p>
        </p:txBody>
      </p:sp>
      <p:sp>
        <p:nvSpPr>
          <p:cNvPr id="11" name="Прямоугольник с одним усеченным и одним скругленным углом 10"/>
          <p:cNvSpPr/>
          <p:nvPr/>
        </p:nvSpPr>
        <p:spPr>
          <a:xfrm>
            <a:off x="-2" y="3669856"/>
            <a:ext cx="9144001" cy="637381"/>
          </a:xfrm>
          <a:prstGeom prst="snipRoundRect">
            <a:avLst/>
          </a:prstGeom>
          <a:gradFill>
            <a:gsLst>
              <a:gs pos="0">
                <a:schemeClr val="accent1">
                  <a:lumMod val="40000"/>
                  <a:lumOff val="60000"/>
                </a:schemeClr>
              </a:gs>
              <a:gs pos="88000">
                <a:schemeClr val="accent1">
                  <a:lumMod val="20000"/>
                  <a:lumOff val="80000"/>
                </a:schemeClr>
              </a:gs>
            </a:gsLst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To‘rtinchidan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banklar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tomonidan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garov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ta’minotini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baholashning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zamonaviy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usullari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qay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darajada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qo‘llanilmoqda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ularni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takomillashtirish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nimani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talab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qiladi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endParaRPr lang="ru-RU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Заголовок 1">
            <a:extLst>
              <a:ext uri="{FF2B5EF4-FFF2-40B4-BE49-F238E27FC236}">
                <a16:creationId xmlns:a16="http://schemas.microsoft.com/office/drawing/2014/main" id="{49698845-14C2-4A04-8849-82E756080047}"/>
              </a:ext>
            </a:extLst>
          </p:cNvPr>
          <p:cNvSpPr txBox="1">
            <a:spLocks/>
          </p:cNvSpPr>
          <p:nvPr/>
        </p:nvSpPr>
        <p:spPr>
          <a:xfrm>
            <a:off x="0" y="-4872"/>
            <a:ext cx="9130481" cy="646898"/>
          </a:xfrm>
          <a:prstGeom prst="snip2DiagRect">
            <a:avLst>
              <a:gd name="adj1" fmla="val 0"/>
              <a:gd name="adj2" fmla="val 25000"/>
            </a:avLst>
          </a:prstGeom>
          <a:solidFill>
            <a:schemeClr val="accent1">
              <a:lumMod val="60000"/>
              <a:lumOff val="40000"/>
            </a:schemeClr>
          </a:solidFill>
          <a:ln w="19050">
            <a:solidFill>
              <a:srgbClr val="00B050"/>
            </a:solidFill>
          </a:ln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marL="174625" lvl="1" indent="-174625" algn="ctr">
              <a:spcBef>
                <a:spcPct val="0"/>
              </a:spcBef>
            </a:pPr>
            <a:r>
              <a:rPr lang="en-US" sz="2800" b="1" kern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TADQIQOT MUAMMOLARI VA SAVOLLARI:</a:t>
            </a:r>
            <a:endParaRPr lang="ru-RU" sz="2800" b="1" kern="0" dirty="0">
              <a:solidFill>
                <a:schemeClr val="bg1">
                  <a:lumMod val="9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Прямоугольник с одним усеченным и одним скругленным углом 12"/>
          <p:cNvSpPr/>
          <p:nvPr/>
        </p:nvSpPr>
        <p:spPr>
          <a:xfrm>
            <a:off x="-19904" y="4411866"/>
            <a:ext cx="9163903" cy="727458"/>
          </a:xfrm>
          <a:prstGeom prst="snipRoundRect">
            <a:avLst/>
          </a:prstGeom>
          <a:gradFill>
            <a:gsLst>
              <a:gs pos="0">
                <a:schemeClr val="accent1">
                  <a:lumMod val="40000"/>
                  <a:lumOff val="60000"/>
                </a:schemeClr>
              </a:gs>
              <a:gs pos="88000">
                <a:schemeClr val="accent1">
                  <a:lumMod val="20000"/>
                  <a:lumOff val="80000"/>
                </a:schemeClr>
              </a:gs>
            </a:gsLst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Beshinchidan dunyo bank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amaliyotida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muammoli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kreditlarni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boshqarish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bo‘yicha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qanday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ilg‘or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tajribalar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mavjud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ularni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O‘zbekiston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sharoitida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qo‘llash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mumkinmi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endParaRPr lang="ru-RU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Прямоугольник с одним усеченным и одним скругленным углом 13"/>
          <p:cNvSpPr/>
          <p:nvPr/>
        </p:nvSpPr>
        <p:spPr>
          <a:xfrm>
            <a:off x="-19904" y="5253558"/>
            <a:ext cx="9163903" cy="727458"/>
          </a:xfrm>
          <a:prstGeom prst="snipRoundRect">
            <a:avLst/>
          </a:prstGeom>
          <a:gradFill>
            <a:gsLst>
              <a:gs pos="0">
                <a:schemeClr val="accent1">
                  <a:lumMod val="40000"/>
                  <a:lumOff val="60000"/>
                </a:schemeClr>
              </a:gs>
              <a:gs pos="88000">
                <a:schemeClr val="accent1">
                  <a:lumMod val="20000"/>
                  <a:lumOff val="80000"/>
                </a:schemeClr>
              </a:gs>
            </a:gsLst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/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Oltinchidan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muammoli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kreditlarning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banklar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likvidligi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rentabelligi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umumiy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moliyaviy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barqarorligiga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ta’siri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qanday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endParaRPr lang="ru-RU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Прямоугольник с одним усеченным и одним скругленным углом 14"/>
          <p:cNvSpPr/>
          <p:nvPr/>
        </p:nvSpPr>
        <p:spPr>
          <a:xfrm>
            <a:off x="-9952" y="6133416"/>
            <a:ext cx="9153952" cy="727458"/>
          </a:xfrm>
          <a:prstGeom prst="snipRoundRect">
            <a:avLst/>
          </a:prstGeom>
          <a:gradFill>
            <a:gsLst>
              <a:gs pos="0">
                <a:schemeClr val="accent1">
                  <a:lumMod val="40000"/>
                  <a:lumOff val="60000"/>
                </a:schemeClr>
              </a:gs>
              <a:gs pos="88000">
                <a:schemeClr val="accent1">
                  <a:lumMod val="20000"/>
                  <a:lumOff val="80000"/>
                </a:schemeClr>
              </a:gs>
            </a:gsLst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/>
            <a:r>
              <a:rPr lang="en-US" sz="1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Yetinchidan</a:t>
            </a:r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makroiqtisodiy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omillar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inflyatsiya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iqtisodiy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o‘sish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sur’atlari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valyuta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kursi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tebranishlari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muammoli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kreditlar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dinamikasiga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qanday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ta’sir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ko‘rsatmoqda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endParaRPr lang="ru-RU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317841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5FFDD4D-13B3-408F-90C6-70F1558AC1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0618" y="60386"/>
            <a:ext cx="8529095" cy="905772"/>
          </a:xfrm>
        </p:spPr>
        <p:txBody>
          <a:bodyPr>
            <a:noAutofit/>
          </a:bodyPr>
          <a:lstStyle/>
          <a:p>
            <a:pPr algn="ctr"/>
            <a:r>
              <a:rPr 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TADQIQOT NATIJALARINING </a:t>
            </a:r>
            <a:r>
              <a:rPr lang="en-US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ILMIY VA NAZARIY AHAMIYATI</a:t>
            </a:r>
            <a:endParaRPr lang="ru-RU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555853DE-DEAB-41C4-A7CA-209892DD321D}"/>
              </a:ext>
            </a:extLst>
          </p:cNvPr>
          <p:cNvSpPr/>
          <p:nvPr/>
        </p:nvSpPr>
        <p:spPr>
          <a:xfrm>
            <a:off x="390618" y="1164566"/>
            <a:ext cx="2387088" cy="5418797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/>
              <a:t>Nazariy </a:t>
            </a:r>
            <a:r>
              <a:rPr lang="en-US" sz="1600" b="1" dirty="0" err="1"/>
              <a:t>qarashlarning</a:t>
            </a:r>
            <a:r>
              <a:rPr lang="en-US" sz="1600" b="1" dirty="0"/>
              <a:t> </a:t>
            </a:r>
            <a:r>
              <a:rPr lang="en-US" sz="1600" b="1" dirty="0" err="1"/>
              <a:t>boyitilishi</a:t>
            </a:r>
            <a:r>
              <a:rPr lang="en-US" sz="1600" b="1" dirty="0"/>
              <a:t>:</a:t>
            </a:r>
            <a:r>
              <a:rPr lang="en-US" sz="1600" dirty="0"/>
              <a:t> Raqamli </a:t>
            </a:r>
            <a:r>
              <a:rPr lang="en-US" sz="1600" dirty="0" err="1"/>
              <a:t>transformatsiya</a:t>
            </a:r>
            <a:r>
              <a:rPr lang="en-US" sz="1600" dirty="0"/>
              <a:t> </a:t>
            </a:r>
            <a:r>
              <a:rPr lang="en-US" sz="1600" dirty="0" err="1"/>
              <a:t>va</a:t>
            </a:r>
            <a:r>
              <a:rPr lang="en-US" sz="1600" dirty="0"/>
              <a:t> bank </a:t>
            </a:r>
            <a:r>
              <a:rPr lang="en-US" sz="1600" dirty="0" err="1"/>
              <a:t>tizimi</a:t>
            </a:r>
            <a:r>
              <a:rPr lang="en-US" sz="1600" dirty="0"/>
              <a:t> </a:t>
            </a:r>
            <a:r>
              <a:rPr lang="en-US" sz="1600" dirty="0" err="1"/>
              <a:t>modifikatsiyasi</a:t>
            </a:r>
            <a:r>
              <a:rPr lang="en-US" sz="1600" dirty="0"/>
              <a:t> </a:t>
            </a:r>
            <a:r>
              <a:rPr lang="en-US" sz="1600" dirty="0" err="1"/>
              <a:t>sharoitida</a:t>
            </a:r>
            <a:r>
              <a:rPr lang="en-US" sz="1600" dirty="0"/>
              <a:t> </a:t>
            </a:r>
            <a:r>
              <a:rPr lang="en-US" sz="1600" dirty="0" err="1"/>
              <a:t>kredit</a:t>
            </a:r>
            <a:r>
              <a:rPr lang="en-US" sz="1600" dirty="0"/>
              <a:t> </a:t>
            </a:r>
            <a:r>
              <a:rPr lang="en-US" sz="1600" dirty="0" err="1"/>
              <a:t>risklarini</a:t>
            </a:r>
            <a:r>
              <a:rPr lang="en-US" sz="1600" dirty="0"/>
              <a:t> </a:t>
            </a:r>
            <a:r>
              <a:rPr lang="en-US" sz="1600" dirty="0" err="1"/>
              <a:t>hamda</a:t>
            </a:r>
            <a:r>
              <a:rPr lang="en-US" sz="1600" dirty="0"/>
              <a:t> </a:t>
            </a:r>
            <a:r>
              <a:rPr lang="en-US" sz="1600" dirty="0" err="1"/>
              <a:t>muammoli</a:t>
            </a:r>
            <a:r>
              <a:rPr lang="en-US" sz="1600" dirty="0"/>
              <a:t> </a:t>
            </a:r>
            <a:r>
              <a:rPr lang="en-US" sz="1600" dirty="0" err="1"/>
              <a:t>aktivlarni</a:t>
            </a:r>
            <a:r>
              <a:rPr lang="en-US" sz="1600" dirty="0"/>
              <a:t> (NPL) </a:t>
            </a:r>
            <a:r>
              <a:rPr lang="en-US" sz="1600" dirty="0" err="1"/>
              <a:t>boshqarishning</a:t>
            </a:r>
            <a:r>
              <a:rPr lang="en-US" sz="1600" dirty="0"/>
              <a:t> </a:t>
            </a:r>
            <a:r>
              <a:rPr lang="en-US" sz="1600" dirty="0" err="1"/>
              <a:t>nazariy-uslubiy</a:t>
            </a:r>
            <a:r>
              <a:rPr lang="en-US" sz="1600" dirty="0"/>
              <a:t> </a:t>
            </a:r>
            <a:r>
              <a:rPr lang="en-US" sz="1600" dirty="0" err="1"/>
              <a:t>asoslari</a:t>
            </a:r>
            <a:r>
              <a:rPr lang="en-US" sz="1600" dirty="0"/>
              <a:t> </a:t>
            </a:r>
            <a:r>
              <a:rPr lang="en-US" sz="1600" dirty="0" err="1"/>
              <a:t>takomillashtiriladi</a:t>
            </a:r>
            <a:r>
              <a:rPr lang="en-US" sz="1600" dirty="0"/>
              <a:t>. </a:t>
            </a:r>
            <a:endParaRPr lang="ru-RU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Прямоугольник: скругленные углы 4">
            <a:extLst>
              <a:ext uri="{FF2B5EF4-FFF2-40B4-BE49-F238E27FC236}">
                <a16:creationId xmlns:a16="http://schemas.microsoft.com/office/drawing/2014/main" id="{1295B78D-415B-4B92-8B51-FD75E06EACC3}"/>
              </a:ext>
            </a:extLst>
          </p:cNvPr>
          <p:cNvSpPr/>
          <p:nvPr/>
        </p:nvSpPr>
        <p:spPr>
          <a:xfrm>
            <a:off x="6276512" y="1164566"/>
            <a:ext cx="2476870" cy="5418797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 err="1"/>
              <a:t>Yangi</a:t>
            </a:r>
            <a:r>
              <a:rPr lang="en-US" sz="1600" b="1" dirty="0"/>
              <a:t> </a:t>
            </a:r>
            <a:r>
              <a:rPr lang="en-US" sz="1600" b="1" dirty="0" err="1"/>
              <a:t>instrumentlar</a:t>
            </a:r>
            <a:r>
              <a:rPr lang="en-US" sz="1600" b="1" dirty="0"/>
              <a:t> </a:t>
            </a:r>
            <a:r>
              <a:rPr lang="en-US" sz="1600" b="1" dirty="0" err="1"/>
              <a:t>metodologiyasi</a:t>
            </a:r>
            <a:r>
              <a:rPr lang="en-US" sz="1600" b="1" dirty="0"/>
              <a:t>:</a:t>
            </a:r>
            <a:r>
              <a:rPr lang="en-US" sz="1600" dirty="0"/>
              <a:t> </a:t>
            </a:r>
            <a:r>
              <a:rPr lang="en-US" sz="1600" dirty="0" err="1"/>
              <a:t>Aktivlarni</a:t>
            </a:r>
            <a:r>
              <a:rPr lang="en-US" sz="1600" dirty="0"/>
              <a:t> </a:t>
            </a:r>
            <a:r>
              <a:rPr lang="en-US" sz="1600" dirty="0" err="1"/>
              <a:t>sekuritizatsiya</a:t>
            </a:r>
            <a:r>
              <a:rPr lang="en-US" sz="1600" dirty="0"/>
              <a:t> </a:t>
            </a:r>
            <a:r>
              <a:rPr lang="en-US" sz="1600" dirty="0" err="1"/>
              <a:t>qilish</a:t>
            </a:r>
            <a:r>
              <a:rPr lang="en-US" sz="1600" dirty="0"/>
              <a:t>, "</a:t>
            </a:r>
            <a:r>
              <a:rPr lang="en-US" sz="1600" dirty="0" err="1"/>
              <a:t>yomon</a:t>
            </a:r>
            <a:r>
              <a:rPr lang="en-US" sz="1600" dirty="0"/>
              <a:t> </a:t>
            </a:r>
            <a:r>
              <a:rPr lang="en-US" sz="1600" dirty="0" err="1"/>
              <a:t>banklar</a:t>
            </a:r>
            <a:r>
              <a:rPr lang="en-US" sz="1600" dirty="0"/>
              <a:t>" (AMC) </a:t>
            </a:r>
            <a:r>
              <a:rPr lang="en-US" sz="1600" dirty="0" err="1"/>
              <a:t>faoliyatini</a:t>
            </a:r>
            <a:r>
              <a:rPr lang="en-US" sz="1600" dirty="0"/>
              <a:t> </a:t>
            </a:r>
            <a:r>
              <a:rPr lang="en-US" sz="1600" dirty="0" err="1"/>
              <a:t>tashkil</a:t>
            </a:r>
            <a:r>
              <a:rPr lang="en-US" sz="1600" dirty="0"/>
              <a:t> </a:t>
            </a:r>
            <a:r>
              <a:rPr lang="en-US" sz="1600" dirty="0" err="1"/>
              <a:t>etish</a:t>
            </a:r>
            <a:r>
              <a:rPr lang="en-US" sz="1600" dirty="0"/>
              <a:t> </a:t>
            </a:r>
            <a:r>
              <a:rPr lang="en-US" sz="1600" dirty="0" err="1"/>
              <a:t>va</a:t>
            </a:r>
            <a:r>
              <a:rPr lang="en-US" sz="1600" dirty="0"/>
              <a:t> </a:t>
            </a:r>
            <a:r>
              <a:rPr lang="en-US" sz="1600" dirty="0" err="1"/>
              <a:t>anderrayting</a:t>
            </a:r>
            <a:r>
              <a:rPr lang="en-US" sz="1600" dirty="0"/>
              <a:t> </a:t>
            </a:r>
            <a:r>
              <a:rPr lang="en-US" sz="1600" dirty="0" err="1"/>
              <a:t>jarayonlarini</a:t>
            </a:r>
            <a:r>
              <a:rPr lang="en-US" sz="1600" dirty="0"/>
              <a:t> </a:t>
            </a:r>
            <a:r>
              <a:rPr lang="en-US" sz="1600" dirty="0" err="1"/>
              <a:t>avtomatlashtirishning</a:t>
            </a:r>
            <a:r>
              <a:rPr lang="en-US" sz="1600" dirty="0"/>
              <a:t> </a:t>
            </a:r>
            <a:r>
              <a:rPr lang="en-US" sz="1600" dirty="0" err="1"/>
              <a:t>innovatsion</a:t>
            </a:r>
            <a:r>
              <a:rPr lang="en-US" sz="1600" dirty="0"/>
              <a:t> </a:t>
            </a:r>
            <a:r>
              <a:rPr lang="en-US" sz="1600" dirty="0" err="1"/>
              <a:t>uslubiyoti</a:t>
            </a:r>
            <a:r>
              <a:rPr lang="en-US" sz="1600" dirty="0"/>
              <a:t> </a:t>
            </a:r>
            <a:r>
              <a:rPr lang="en-US" sz="1600" dirty="0" err="1"/>
              <a:t>ishlab</a:t>
            </a:r>
            <a:r>
              <a:rPr lang="en-US" sz="1600" dirty="0"/>
              <a:t> </a:t>
            </a:r>
            <a:r>
              <a:rPr lang="en-US" sz="1600" dirty="0" err="1"/>
              <a:t>chiqiladi</a:t>
            </a:r>
            <a:r>
              <a:rPr lang="en-US" sz="1600" dirty="0"/>
              <a:t>. </a:t>
            </a:r>
            <a:endParaRPr lang="ru-RU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Прямоугольник: скругленные углы 5">
            <a:extLst>
              <a:ext uri="{FF2B5EF4-FFF2-40B4-BE49-F238E27FC236}">
                <a16:creationId xmlns:a16="http://schemas.microsoft.com/office/drawing/2014/main" id="{79BC729E-4183-44C3-9740-C106DE7A5AF9}"/>
              </a:ext>
            </a:extLst>
          </p:cNvPr>
          <p:cNvSpPr/>
          <p:nvPr/>
        </p:nvSpPr>
        <p:spPr>
          <a:xfrm>
            <a:off x="3333565" y="1164566"/>
            <a:ext cx="2476870" cy="5418796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/>
              <a:t>Klassifikatsiya </a:t>
            </a:r>
            <a:r>
              <a:rPr lang="en-US" sz="1400" b="1" dirty="0" err="1"/>
              <a:t>va</a:t>
            </a:r>
            <a:r>
              <a:rPr lang="en-US" sz="1400" b="1" dirty="0"/>
              <a:t> </a:t>
            </a:r>
            <a:r>
              <a:rPr lang="en-US" sz="1400" b="1" dirty="0" err="1"/>
              <a:t>konseptual</a:t>
            </a:r>
            <a:r>
              <a:rPr lang="en-US" sz="1400" b="1" dirty="0"/>
              <a:t> </a:t>
            </a:r>
            <a:r>
              <a:rPr lang="en-US" sz="1400" b="1" dirty="0" err="1"/>
              <a:t>modellar</a:t>
            </a:r>
            <a:r>
              <a:rPr lang="en-US" sz="1400" b="1" dirty="0"/>
              <a:t>:</a:t>
            </a:r>
            <a:r>
              <a:rPr lang="en-US" sz="1400" dirty="0"/>
              <a:t> </a:t>
            </a:r>
            <a:r>
              <a:rPr lang="en-US" sz="1400" dirty="0" err="1"/>
              <a:t>Muammoli</a:t>
            </a:r>
            <a:r>
              <a:rPr lang="en-US" sz="1400" dirty="0"/>
              <a:t> </a:t>
            </a:r>
            <a:r>
              <a:rPr lang="en-US" sz="1400" dirty="0" err="1"/>
              <a:t>kreditlarning</a:t>
            </a:r>
            <a:r>
              <a:rPr lang="en-US" sz="1400" dirty="0"/>
              <a:t> </a:t>
            </a:r>
            <a:r>
              <a:rPr lang="en-US" sz="1400" dirty="0" err="1"/>
              <a:t>yuzaga</a:t>
            </a:r>
            <a:r>
              <a:rPr lang="en-US" sz="1400" dirty="0"/>
              <a:t> </a:t>
            </a:r>
            <a:r>
              <a:rPr lang="en-US" sz="1400" dirty="0" err="1"/>
              <a:t>kelish</a:t>
            </a:r>
            <a:r>
              <a:rPr lang="en-US" sz="1400" dirty="0"/>
              <a:t> </a:t>
            </a:r>
            <a:r>
              <a:rPr lang="en-US" sz="1400" dirty="0" err="1"/>
              <a:t>omillari</a:t>
            </a:r>
            <a:r>
              <a:rPr lang="en-US" sz="1400" dirty="0"/>
              <a:t> </a:t>
            </a:r>
            <a:r>
              <a:rPr lang="en-US" sz="1400" dirty="0" err="1"/>
              <a:t>zamonaviy</a:t>
            </a:r>
            <a:r>
              <a:rPr lang="en-US" sz="1400" dirty="0"/>
              <a:t> </a:t>
            </a:r>
            <a:r>
              <a:rPr lang="en-US" sz="1400" dirty="0" err="1"/>
              <a:t>geoiqtisodiy</a:t>
            </a:r>
            <a:r>
              <a:rPr lang="en-US" sz="1400" dirty="0"/>
              <a:t> </a:t>
            </a:r>
            <a:r>
              <a:rPr lang="en-US" sz="1400" dirty="0" err="1"/>
              <a:t>tendensiyalardan</a:t>
            </a:r>
            <a:r>
              <a:rPr lang="en-US" sz="1400" dirty="0"/>
              <a:t> </a:t>
            </a:r>
            <a:r>
              <a:rPr lang="en-US" sz="1400" dirty="0" err="1"/>
              <a:t>kelib</a:t>
            </a:r>
            <a:r>
              <a:rPr lang="en-US" sz="1400" dirty="0"/>
              <a:t> </a:t>
            </a:r>
            <a:r>
              <a:rPr lang="en-US" sz="1400" dirty="0" err="1"/>
              <a:t>chiqib</a:t>
            </a:r>
            <a:r>
              <a:rPr lang="en-US" sz="1400" dirty="0"/>
              <a:t> </a:t>
            </a:r>
            <a:r>
              <a:rPr lang="en-US" sz="1400" dirty="0" err="1"/>
              <a:t>tizimlashtiriladi</a:t>
            </a:r>
            <a:r>
              <a:rPr lang="en-US" sz="1400" dirty="0"/>
              <a:t> </a:t>
            </a:r>
            <a:r>
              <a:rPr lang="en-US" sz="1400" dirty="0" err="1"/>
              <a:t>hamda</a:t>
            </a:r>
            <a:r>
              <a:rPr lang="en-US" sz="1400" dirty="0"/>
              <a:t> </a:t>
            </a:r>
            <a:r>
              <a:rPr lang="en-US" sz="1400" dirty="0" err="1"/>
              <a:t>ularni</a:t>
            </a:r>
            <a:r>
              <a:rPr lang="en-US" sz="1400" dirty="0"/>
              <a:t> </a:t>
            </a:r>
            <a:r>
              <a:rPr lang="en-US" sz="1400" dirty="0" err="1"/>
              <a:t>barvaqt</a:t>
            </a:r>
            <a:r>
              <a:rPr lang="en-US" sz="1400" dirty="0"/>
              <a:t> </a:t>
            </a:r>
            <a:r>
              <a:rPr lang="en-US" sz="1400" dirty="0" err="1"/>
              <a:t>prognozlashning</a:t>
            </a:r>
            <a:r>
              <a:rPr lang="en-US" sz="1400" dirty="0"/>
              <a:t> </a:t>
            </a:r>
            <a:r>
              <a:rPr lang="en-US" sz="1400" dirty="0" err="1"/>
              <a:t>konseptual</a:t>
            </a:r>
            <a:r>
              <a:rPr lang="en-US" sz="1400" dirty="0"/>
              <a:t> </a:t>
            </a:r>
            <a:r>
              <a:rPr lang="en-US" sz="1400" dirty="0" err="1"/>
              <a:t>modellari</a:t>
            </a:r>
            <a:r>
              <a:rPr lang="en-US" sz="1400" dirty="0"/>
              <a:t> </a:t>
            </a:r>
            <a:r>
              <a:rPr lang="en-US" sz="1400" dirty="0" err="1"/>
              <a:t>ilmiy</a:t>
            </a:r>
            <a:r>
              <a:rPr lang="en-US" sz="1400" dirty="0"/>
              <a:t> </a:t>
            </a:r>
            <a:r>
              <a:rPr lang="en-US" sz="1400" dirty="0" err="1"/>
              <a:t>jihatdan</a:t>
            </a:r>
            <a:r>
              <a:rPr lang="en-US" sz="1400" dirty="0"/>
              <a:t> </a:t>
            </a:r>
            <a:r>
              <a:rPr lang="en-US" sz="1400" dirty="0" err="1"/>
              <a:t>asoslanadi</a:t>
            </a:r>
            <a:r>
              <a:rPr lang="en-US" sz="1400" dirty="0"/>
              <a:t>.</a:t>
            </a:r>
            <a:endParaRPr lang="en-US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534687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5FFDD4D-13B3-408F-90C6-70F1558AC1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0618" y="60386"/>
            <a:ext cx="8529095" cy="905772"/>
          </a:xfrm>
        </p:spPr>
        <p:txBody>
          <a:bodyPr>
            <a:noAutofit/>
          </a:bodyPr>
          <a:lstStyle/>
          <a:p>
            <a:pPr algn="ctr"/>
            <a:r>
              <a:rPr 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TADQIQOT NATIJALARINING </a:t>
            </a:r>
            <a:r>
              <a:rPr lang="en-US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AMALIY </a:t>
            </a:r>
            <a:r>
              <a:rPr 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AHAMIYATI</a:t>
            </a:r>
            <a:endParaRPr lang="ru-RU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0" name="Схема 9"/>
          <p:cNvGraphicFramePr/>
          <p:nvPr>
            <p:extLst>
              <p:ext uri="{D42A27DB-BD31-4B8C-83A1-F6EECF244321}">
                <p14:modId xmlns:p14="http://schemas.microsoft.com/office/powerpoint/2010/main" val="333704321"/>
              </p:ext>
            </p:extLst>
          </p:nvPr>
        </p:nvGraphicFramePr>
        <p:xfrm>
          <a:off x="0" y="544749"/>
          <a:ext cx="9144000" cy="61770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7388934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37416"/>
          </a:xfrm>
        </p:spPr>
        <p:txBody>
          <a:bodyPr>
            <a:noAutofit/>
          </a:bodyPr>
          <a:lstStyle/>
          <a:p>
            <a:pPr algn="ctr"/>
            <a:r>
              <a:rPr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</a:t>
            </a:r>
            <a:r>
              <a:rPr lang="ru-RU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БЗОР</a:t>
            </a:r>
            <a:r>
              <a:rPr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НАУЧНО</a:t>
            </a:r>
            <a:r>
              <a:rPr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ru-RU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ТЕОРИТИЧЕСКИХ ВЗГЛЯДОВ</a:t>
            </a:r>
            <a:endParaRPr sz="2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12054"/>
            <a:ext cx="8229600" cy="5459767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</a:t>
            </a:r>
            <a:r>
              <a:rPr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Цифровизация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банковского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сектора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 </a:t>
            </a:r>
            <a:r>
              <a:rPr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развитие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банковских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экосистем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являются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одними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из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наиболее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актуальных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 </a:t>
            </a:r>
            <a:r>
              <a:rPr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динамично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развивающихся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направлений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современной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финансовой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науки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В </a:t>
            </a:r>
            <a:r>
              <a:rPr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последние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годы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данной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теме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уделяется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значительное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внимание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как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в </a:t>
            </a:r>
            <a:r>
              <a:rPr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работах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узбекских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так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 </a:t>
            </a:r>
            <a:r>
              <a:rPr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зарубежных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исследователей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 algn="just">
              <a:buNone/>
            </a:pPr>
            <a:endParaRPr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v"/>
            </a:pPr>
            <a:endParaRPr lang="ru-RU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v"/>
            </a:pPr>
            <a:endParaRPr lang="ru-RU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v"/>
            </a:pPr>
            <a:endParaRPr lang="ru-RU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v"/>
            </a:pPr>
            <a:endParaRPr lang="ru-RU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v"/>
            </a:pPr>
            <a:endParaRPr lang="ru-RU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v"/>
            </a:pPr>
            <a:endParaRPr lang="ru-RU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v"/>
            </a:pPr>
            <a:endParaRPr lang="ru-RU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ru-RU" sz="14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Горизонтальный свиток 4"/>
          <p:cNvSpPr/>
          <p:nvPr/>
        </p:nvSpPr>
        <p:spPr>
          <a:xfrm>
            <a:off x="457200" y="1749470"/>
            <a:ext cx="8298611" cy="1828800"/>
          </a:xfrm>
          <a:prstGeom prst="horizontalScrol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ru-RU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Теоретические основы </a:t>
            </a:r>
            <a:r>
              <a:rPr lang="ru-RU" sz="1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цифровизации</a:t>
            </a:r>
            <a:r>
              <a:rPr lang="ru-RU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банковской деятельности и ее влияния на развитие финансового сектора рассматриваются в трудах таких узбекских ученых, как Алимов А.А., Абдуллаева Ш.З., </a:t>
            </a:r>
            <a:r>
              <a:rPr lang="ru-RU" sz="1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Ташмухамедова</a:t>
            </a:r>
            <a:r>
              <a:rPr lang="ru-RU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Б.Т. и др. В частности, Алимов А.А. отмечает, что </a:t>
            </a:r>
            <a:r>
              <a:rPr lang="ru-RU" sz="1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цифровизация</a:t>
            </a:r>
            <a:r>
              <a:rPr lang="ru-RU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банковских продуктов и услуг является ключевым фактором повышения конкурентоспособности и эффективности банковской системы Узбекистана. По мнению автора, внедрение новых технологий, таких как искусственный интеллект, большие данные и </a:t>
            </a:r>
            <a:r>
              <a:rPr lang="ru-RU" sz="1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блокчейн</a:t>
            </a:r>
            <a:r>
              <a:rPr lang="ru-RU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позволяет банкам оптимизировать бизнес-процессы, снижать издержки и расширять спектр предоставляемых услуг.</a:t>
            </a:r>
          </a:p>
        </p:txBody>
      </p:sp>
      <p:sp>
        <p:nvSpPr>
          <p:cNvPr id="6" name="Горизонтальный свиток 5"/>
          <p:cNvSpPr/>
          <p:nvPr/>
        </p:nvSpPr>
        <p:spPr>
          <a:xfrm>
            <a:off x="457200" y="3578270"/>
            <a:ext cx="8298611" cy="1112808"/>
          </a:xfrm>
          <a:prstGeom prst="horizontalScrol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ru-RU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Абдуллаева Ш.З. в своем исследовании подчеркивает важность развития цифровых компетенций банковского персонала как необходимого условия успешной цифровой трансформации банков. Автор отмечает, что наличие квалифицированных кадров, обладающих знаниями и навыками в области цифровых технологий, является ключевым фактором реализации стратегий </a:t>
            </a:r>
            <a:r>
              <a:rPr lang="ru-RU" sz="1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цифровизации</a:t>
            </a:r>
            <a:r>
              <a:rPr lang="ru-RU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банковского бизнеса.</a:t>
            </a:r>
            <a:endParaRPr lang="en-US" sz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Горизонтальный свиток 6"/>
          <p:cNvSpPr/>
          <p:nvPr/>
        </p:nvSpPr>
        <p:spPr>
          <a:xfrm>
            <a:off x="457200" y="4691078"/>
            <a:ext cx="8328803" cy="1908130"/>
          </a:xfrm>
          <a:prstGeom prst="horizontalScrol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Значительный вклад в исследование процессов </a:t>
            </a:r>
            <a:r>
              <a:rPr lang="ru-RU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цифровизации</a:t>
            </a:r>
            <a:r>
              <a:rPr lang="ru-RU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банковской деятельности вносят и зарубежные ученые. Так, </a:t>
            </a:r>
            <a:r>
              <a:rPr lang="ru-RU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Ванг</a:t>
            </a:r>
            <a:r>
              <a:rPr lang="ru-RU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Г., </a:t>
            </a:r>
            <a:r>
              <a:rPr lang="ru-RU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Ванг</a:t>
            </a:r>
            <a:r>
              <a:rPr lang="ru-RU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Дж. в своей статье рассматривают влияние пандемии COVID-19 на ускорение цифровой трансформации банковского сектора. Авторы отмечают, что кризис стал катализатором внедрения цифровых технологий и развития дистанционных каналов обслуживания клиентов, таких как мобильный и онлайн-банкинг</a:t>
            </a:r>
            <a:endParaRPr lang="ru-RU" sz="1600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09645"/>
            <a:ext cx="8229600" cy="737416"/>
          </a:xfrm>
        </p:spPr>
        <p:txBody>
          <a:bodyPr>
            <a:noAutofit/>
          </a:bodyPr>
          <a:lstStyle/>
          <a:p>
            <a:pPr algn="ctr"/>
            <a:r>
              <a:rPr lang="es-E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ILMIY VA NAZARIY QARASHLARNI SHARHLASH</a:t>
            </a:r>
            <a:endParaRPr sz="2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12054"/>
            <a:ext cx="8229600" cy="5459767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</a:t>
            </a:r>
            <a:endParaRPr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v"/>
            </a:pPr>
            <a:endParaRPr lang="ru-RU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v"/>
            </a:pPr>
            <a:endParaRPr lang="ru-RU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v"/>
            </a:pPr>
            <a:endParaRPr lang="ru-RU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v"/>
            </a:pPr>
            <a:endParaRPr lang="ru-RU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ru-RU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Формирование банковской экосистемы на основе цифровых продуктов</a:t>
            </a:r>
            <a:endParaRPr lang="ru-RU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v"/>
            </a:pPr>
            <a:endParaRPr lang="ru-RU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v"/>
            </a:pPr>
            <a:endParaRPr lang="ru-RU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v"/>
            </a:pPr>
            <a:endParaRPr lang="ru-RU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ru-RU" sz="14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Горизонтальный свиток 4"/>
          <p:cNvSpPr/>
          <p:nvPr/>
        </p:nvSpPr>
        <p:spPr>
          <a:xfrm>
            <a:off x="487392" y="835070"/>
            <a:ext cx="8298611" cy="1828800"/>
          </a:xfrm>
          <a:prstGeom prst="horizontalScrol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Помогаева</a:t>
            </a:r>
            <a:r>
              <a:rPr lang="ru-RU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Е.А. в своем исследовании рассматривает лучшие мировые практики создания банковских экосистем и их применимость для российского рынка. Автор анализирует опыт таких компаний, как </a:t>
            </a:r>
            <a:r>
              <a:rPr lang="ru-RU" sz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Сбер</a:t>
            </a:r>
            <a:r>
              <a:rPr lang="ru-RU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Тинькофф, </a:t>
            </a:r>
            <a:r>
              <a:rPr lang="ru-RU" sz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Ant</a:t>
            </a:r>
            <a:r>
              <a:rPr lang="ru-RU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Financial</a:t>
            </a:r>
            <a:r>
              <a:rPr lang="ru-RU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и др., и выделяет ключевые факторы успеха в построении эффективных экосистем, такие как ориентация на клиента, гибкость и адаптивность бизнес-моделей, развитие партнерств и открытых API.</a:t>
            </a:r>
          </a:p>
          <a:p>
            <a:endParaRPr lang="ru-RU" sz="1400" dirty="0"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Рисунок 7" descr="missing image file"/>
          <p:cNvPicPr/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330" y="3053751"/>
            <a:ext cx="6010275" cy="352820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8708514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04526"/>
            <a:ext cx="8729931" cy="908649"/>
          </a:xfrm>
        </p:spPr>
        <p:txBody>
          <a:bodyPr>
            <a:noAutofit/>
          </a:bodyPr>
          <a:lstStyle/>
          <a:p>
            <a:pPr algn="ctr"/>
            <a:r>
              <a:rPr lang="es-ES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ILMIY VA NAZARIY QARASHLARNI SHARHLASH</a:t>
            </a:r>
            <a:endParaRPr sz="28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598" y="1414732"/>
            <a:ext cx="8120333" cy="4626631"/>
          </a:xfrm>
        </p:spPr>
        <p:txBody>
          <a:bodyPr>
            <a:noAutofit/>
          </a:bodyPr>
          <a:lstStyle/>
          <a:p>
            <a:pPr algn="just"/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Ряд исследователей фокусируется на изучении роли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финтех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-компаний в трансформации банковского рынка Узбекистана. Как отмечает Гафурова Г.Г., развитие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финтех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-экосистемы в стране открывает новые возможности для внедрения инновационных продуктов и услуг, повышения доступности финансовых сервисов и усиления конкуренции в банковском секторе. При этом важно сотрудничать банкам с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финтех-стартапами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а также необходимо создавать благоприятную регулярную среду для развития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финтех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-индустрии</a:t>
            </a:r>
            <a:r>
              <a:rPr lang="ru-RU" sz="1600" dirty="0"/>
              <a:t>.</a:t>
            </a:r>
          </a:p>
          <a:p>
            <a:pPr algn="just"/>
            <a:endParaRPr lang="ru-RU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Рисунок 4"/>
          <p:cNvPicPr/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4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70477" y="3313979"/>
            <a:ext cx="6936429" cy="3381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39149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45"/>
            <a:ext cx="8729931" cy="874144"/>
          </a:xfrm>
        </p:spPr>
        <p:txBody>
          <a:bodyPr>
            <a:noAutofit/>
          </a:bodyPr>
          <a:lstStyle/>
          <a:p>
            <a:pPr algn="ctr"/>
            <a:r>
              <a:rPr lang="es-ES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ILMIY VA NAZARIY QARASHLARNI SHARHLASH</a:t>
            </a:r>
            <a:endParaRPr sz="2800" b="1" dirty="0">
              <a:solidFill>
                <a:schemeClr val="accent2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4672" y="1380227"/>
            <a:ext cx="8445259" cy="1406105"/>
          </a:xfrm>
        </p:spPr>
        <p:txBody>
          <a:bodyPr>
            <a:noAutofit/>
          </a:bodyPr>
          <a:lstStyle/>
          <a:p>
            <a:pPr algn="just"/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Отдельного внимания заслуживают исследования, посвященные анализу влияния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цифровизации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на развитие исламского банкинга в Узбекистане. Как отмечают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Саидова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С.С., Мухаммедов М.М., внедрение цифровых технологий открывает новые возможности для повышения прозрачности, эффективности и доступности исламских финансовых продуктов и услуг. </a:t>
            </a:r>
          </a:p>
          <a:p>
            <a:pPr marL="0" indent="0" algn="just">
              <a:buNone/>
            </a:pPr>
            <a:endParaRPr lang="ru-RU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</a:p>
          <a:p>
            <a:pPr marL="0" indent="0" algn="just">
              <a:buNone/>
            </a:pPr>
            <a:endParaRPr lang="ru-RU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angle 6"/>
          <p:cNvSpPr>
            <a:spLocks noChangeArrowheads="1"/>
          </p:cNvSpPr>
          <p:nvPr/>
        </p:nvSpPr>
        <p:spPr bwMode="auto">
          <a:xfrm flipV="1">
            <a:off x="2774756" y="-1"/>
            <a:ext cx="6369244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graphicFrame>
        <p:nvGraphicFramePr>
          <p:cNvPr id="10" name="Объект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02249010"/>
              </p:ext>
            </p:extLst>
          </p:nvPr>
        </p:nvGraphicFramePr>
        <p:xfrm>
          <a:off x="612475" y="2855343"/>
          <a:ext cx="8048446" cy="355408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17" name="Visio" r:id="rId3" imgW="7229475" imgH="3552825" progId="Visio.Drawing.15">
                  <p:embed/>
                </p:oleObj>
              </mc:Choice>
              <mc:Fallback>
                <p:oleObj name="Visio" r:id="rId3" imgW="7229475" imgH="3552825" progId="Visio.Drawing.15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2475" y="2855343"/>
                        <a:ext cx="8048446" cy="3554083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31093605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2858"/>
            <a:ext cx="9143999" cy="874144"/>
          </a:xfrm>
        </p:spPr>
        <p:txBody>
          <a:bodyPr>
            <a:noAutofit/>
          </a:bodyPr>
          <a:lstStyle/>
          <a:p>
            <a:pPr algn="ctr"/>
            <a:r>
              <a:rPr lang="es-ES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ILMIY VA NAZARIY QARASHLARNI SHARHLASH</a:t>
            </a:r>
            <a:endParaRPr sz="2800" b="1" dirty="0">
              <a:solidFill>
                <a:schemeClr val="accent2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4672" y="1380227"/>
            <a:ext cx="8445259" cy="1406105"/>
          </a:xfrm>
        </p:spPr>
        <p:txBody>
          <a:bodyPr>
            <a:noAutofit/>
          </a:bodyPr>
          <a:lstStyle/>
          <a:p>
            <a:pPr algn="just"/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Джураев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Р., Алиева М. на основе анализа кейсов 5 успешных банковских экосистем в странах СНГ (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Сбер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Тинькофф,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Kaspi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Bank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Halyk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Bank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 TBC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Bank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выявили ключевые факторы успеха в построении цифровых экосистем. Авторы подчеркивают, что успешная реализация стратегии создания банковской экосистемы требует существенных инвестиций, изменения организационной структуры и культуры банков, а также готовности к экспериментам и быстрой адаптации к меняющимся потребностям клиентов.</a:t>
            </a:r>
          </a:p>
          <a:p>
            <a:pPr marL="0" indent="0" algn="just">
              <a:buNone/>
            </a:pPr>
            <a:endParaRPr lang="ru-RU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</a:p>
          <a:p>
            <a:pPr marL="0" indent="0" algn="just">
              <a:buNone/>
            </a:pPr>
            <a:endParaRPr lang="ru-RU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angle 6"/>
          <p:cNvSpPr>
            <a:spLocks noChangeArrowheads="1"/>
          </p:cNvSpPr>
          <p:nvPr/>
        </p:nvSpPr>
        <p:spPr bwMode="auto">
          <a:xfrm flipV="1">
            <a:off x="2774756" y="-1"/>
            <a:ext cx="6369244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pic>
        <p:nvPicPr>
          <p:cNvPr id="17" name="Рисунок 1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849" y="3390179"/>
            <a:ext cx="7125419" cy="29071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713337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4790"/>
            <a:ext cx="8229600" cy="843948"/>
          </a:xfrm>
        </p:spPr>
        <p:txBody>
          <a:bodyPr>
            <a:noAutofit/>
          </a:bodyPr>
          <a:lstStyle/>
          <a:p>
            <a:r>
              <a:rPr lang="en-US" sz="28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EMPIRIK TADQIQOTLARINING TAHLILI</a:t>
            </a:r>
            <a:endParaRPr sz="2800" b="1" dirty="0">
              <a:solidFill>
                <a:schemeClr val="accent2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Схема 3">
            <a:extLst>
              <a:ext uri="{FF2B5EF4-FFF2-40B4-BE49-F238E27FC236}">
                <a16:creationId xmlns:a16="http://schemas.microsoft.com/office/drawing/2014/main" id="{CBDCB2AD-CC8D-4BE1-AA1F-450A1137343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15493940"/>
              </p:ext>
            </p:extLst>
          </p:nvPr>
        </p:nvGraphicFramePr>
        <p:xfrm>
          <a:off x="106532" y="967666"/>
          <a:ext cx="9037468" cy="575273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51758"/>
            <a:ext cx="9143999" cy="908649"/>
          </a:xfrm>
        </p:spPr>
        <p:txBody>
          <a:bodyPr>
            <a:noAutofit/>
          </a:bodyPr>
          <a:lstStyle/>
          <a:p>
            <a:pPr algn="ctr"/>
            <a:r>
              <a:rPr lang="en-US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MAHALLIY NORMATIV VA QONUNIY HUJJATLARNI KO'RIB CHIQISH</a:t>
            </a:r>
            <a:endParaRPr sz="28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598" y="1414732"/>
            <a:ext cx="8120333" cy="5106838"/>
          </a:xfrm>
        </p:spPr>
        <p:txBody>
          <a:bodyPr>
            <a:noAutofit/>
          </a:bodyPr>
          <a:lstStyle/>
          <a:p>
            <a:pPr algn="just"/>
            <a:r>
              <a:rPr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Ключевым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документом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определяющим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стратегические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приоритеты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развития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цифровой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экономики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в </a:t>
            </a:r>
            <a:r>
              <a:rPr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Узбекистане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является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Указ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Президента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Республики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Узбекистан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"О </a:t>
            </a:r>
            <a:r>
              <a:rPr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стратегии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"</a:t>
            </a:r>
            <a:r>
              <a:rPr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Цифровой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Узбекистан-2030" и </a:t>
            </a:r>
            <a:r>
              <a:rPr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мерах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по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ее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эффективной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реализации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" </a:t>
            </a:r>
            <a:r>
              <a:rPr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от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5 </a:t>
            </a:r>
            <a:r>
              <a:rPr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октября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2020 </a:t>
            </a:r>
            <a:r>
              <a:rPr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года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Указ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2020). </a:t>
            </a:r>
            <a:r>
              <a:rPr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Данный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документ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устанавливает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амбициозные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цели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по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увеличению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доли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цифровой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экономики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в ВВП </a:t>
            </a:r>
            <a:r>
              <a:rPr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страны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до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30% к 2030 </a:t>
            </a:r>
            <a:r>
              <a:rPr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году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а </a:t>
            </a:r>
            <a:r>
              <a:rPr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также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предусматривает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комплекс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мер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по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цифровизации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ключевых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отраслей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включая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банковский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сектор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Закон Республики Узбекистан "О защите прав потребителей" в новой редакции от 12 октября 2021 года, № ЗРУ-728.</a:t>
            </a:r>
          </a:p>
          <a:p>
            <a:pPr lvl="0"/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Закон Республики Узбекистан "Об информатизации" в новой редакции от 15 июля 2021 года, № ЗРУ-713.</a:t>
            </a:r>
          </a:p>
          <a:p>
            <a:pPr lvl="0"/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Постановление Президента Республики Узбекистан "О мерах по дальнейшему развитию и повышению устойчивости банковской системы республики" от 12 мая 2020 года, № ПП-4720.</a:t>
            </a:r>
          </a:p>
          <a:p>
            <a:pPr lvl="0"/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Постановление Правления Центрального банка Республики Узбекистан "О мерах по дальнейшему развитию цифровых банковских технологий" от 23 марта 2021 года, № 6/1.</a:t>
            </a:r>
          </a:p>
          <a:p>
            <a:pPr lvl="0"/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Постановление Правления Центрального банка Республики Узбекистан "О требованиях к деятельности платежных организаций" от 5 июня 2021 года, № 14/2.</a:t>
            </a:r>
          </a:p>
          <a:p>
            <a:pPr lvl="0"/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Постановление Правления Центрального банка Республики Узбекистан "О регулировании деятельности операторов платежных систем" от 12 декабря 2020 года, № 32/4.</a:t>
            </a:r>
          </a:p>
          <a:p>
            <a:pPr algn="just"/>
            <a:endParaRPr sz="1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7844288" cy="891396"/>
          </a:xfrm>
        </p:spPr>
        <p:txBody>
          <a:bodyPr>
            <a:normAutofit/>
          </a:bodyPr>
          <a:lstStyle/>
          <a:p>
            <a:pPr algn="ctr"/>
            <a:r>
              <a:rPr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</a:t>
            </a:r>
            <a:r>
              <a:rPr lang="ru-RU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РОЦЕСС СБОРА ДАННЫХ </a:t>
            </a:r>
            <a:endParaRPr sz="3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1925" y="1362975"/>
            <a:ext cx="8022566" cy="3838754"/>
          </a:xfrm>
        </p:spPr>
        <p:txBody>
          <a:bodyPr>
            <a:noAutofit/>
          </a:bodyPr>
          <a:lstStyle/>
          <a:p>
            <a:pPr algn="just"/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 </a:t>
            </a:r>
            <a:r>
              <a:rPr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рамках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данного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исследования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посвященного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перспективам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цифровизации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банковских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продуктов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 </a:t>
            </a:r>
            <a:r>
              <a:rPr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формированию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экосистемы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АКБ </a:t>
            </a:r>
            <a:r>
              <a:rPr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Капиталбанка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использова</a:t>
            </a:r>
            <a:r>
              <a:rPr lang="ru-RU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лся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комплексный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подход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к </a:t>
            </a:r>
            <a:r>
              <a:rPr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сбору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данных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сочетающий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различные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методы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 </a:t>
            </a:r>
            <a:r>
              <a:rPr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источники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информации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r>
              <a:rPr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Первы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й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шаг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определение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ключевых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показателей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 </a:t>
            </a:r>
            <a:r>
              <a:rPr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индикаторов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релевантных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для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целей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 </a:t>
            </a:r>
            <a:r>
              <a:rPr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задач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исследования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lang="ru-RU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uz-Cyrl-UZ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Следующий шаг - определение источников и методов сбора данных по выделенным показателям. В исследовании используются количественные и качественные методы.</a:t>
            </a:r>
          </a:p>
          <a:p>
            <a:pPr algn="just"/>
            <a:r>
              <a:rPr lang="uz-Cyrl-UZ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 этапе сбора данных осуществлялся постоянный мониторинг и контроль процесса со стороны исследователя. Принимались меры по обеспечению анонимности и конфиденциальности участников исследования, получения их информированного согласия, соблюдения этических норм и принципов проведения исследований.</a:t>
            </a:r>
          </a:p>
          <a:p>
            <a:pPr algn="just"/>
            <a:r>
              <a:rPr lang="uz-Cyrl-UZ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Таким образом, процесс сбора данных в рамках диссертационного исследования по перспективам цифровизации банковских продуктов и формированию экосистемы 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АКБ </a:t>
            </a:r>
            <a:r>
              <a:rPr lang="ru-RU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Капиталбанка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uz-Cyrl-UZ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будет носить комплексный и многоэтапный характер, сочетающий использование количественных и качественных методов, первичных и вторичных источников информации. Особое внимание будет уделяться обеспечению качества, полноты и достоверности собираемых данных на всех этапах исследования - от разработки инструментов до интерпретации и презентации результатов. </a:t>
            </a:r>
            <a:endParaRPr lang="ru-RU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7"/>
            <a:ext cx="8229600" cy="1373008"/>
          </a:xfrm>
        </p:spPr>
        <p:txBody>
          <a:bodyPr>
            <a:noAutofit/>
          </a:bodyPr>
          <a:lstStyle/>
          <a:p>
            <a:pPr algn="ctr"/>
            <a:r>
              <a:rPr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</a:t>
            </a:r>
            <a:r>
              <a:rPr lang="ru-RU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НАЛИЗ ТЕКУЩЕГО СОСТОЯНИЯ ЦИФРОВИЗАЦИИ БАНКОВСКИХ ПРОДУКТОВ</a:t>
            </a:r>
            <a:r>
              <a:rPr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АКБ </a:t>
            </a:r>
            <a:r>
              <a:rPr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</a:t>
            </a:r>
            <a:r>
              <a:rPr lang="ru-RU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АПИТАЛБАНКА</a:t>
            </a:r>
            <a:endParaRPr sz="28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47645"/>
            <a:ext cx="8229600" cy="5090506"/>
          </a:xfrm>
        </p:spPr>
        <p:txBody>
          <a:bodyPr>
            <a:noAutofit/>
          </a:bodyPr>
          <a:lstStyle/>
          <a:p>
            <a:pPr algn="just"/>
            <a:r>
              <a:rPr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Акционерно-коммерческий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банк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"</a:t>
            </a:r>
            <a:r>
              <a:rPr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Капиталбанк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" </a:t>
            </a:r>
            <a:r>
              <a:rPr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является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одним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из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ведущих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частных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банков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Узбекистана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активно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внедряющим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цифровые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технологии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 </a:t>
            </a:r>
            <a:r>
              <a:rPr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развивающим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инновационные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банковские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продукты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 </a:t>
            </a:r>
            <a:r>
              <a:rPr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услуги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Согласно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стратегии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развития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банка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на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2022-2024 </a:t>
            </a:r>
            <a:r>
              <a:rPr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годы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цифровая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трансформация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определена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в </a:t>
            </a:r>
            <a:r>
              <a:rPr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качестве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одной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из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ключевых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целей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наряду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с </a:t>
            </a:r>
            <a:r>
              <a:rPr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улучшением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рыночной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позиции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 </a:t>
            </a:r>
            <a:r>
              <a:rPr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повышением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эффективности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бизнеса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 состоянию на 31 декабря 2024 года, Банк осуществляет банковскую деятельность через Головной офис и имеет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16 филиалов, 4 центра банковских услуг, 70 офисов банковских услуг, а также 23 мини–банка на территории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Республики Узбекистан (2023 год: 16 филиалов, 4 центра банковских услуг, 60 офисов банковских услуг и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24 мини- банка).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Диаграмма 3"/>
          <p:cNvGraphicFramePr/>
          <p:nvPr>
            <p:extLst>
              <p:ext uri="{D42A27DB-BD31-4B8C-83A1-F6EECF244321}">
                <p14:modId xmlns:p14="http://schemas.microsoft.com/office/powerpoint/2010/main" val="3237446207"/>
              </p:ext>
            </p:extLst>
          </p:nvPr>
        </p:nvGraphicFramePr>
        <p:xfrm>
          <a:off x="854015" y="3610155"/>
          <a:ext cx="6452559" cy="292866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F9321DE-C38A-4598-93C3-6E88EA52AA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" y="609600"/>
            <a:ext cx="7292197" cy="1320800"/>
          </a:xfrm>
        </p:spPr>
        <p:txBody>
          <a:bodyPr>
            <a:noAutofit/>
          </a:bodyPr>
          <a:lstStyle/>
          <a:p>
            <a:pPr algn="ctr"/>
            <a:r>
              <a:rPr lang="ru-RU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Цифровая трансформация. Лидерство в области цифрового банкинга</a:t>
            </a:r>
          </a:p>
        </p:txBody>
      </p:sp>
      <p:pic>
        <p:nvPicPr>
          <p:cNvPr id="4" name="Объект 3">
            <a:extLst>
              <a:ext uri="{FF2B5EF4-FFF2-40B4-BE49-F238E27FC236}">
                <a16:creationId xmlns:a16="http://schemas.microsoft.com/office/drawing/2014/main" id="{DA88B9E3-36B9-4AD3-82ED-D38B6F78E48E}"/>
              </a:ext>
            </a:extLst>
          </p:cNvPr>
          <p:cNvPicPr>
            <a:picLocks noGrp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/>
        </p:blipFill>
        <p:spPr bwMode="auto">
          <a:xfrm>
            <a:off x="609600" y="2278841"/>
            <a:ext cx="6348413" cy="364493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80916673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F9321DE-C38A-4598-93C3-6E88EA52AA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" y="609600"/>
            <a:ext cx="7645880" cy="960408"/>
          </a:xfrm>
        </p:spPr>
        <p:txBody>
          <a:bodyPr>
            <a:noAutofit/>
          </a:bodyPr>
          <a:lstStyle/>
          <a:p>
            <a:pPr algn="ctr"/>
            <a:r>
              <a:rPr lang="ru-RU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Эволюция </a:t>
            </a:r>
            <a:r>
              <a:rPr lang="ru-RU" sz="28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цифровизации</a:t>
            </a:r>
            <a:r>
              <a:rPr lang="ru-RU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br>
              <a:rPr lang="ru-RU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АКБ </a:t>
            </a:r>
            <a:r>
              <a:rPr lang="ru-RU" sz="28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Капиталбанка</a:t>
            </a:r>
            <a:endParaRPr lang="ru-RU" sz="28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0" y="6096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graphicFrame>
        <p:nvGraphicFramePr>
          <p:cNvPr id="6" name="Объект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64930407"/>
              </p:ext>
            </p:extLst>
          </p:nvPr>
        </p:nvGraphicFramePr>
        <p:xfrm>
          <a:off x="397586" y="1683435"/>
          <a:ext cx="7409319" cy="45694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77" name="Visio" r:id="rId3" imgW="9906000" imgH="6848475" progId="Visio.Drawing.15">
                  <p:embed/>
                </p:oleObj>
              </mc:Choice>
              <mc:Fallback>
                <p:oleObj name="Visio" r:id="rId3" imgW="9906000" imgH="6848475" progId="Visio.Drawing.15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7586" y="1683435"/>
                        <a:ext cx="7409319" cy="456943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82477640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AC290EF-141E-4A29-8CB8-7D2C5DCBBE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627260"/>
            <a:ext cx="6223247" cy="433790"/>
          </a:xfrm>
        </p:spPr>
        <p:txBody>
          <a:bodyPr>
            <a:normAutofit fontScale="90000"/>
          </a:bodyPr>
          <a:lstStyle/>
          <a:p>
            <a:pPr algn="ctr"/>
            <a:r>
              <a:rPr lang="ru-RU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Карта цифровой экосистемы </a:t>
            </a:r>
            <a:r>
              <a:rPr 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UZUM</a:t>
            </a:r>
            <a:endParaRPr lang="ru-RU" sz="2400" b="1" dirty="0">
              <a:solidFill>
                <a:schemeClr val="tx1"/>
              </a:solidFill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040CCED-5576-4357-9C01-0DE5B23F7C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6649" y="4011400"/>
            <a:ext cx="8876582" cy="3039092"/>
          </a:xfrm>
        </p:spPr>
        <p:txBody>
          <a:bodyPr>
            <a:normAutofit fontScale="92500" lnSpcReduction="20000"/>
          </a:bodyPr>
          <a:lstStyle/>
          <a:p>
            <a:pPr algn="just"/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Цифровая трансформация </a:t>
            </a:r>
            <a:r>
              <a:rPr lang="ru-RU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Капиталбанка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связана с интеграцией банка в состав холдинга </a:t>
            </a:r>
            <a:r>
              <a:rPr lang="ru-RU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Uzum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объединяющего ряд быстрорастущих технологических компаний Узбекистана. </a:t>
            </a:r>
          </a:p>
          <a:p>
            <a:pPr algn="just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ru-RU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ервисами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Uzum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ежемеячно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пользуются более 15 млн жителей страны.</a:t>
            </a:r>
          </a:p>
          <a:p>
            <a:pPr algn="just"/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Трансформация с помощью цифровизации </a:t>
            </a:r>
            <a:r>
              <a:rPr lang="ru-RU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Капиталбанка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осуществляется на фоне устойчивого финансового положения и высоких темпов роста бизнеса. По оценке рейтингового агентства </a:t>
            </a:r>
            <a:r>
              <a:rPr lang="ru-RU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Moody's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в 2023 году банк достиг рекордного уровня чистой прибыли в 1,7 трлн </a:t>
            </a:r>
            <a:r>
              <a:rPr lang="ru-RU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сум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сохранив рейтинг B2 со стабильным прогнозом. Аналитики </a:t>
            </a:r>
            <a:r>
              <a:rPr lang="ru-RU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Moody's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отметили эффективную бизнес-модель банка, устойчивые финансовые показатели и высокое качество активов, сбалансированные с динамичным ростом. Уровень проблемных кредитов </a:t>
            </a:r>
            <a:r>
              <a:rPr lang="ru-RU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Капиталбанка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остается одним из самых низких на рынке - всего 1,65% от общего кредитного портфеля по итогам 2023 года.</a:t>
            </a:r>
          </a:p>
          <a:p>
            <a:pPr algn="just"/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 2024 году 3 июля международное рейтинговое </a:t>
            </a:r>
            <a:r>
              <a:rPr lang="ru-RU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агенство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Fitch Ratings 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присвоило </a:t>
            </a:r>
            <a:r>
              <a:rPr lang="ru-RU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Капитабанку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долгосрочный рейтинг дефолта эмитента в иностранной валюте на уровне В с прогнозом «Стабильный». Аналитики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Fitch Ratings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высокие темпы роста прибыли банка за последние три года, рентабельность капитала на уровне 50%, соотношение кредитов к депозитам 90% при среднем показатели в 200% по рынку, а также низкий коэффициент проблемных кредитов -1,7%, что является одним из наиболее низким показателем в секторе. Согласно прогнозу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Fitch Ratings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Капиталбанк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продолжит расти темпами выше среднего 20-25% в год в 2024-2026 годах.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B177CB6D-FB3A-4085-82F3-A1B28D23EC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0966" y="123789"/>
            <a:ext cx="2493034" cy="1391439"/>
          </a:xfrm>
          <a:prstGeom prst="rect">
            <a:avLst/>
          </a:prstGeom>
        </p:spPr>
      </p:pic>
      <p:sp>
        <p:nvSpPr>
          <p:cNvPr id="7" name="Rectangle 4"/>
          <p:cNvSpPr>
            <a:spLocks noChangeArrowheads="1"/>
          </p:cNvSpPr>
          <p:nvPr/>
        </p:nvSpPr>
        <p:spPr bwMode="auto">
          <a:xfrm>
            <a:off x="146648" y="819509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graphicFrame>
        <p:nvGraphicFramePr>
          <p:cNvPr id="8" name="Объект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77166029"/>
              </p:ext>
            </p:extLst>
          </p:nvPr>
        </p:nvGraphicFramePr>
        <p:xfrm>
          <a:off x="603849" y="1515228"/>
          <a:ext cx="5753819" cy="24356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57" name="Visio" r:id="rId4" imgW="6762750" imgH="5143500" progId="Visio.Drawing.15">
                  <p:embed/>
                </p:oleObj>
              </mc:Choice>
              <mc:Fallback>
                <p:oleObj name="Visio" r:id="rId4" imgW="6762750" imgH="5143500" progId="Visio.Drawing.15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3849" y="1515228"/>
                        <a:ext cx="5753819" cy="243567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76837175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77374CD-CF4F-476E-9F36-12AD511F4E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6069" y="170721"/>
            <a:ext cx="4321040" cy="1166373"/>
          </a:xfrm>
        </p:spPr>
        <p:txBody>
          <a:bodyPr>
            <a:noAutofit/>
          </a:bodyPr>
          <a:lstStyle/>
          <a:p>
            <a:pPr algn="ctr"/>
            <a:r>
              <a:rPr lang="ru-RU" sz="20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Динамика ключевых показателей цифрового бизнеса </a:t>
            </a:r>
            <a:br>
              <a:rPr lang="ru-RU" sz="20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0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АКБ </a:t>
            </a:r>
            <a:r>
              <a:rPr lang="ru-RU" sz="2000" b="1" dirty="0" err="1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Капиталбанка</a:t>
            </a:r>
            <a:r>
              <a:rPr lang="ru-RU" sz="20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за 2022-2024 гг.</a:t>
            </a:r>
          </a:p>
        </p:txBody>
      </p:sp>
      <p:graphicFrame>
        <p:nvGraphicFramePr>
          <p:cNvPr id="4" name="Объект 3">
            <a:extLst>
              <a:ext uri="{FF2B5EF4-FFF2-40B4-BE49-F238E27FC236}">
                <a16:creationId xmlns:a16="http://schemas.microsoft.com/office/drawing/2014/main" id="{E031AFAD-0533-47F7-B57A-7FE41652C8D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40947128"/>
              </p:ext>
            </p:extLst>
          </p:nvPr>
        </p:nvGraphicFramePr>
        <p:xfrm>
          <a:off x="156069" y="1337093"/>
          <a:ext cx="4321040" cy="5476229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966602">
                  <a:extLst>
                    <a:ext uri="{9D8B030D-6E8A-4147-A177-3AD203B41FA5}">
                      <a16:colId xmlns:a16="http://schemas.microsoft.com/office/drawing/2014/main" val="2757721715"/>
                    </a:ext>
                  </a:extLst>
                </a:gridCol>
                <a:gridCol w="426190">
                  <a:extLst>
                    <a:ext uri="{9D8B030D-6E8A-4147-A177-3AD203B41FA5}">
                      <a16:colId xmlns:a16="http://schemas.microsoft.com/office/drawing/2014/main" val="951498174"/>
                    </a:ext>
                  </a:extLst>
                </a:gridCol>
                <a:gridCol w="514679">
                  <a:extLst>
                    <a:ext uri="{9D8B030D-6E8A-4147-A177-3AD203B41FA5}">
                      <a16:colId xmlns:a16="http://schemas.microsoft.com/office/drawing/2014/main" val="2728528720"/>
                    </a:ext>
                  </a:extLst>
                </a:gridCol>
                <a:gridCol w="640187">
                  <a:extLst>
                    <a:ext uri="{9D8B030D-6E8A-4147-A177-3AD203B41FA5}">
                      <a16:colId xmlns:a16="http://schemas.microsoft.com/office/drawing/2014/main" val="403880531"/>
                    </a:ext>
                  </a:extLst>
                </a:gridCol>
                <a:gridCol w="765245">
                  <a:extLst>
                    <a:ext uri="{9D8B030D-6E8A-4147-A177-3AD203B41FA5}">
                      <a16:colId xmlns:a16="http://schemas.microsoft.com/office/drawing/2014/main" val="146092766"/>
                    </a:ext>
                  </a:extLst>
                </a:gridCol>
                <a:gridCol w="1008137">
                  <a:extLst>
                    <a:ext uri="{9D8B030D-6E8A-4147-A177-3AD203B41FA5}">
                      <a16:colId xmlns:a16="http://schemas.microsoft.com/office/drawing/2014/main" val="978844539"/>
                    </a:ext>
                  </a:extLst>
                </a:gridCol>
              </a:tblGrid>
              <a:tr h="564042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900">
                          <a:effectLst/>
                        </a:rPr>
                        <a:t>Показатель</a:t>
                      </a:r>
                      <a:endParaRPr lang="ru-RU" sz="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3561" marR="43561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900">
                          <a:effectLst/>
                        </a:rPr>
                        <a:t>2021</a:t>
                      </a:r>
                      <a:endParaRPr lang="ru-RU" sz="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3561" marR="43561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900">
                          <a:effectLst/>
                        </a:rPr>
                        <a:t>2022</a:t>
                      </a:r>
                      <a:endParaRPr lang="ru-RU" sz="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3561" marR="43561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900">
                          <a:effectLst/>
                        </a:rPr>
                        <a:t>2023</a:t>
                      </a:r>
                      <a:endParaRPr lang="ru-RU" sz="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3561" marR="43561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900">
                          <a:effectLst/>
                        </a:rPr>
                        <a:t>2024</a:t>
                      </a:r>
                      <a:endParaRPr lang="ru-RU" sz="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3561" marR="43561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900">
                          <a:effectLst/>
                        </a:rPr>
                        <a:t>Темпы роста или изменения (2021-2024)</a:t>
                      </a:r>
                      <a:endParaRPr lang="ru-RU" sz="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3561" marR="43561" marT="0" marB="0" anchor="ctr"/>
                </a:tc>
                <a:extLst>
                  <a:ext uri="{0D108BD9-81ED-4DB2-BD59-A6C34878D82A}">
                    <a16:rowId xmlns:a16="http://schemas.microsoft.com/office/drawing/2014/main" val="1698341657"/>
                  </a:ext>
                </a:extLst>
              </a:tr>
              <a:tr h="56404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900">
                          <a:effectLst/>
                        </a:rPr>
                        <a:t>Доля цифровых каналов в продажах, %</a:t>
                      </a:r>
                      <a:endParaRPr lang="ru-RU" sz="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3561" marR="43561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900">
                          <a:effectLst/>
                        </a:rPr>
                        <a:t>40%</a:t>
                      </a:r>
                      <a:endParaRPr lang="ru-RU" sz="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3561" marR="43561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900">
                          <a:effectLst/>
                        </a:rPr>
                        <a:t>60%</a:t>
                      </a:r>
                      <a:endParaRPr lang="ru-RU" sz="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3561" marR="43561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900">
                          <a:effectLst/>
                        </a:rPr>
                        <a:t>80%</a:t>
                      </a:r>
                      <a:endParaRPr lang="ru-RU" sz="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3561" marR="43561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900">
                          <a:effectLst/>
                        </a:rPr>
                        <a:t>90%</a:t>
                      </a:r>
                      <a:endParaRPr lang="ru-RU" sz="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3561" marR="43561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900">
                          <a:effectLst/>
                        </a:rPr>
                        <a:t>+50 п.п. или рост в 2,25 раза</a:t>
                      </a:r>
                      <a:endParaRPr lang="ru-RU" sz="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3561" marR="43561" marT="0" marB="0" anchor="ctr"/>
                </a:tc>
                <a:extLst>
                  <a:ext uri="{0D108BD9-81ED-4DB2-BD59-A6C34878D82A}">
                    <a16:rowId xmlns:a16="http://schemas.microsoft.com/office/drawing/2014/main" val="3842368306"/>
                  </a:ext>
                </a:extLst>
              </a:tr>
              <a:tr h="1361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900">
                          <a:effectLst/>
                        </a:rPr>
                        <a:t>в том числе:</a:t>
                      </a:r>
                      <a:endParaRPr lang="ru-RU" sz="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3561" marR="43561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900">
                          <a:effectLst/>
                        </a:rPr>
                        <a:t> </a:t>
                      </a:r>
                      <a:endParaRPr lang="ru-RU" sz="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3561" marR="43561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900">
                          <a:effectLst/>
                        </a:rPr>
                        <a:t> </a:t>
                      </a:r>
                      <a:endParaRPr lang="ru-RU" sz="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3561" marR="43561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900">
                          <a:effectLst/>
                        </a:rPr>
                        <a:t> </a:t>
                      </a:r>
                      <a:endParaRPr lang="ru-RU" sz="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3561" marR="43561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900">
                          <a:effectLst/>
                        </a:rPr>
                        <a:t> </a:t>
                      </a:r>
                      <a:endParaRPr lang="ru-RU" sz="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3561" marR="43561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endParaRPr lang="ru-RU" sz="7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3561" marR="43561" marT="0" marB="0" anchor="ctr"/>
                </a:tc>
                <a:extLst>
                  <a:ext uri="{0D108BD9-81ED-4DB2-BD59-A6C34878D82A}">
                    <a16:rowId xmlns:a16="http://schemas.microsoft.com/office/drawing/2014/main" val="2275379448"/>
                  </a:ext>
                </a:extLst>
              </a:tr>
              <a:tr h="42012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900">
                          <a:effectLst/>
                        </a:rPr>
                        <a:t>мобильный банк</a:t>
                      </a:r>
                      <a:endParaRPr lang="ru-RU" sz="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3561" marR="43561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900">
                          <a:effectLst/>
                        </a:rPr>
                        <a:t>20%</a:t>
                      </a:r>
                      <a:endParaRPr lang="ru-RU" sz="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3561" marR="43561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900">
                          <a:effectLst/>
                        </a:rPr>
                        <a:t>35%</a:t>
                      </a:r>
                      <a:endParaRPr lang="ru-RU" sz="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3561" marR="43561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900">
                          <a:effectLst/>
                        </a:rPr>
                        <a:t>50%</a:t>
                      </a:r>
                      <a:endParaRPr lang="ru-RU" sz="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3561" marR="43561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900">
                          <a:effectLst/>
                        </a:rPr>
                        <a:t>65%</a:t>
                      </a:r>
                      <a:endParaRPr lang="ru-RU" sz="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3561" marR="43561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900">
                          <a:effectLst/>
                        </a:rPr>
                        <a:t>+45 п.п. или рост в 3,25 раза</a:t>
                      </a:r>
                      <a:endParaRPr lang="ru-RU" sz="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3561" marR="43561" marT="0" marB="0" anchor="ctr"/>
                </a:tc>
                <a:extLst>
                  <a:ext uri="{0D108BD9-81ED-4DB2-BD59-A6C34878D82A}">
                    <a16:rowId xmlns:a16="http://schemas.microsoft.com/office/drawing/2014/main" val="2776905832"/>
                  </a:ext>
                </a:extLst>
              </a:tr>
              <a:tr h="42012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900">
                          <a:effectLst/>
                        </a:rPr>
                        <a:t>интернет-банк</a:t>
                      </a:r>
                      <a:endParaRPr lang="ru-RU" sz="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3561" marR="43561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900">
                          <a:effectLst/>
                        </a:rPr>
                        <a:t>15%</a:t>
                      </a:r>
                      <a:endParaRPr lang="ru-RU" sz="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3561" marR="43561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900">
                          <a:effectLst/>
                        </a:rPr>
                        <a:t>20%</a:t>
                      </a:r>
                      <a:endParaRPr lang="ru-RU" sz="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3561" marR="43561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900">
                          <a:effectLst/>
                        </a:rPr>
                        <a:t>25%</a:t>
                      </a:r>
                      <a:endParaRPr lang="ru-RU" sz="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3561" marR="43561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900">
                          <a:effectLst/>
                        </a:rPr>
                        <a:t>20%</a:t>
                      </a:r>
                      <a:endParaRPr lang="ru-RU" sz="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3561" marR="43561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900">
                          <a:effectLst/>
                        </a:rPr>
                        <a:t>+5 п.п. или рост в 1,33 раза</a:t>
                      </a:r>
                      <a:endParaRPr lang="ru-RU" sz="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3561" marR="43561" marT="0" marB="0" anchor="ctr"/>
                </a:tc>
                <a:extLst>
                  <a:ext uri="{0D108BD9-81ED-4DB2-BD59-A6C34878D82A}">
                    <a16:rowId xmlns:a16="http://schemas.microsoft.com/office/drawing/2014/main" val="3348591844"/>
                  </a:ext>
                </a:extLst>
              </a:tr>
              <a:tr h="27619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900">
                          <a:effectLst/>
                        </a:rPr>
                        <a:t>банкоматы и терминалы</a:t>
                      </a:r>
                      <a:endParaRPr lang="ru-RU" sz="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3561" marR="43561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900">
                          <a:effectLst/>
                        </a:rPr>
                        <a:t>5%</a:t>
                      </a:r>
                      <a:endParaRPr lang="ru-RU" sz="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3561" marR="43561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900">
                          <a:effectLst/>
                        </a:rPr>
                        <a:t>5%</a:t>
                      </a:r>
                      <a:endParaRPr lang="ru-RU" sz="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3561" marR="43561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900">
                          <a:effectLst/>
                        </a:rPr>
                        <a:t>5%</a:t>
                      </a:r>
                      <a:endParaRPr lang="ru-RU" sz="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3561" marR="43561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900">
                          <a:effectLst/>
                        </a:rPr>
                        <a:t>5%</a:t>
                      </a:r>
                      <a:endParaRPr lang="ru-RU" sz="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3561" marR="43561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900">
                          <a:effectLst/>
                        </a:rPr>
                        <a:t>без изменений</a:t>
                      </a:r>
                      <a:endParaRPr lang="ru-RU" sz="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3561" marR="43561" marT="0" marB="0" anchor="ctr"/>
                </a:tc>
                <a:extLst>
                  <a:ext uri="{0D108BD9-81ED-4DB2-BD59-A6C34878D82A}">
                    <a16:rowId xmlns:a16="http://schemas.microsoft.com/office/drawing/2014/main" val="2263064344"/>
                  </a:ext>
                </a:extLst>
              </a:tr>
              <a:tr h="70796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900">
                          <a:effectLst/>
                        </a:rPr>
                        <a:t>Доля цифровых каналов в трансакциях, %</a:t>
                      </a:r>
                      <a:endParaRPr lang="ru-RU" sz="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3561" marR="43561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900">
                          <a:effectLst/>
                        </a:rPr>
                        <a:t>65%</a:t>
                      </a:r>
                      <a:endParaRPr lang="ru-RU" sz="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3561" marR="43561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900">
                          <a:effectLst/>
                        </a:rPr>
                        <a:t>80%</a:t>
                      </a:r>
                      <a:endParaRPr lang="ru-RU" sz="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3561" marR="43561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900">
                          <a:effectLst/>
                        </a:rPr>
                        <a:t>90%</a:t>
                      </a:r>
                      <a:endParaRPr lang="ru-RU" sz="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3561" marR="43561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900">
                          <a:effectLst/>
                        </a:rPr>
                        <a:t>95%</a:t>
                      </a:r>
                      <a:endParaRPr lang="ru-RU" sz="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3561" marR="43561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900">
                          <a:effectLst/>
                        </a:rPr>
                        <a:t>+30 п.п. или рост в 1,46 раза</a:t>
                      </a:r>
                      <a:endParaRPr lang="ru-RU" sz="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3561" marR="43561" marT="0" marB="0" anchor="ctr"/>
                </a:tc>
                <a:extLst>
                  <a:ext uri="{0D108BD9-81ED-4DB2-BD59-A6C34878D82A}">
                    <a16:rowId xmlns:a16="http://schemas.microsoft.com/office/drawing/2014/main" val="75803660"/>
                  </a:ext>
                </a:extLst>
              </a:tr>
              <a:tr h="1361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900">
                          <a:effectLst/>
                        </a:rPr>
                        <a:t>в том числе:</a:t>
                      </a:r>
                      <a:endParaRPr lang="ru-RU" sz="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3561" marR="43561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900">
                          <a:effectLst/>
                        </a:rPr>
                        <a:t> </a:t>
                      </a:r>
                      <a:endParaRPr lang="ru-RU" sz="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3561" marR="43561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900">
                          <a:effectLst/>
                        </a:rPr>
                        <a:t> </a:t>
                      </a:r>
                      <a:endParaRPr lang="ru-RU" sz="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3561" marR="43561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900">
                          <a:effectLst/>
                        </a:rPr>
                        <a:t> </a:t>
                      </a:r>
                      <a:endParaRPr lang="ru-RU" sz="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3561" marR="43561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900">
                          <a:effectLst/>
                        </a:rPr>
                        <a:t> </a:t>
                      </a:r>
                      <a:endParaRPr lang="ru-RU" sz="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3561" marR="43561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endParaRPr lang="ru-RU" sz="7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3561" marR="43561" marT="0" marB="0" anchor="ctr"/>
                </a:tc>
                <a:extLst>
                  <a:ext uri="{0D108BD9-81ED-4DB2-BD59-A6C34878D82A}">
                    <a16:rowId xmlns:a16="http://schemas.microsoft.com/office/drawing/2014/main" val="500849497"/>
                  </a:ext>
                </a:extLst>
              </a:tr>
              <a:tr h="42012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900">
                          <a:effectLst/>
                        </a:rPr>
                        <a:t>мобильный банк</a:t>
                      </a:r>
                      <a:endParaRPr lang="ru-RU" sz="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3561" marR="43561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900">
                          <a:effectLst/>
                        </a:rPr>
                        <a:t>30%</a:t>
                      </a:r>
                      <a:endParaRPr lang="ru-RU" sz="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3561" marR="43561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900">
                          <a:effectLst/>
                        </a:rPr>
                        <a:t>45%</a:t>
                      </a:r>
                      <a:endParaRPr lang="ru-RU" sz="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3561" marR="43561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900">
                          <a:effectLst/>
                        </a:rPr>
                        <a:t>60%</a:t>
                      </a:r>
                      <a:endParaRPr lang="ru-RU" sz="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3561" marR="43561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900">
                          <a:effectLst/>
                        </a:rPr>
                        <a:t>70%</a:t>
                      </a:r>
                      <a:endParaRPr lang="ru-RU" sz="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3561" marR="43561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900">
                          <a:effectLst/>
                        </a:rPr>
                        <a:t>+40 п.п. или рост в 2,33 раза</a:t>
                      </a:r>
                      <a:endParaRPr lang="ru-RU" sz="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3561" marR="43561" marT="0" marB="0" anchor="ctr"/>
                </a:tc>
                <a:extLst>
                  <a:ext uri="{0D108BD9-81ED-4DB2-BD59-A6C34878D82A}">
                    <a16:rowId xmlns:a16="http://schemas.microsoft.com/office/drawing/2014/main" val="3719240706"/>
                  </a:ext>
                </a:extLst>
              </a:tr>
              <a:tr h="42012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900">
                          <a:effectLst/>
                        </a:rPr>
                        <a:t>интернет-банк</a:t>
                      </a:r>
                      <a:endParaRPr lang="ru-RU" sz="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3561" marR="43561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900">
                          <a:effectLst/>
                        </a:rPr>
                        <a:t>25%</a:t>
                      </a:r>
                      <a:endParaRPr lang="ru-RU" sz="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3561" marR="43561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900">
                          <a:effectLst/>
                        </a:rPr>
                        <a:t>25%</a:t>
                      </a:r>
                      <a:endParaRPr lang="ru-RU" sz="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3561" marR="43561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900">
                          <a:effectLst/>
                        </a:rPr>
                        <a:t>20%</a:t>
                      </a:r>
                      <a:endParaRPr lang="ru-RU" sz="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3561" marR="43561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900">
                          <a:effectLst/>
                        </a:rPr>
                        <a:t>15%</a:t>
                      </a:r>
                      <a:endParaRPr lang="ru-RU" sz="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3561" marR="43561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900">
                          <a:effectLst/>
                        </a:rPr>
                        <a:t>-10 п.п. или снижение на 40%</a:t>
                      </a:r>
                      <a:endParaRPr lang="ru-RU" sz="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3561" marR="43561" marT="0" marB="0" anchor="ctr"/>
                </a:tc>
                <a:extLst>
                  <a:ext uri="{0D108BD9-81ED-4DB2-BD59-A6C34878D82A}">
                    <a16:rowId xmlns:a16="http://schemas.microsoft.com/office/drawing/2014/main" val="3064357752"/>
                  </a:ext>
                </a:extLst>
              </a:tr>
              <a:tr h="27619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900">
                          <a:effectLst/>
                        </a:rPr>
                        <a:t>банкоматы и терминалы</a:t>
                      </a:r>
                      <a:endParaRPr lang="ru-RU" sz="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3561" marR="43561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900">
                          <a:effectLst/>
                        </a:rPr>
                        <a:t>10%</a:t>
                      </a:r>
                      <a:endParaRPr lang="ru-RU" sz="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3561" marR="43561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900">
                          <a:effectLst/>
                        </a:rPr>
                        <a:t>10%</a:t>
                      </a:r>
                      <a:endParaRPr lang="ru-RU" sz="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3561" marR="43561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900">
                          <a:effectLst/>
                        </a:rPr>
                        <a:t>10%</a:t>
                      </a:r>
                      <a:endParaRPr lang="ru-RU" sz="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3561" marR="43561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900">
                          <a:effectLst/>
                        </a:rPr>
                        <a:t>10%</a:t>
                      </a:r>
                      <a:endParaRPr lang="ru-RU" sz="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3561" marR="43561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900">
                          <a:effectLst/>
                        </a:rPr>
                        <a:t>без изменений</a:t>
                      </a:r>
                      <a:endParaRPr lang="ru-RU" sz="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3561" marR="43561" marT="0" marB="0" anchor="ctr"/>
                </a:tc>
                <a:extLst>
                  <a:ext uri="{0D108BD9-81ED-4DB2-BD59-A6C34878D82A}">
                    <a16:rowId xmlns:a16="http://schemas.microsoft.com/office/drawing/2014/main" val="2454330263"/>
                  </a:ext>
                </a:extLst>
              </a:tr>
              <a:tr h="85188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900">
                          <a:effectLst/>
                        </a:rPr>
                        <a:t>Количество активных пользователей цифровых каналов, тыс. чел</a:t>
                      </a:r>
                      <a:endParaRPr lang="ru-RU" sz="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3561" marR="43561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900">
                          <a:effectLst/>
                        </a:rPr>
                        <a:t>1500</a:t>
                      </a:r>
                      <a:endParaRPr lang="ru-RU" sz="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3561" marR="43561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900">
                          <a:effectLst/>
                        </a:rPr>
                        <a:t>3500</a:t>
                      </a:r>
                      <a:endParaRPr lang="ru-RU" sz="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3561" marR="43561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900">
                          <a:effectLst/>
                        </a:rPr>
                        <a:t>5000</a:t>
                      </a:r>
                      <a:endParaRPr lang="ru-RU" sz="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3561" marR="43561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900">
                          <a:effectLst/>
                        </a:rPr>
                        <a:t>6500</a:t>
                      </a:r>
                      <a:endParaRPr lang="ru-RU" sz="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3561" marR="43561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900" dirty="0">
                          <a:effectLst/>
                        </a:rPr>
                        <a:t>+5000 тыс. чел. или рост в 4,33 раза</a:t>
                      </a:r>
                      <a:endParaRPr lang="ru-RU" sz="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3561" marR="43561" marT="0" marB="0" anchor="ctr"/>
                </a:tc>
                <a:extLst>
                  <a:ext uri="{0D108BD9-81ED-4DB2-BD59-A6C34878D82A}">
                    <a16:rowId xmlns:a16="http://schemas.microsoft.com/office/drawing/2014/main" val="1940353545"/>
                  </a:ext>
                </a:extLst>
              </a:tr>
            </a:tbl>
          </a:graphicData>
        </a:graphic>
      </p:graphicFrame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2C409DC2-766B-4313-82B0-EF18C09AA678}"/>
              </a:ext>
            </a:extLst>
          </p:cNvPr>
          <p:cNvSpPr txBox="1">
            <a:spLocks/>
          </p:cNvSpPr>
          <p:nvPr/>
        </p:nvSpPr>
        <p:spPr>
          <a:xfrm>
            <a:off x="4800570" y="170721"/>
            <a:ext cx="3860367" cy="101109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Анализ основных показателей цифровизации банковских услуг АКБ </a:t>
            </a:r>
            <a:r>
              <a:rPr lang="ru-RU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Капиталбанка</a:t>
            </a:r>
            <a:r>
              <a:rPr lang="ru-RU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за 2022-2024 гг.</a:t>
            </a:r>
            <a:endParaRPr 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3" name="Таблица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70207079"/>
              </p:ext>
            </p:extLst>
          </p:nvPr>
        </p:nvGraphicFramePr>
        <p:xfrm>
          <a:off x="4760411" y="1336000"/>
          <a:ext cx="4193809" cy="539260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97903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519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1492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1783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9405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0637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0637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71594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900">
                          <a:effectLst/>
                        </a:rPr>
                        <a:t>Показатель</a:t>
                      </a:r>
                      <a:endParaRPr lang="ru-RU" sz="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3395" marR="43395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900">
                          <a:effectLst/>
                        </a:rPr>
                        <a:t>2021</a:t>
                      </a:r>
                      <a:endParaRPr lang="ru-RU" sz="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3395" marR="43395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900">
                          <a:effectLst/>
                        </a:rPr>
                        <a:t>2022</a:t>
                      </a:r>
                      <a:endParaRPr lang="ru-RU" sz="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3395" marR="43395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900">
                          <a:effectLst/>
                        </a:rPr>
                        <a:t>2023</a:t>
                      </a:r>
                      <a:endParaRPr lang="ru-RU" sz="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3395" marR="43395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900">
                          <a:effectLst/>
                        </a:rPr>
                        <a:t>2024 факт</a:t>
                      </a:r>
                      <a:endParaRPr lang="ru-RU" sz="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3395" marR="43395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900">
                          <a:effectLst/>
                        </a:rPr>
                        <a:t>2024 в сравнении с 2022 г.</a:t>
                      </a:r>
                      <a:endParaRPr lang="ru-RU" sz="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3395" marR="43395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900">
                          <a:effectLst/>
                        </a:rPr>
                        <a:t>2024 в сравнении с 2023 г.</a:t>
                      </a:r>
                      <a:endParaRPr lang="ru-RU" sz="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3395" marR="43395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99061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900">
                          <a:effectLst/>
                        </a:rPr>
                        <a:t>Количество новых цифровых продуктов и сервисов, ед.</a:t>
                      </a:r>
                      <a:endParaRPr lang="ru-RU" sz="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3395" marR="43395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900">
                          <a:effectLst/>
                        </a:rPr>
                        <a:t>15</a:t>
                      </a:r>
                      <a:endParaRPr lang="ru-RU" sz="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3395" marR="43395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900">
                          <a:effectLst/>
                        </a:rPr>
                        <a:t>35</a:t>
                      </a:r>
                      <a:endParaRPr lang="ru-RU" sz="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3395" marR="43395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900">
                          <a:effectLst/>
                        </a:rPr>
                        <a:t>50</a:t>
                      </a:r>
                      <a:endParaRPr lang="ru-RU" sz="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3395" marR="43395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900">
                          <a:effectLst/>
                        </a:rPr>
                        <a:t>70</a:t>
                      </a:r>
                      <a:endParaRPr lang="ru-RU" sz="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3395" marR="43395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900">
                          <a:effectLst/>
                        </a:rPr>
                        <a:t>+35 ед. (+100%)</a:t>
                      </a:r>
                      <a:endParaRPr lang="ru-RU" sz="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3395" marR="43395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900">
                          <a:effectLst/>
                        </a:rPr>
                        <a:t>+20 ед. (+40%)</a:t>
                      </a:r>
                      <a:endParaRPr lang="ru-RU" sz="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3395" marR="43395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98621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900">
                          <a:effectLst/>
                        </a:rPr>
                        <a:t>Рост цифровых комиссионных доходов, % г/г</a:t>
                      </a:r>
                      <a:endParaRPr lang="ru-RU" sz="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3395" marR="43395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900">
                          <a:effectLst/>
                        </a:rPr>
                        <a:t>30%</a:t>
                      </a:r>
                      <a:endParaRPr lang="ru-RU" sz="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3395" marR="43395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900">
                          <a:effectLst/>
                        </a:rPr>
                        <a:t>50%</a:t>
                      </a:r>
                      <a:endParaRPr lang="ru-RU" sz="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3395" marR="43395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900">
                          <a:effectLst/>
                        </a:rPr>
                        <a:t>70%</a:t>
                      </a:r>
                      <a:endParaRPr lang="ru-RU" sz="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3395" marR="43395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900">
                          <a:effectLst/>
                        </a:rPr>
                        <a:t>90%</a:t>
                      </a:r>
                      <a:endParaRPr lang="ru-RU" sz="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3395" marR="43395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900">
                          <a:effectLst/>
                        </a:rPr>
                        <a:t>+40 п.п.</a:t>
                      </a:r>
                      <a:endParaRPr lang="ru-RU" sz="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3395" marR="43395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900">
                          <a:effectLst/>
                        </a:rPr>
                        <a:t>+20 п.п.</a:t>
                      </a:r>
                      <a:endParaRPr lang="ru-RU" sz="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3395" marR="43395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81301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900">
                          <a:effectLst/>
                        </a:rPr>
                        <a:t>Сокращение операционных расходов на обслуживание клиентов, % г/г</a:t>
                      </a:r>
                      <a:endParaRPr lang="ru-RU" sz="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3395" marR="43395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900">
                          <a:effectLst/>
                        </a:rPr>
                        <a:t>-10%</a:t>
                      </a:r>
                      <a:endParaRPr lang="ru-RU" sz="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3395" marR="43395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900">
                          <a:effectLst/>
                        </a:rPr>
                        <a:t>-20%</a:t>
                      </a:r>
                      <a:endParaRPr lang="ru-RU" sz="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3395" marR="43395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900">
                          <a:effectLst/>
                        </a:rPr>
                        <a:t>-30%</a:t>
                      </a:r>
                      <a:endParaRPr lang="ru-RU" sz="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3395" marR="43395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900">
                          <a:effectLst/>
                        </a:rPr>
                        <a:t>-37%</a:t>
                      </a:r>
                      <a:endParaRPr lang="ru-RU" sz="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3395" marR="43395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900">
                          <a:effectLst/>
                        </a:rPr>
                        <a:t>-17 п.п.</a:t>
                      </a:r>
                      <a:endParaRPr lang="ru-RU" sz="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3395" marR="43395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900">
                          <a:effectLst/>
                        </a:rPr>
                        <a:t>-7 п.п.</a:t>
                      </a:r>
                      <a:endParaRPr lang="ru-RU" sz="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3395" marR="43395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98621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900">
                          <a:effectLst/>
                        </a:rPr>
                        <a:t>Рост кросс-продаж в цифровых каналах, % г/г</a:t>
                      </a:r>
                      <a:endParaRPr lang="ru-RU" sz="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3395" marR="43395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900">
                          <a:effectLst/>
                        </a:rPr>
                        <a:t>20%</a:t>
                      </a:r>
                      <a:endParaRPr lang="ru-RU" sz="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3395" marR="43395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900">
                          <a:effectLst/>
                        </a:rPr>
                        <a:t>40%</a:t>
                      </a:r>
                      <a:endParaRPr lang="ru-RU" sz="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3395" marR="43395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900">
                          <a:effectLst/>
                        </a:rPr>
                        <a:t>60%</a:t>
                      </a:r>
                      <a:endParaRPr lang="ru-RU" sz="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3395" marR="43395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900">
                          <a:effectLst/>
                        </a:rPr>
                        <a:t>80%</a:t>
                      </a:r>
                      <a:endParaRPr lang="ru-RU" sz="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3395" marR="43395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900">
                          <a:effectLst/>
                        </a:rPr>
                        <a:t>+40 п.п.</a:t>
                      </a:r>
                      <a:endParaRPr lang="ru-RU" sz="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3395" marR="43395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900">
                          <a:effectLst/>
                        </a:rPr>
                        <a:t>+20 п.п.</a:t>
                      </a:r>
                      <a:endParaRPr lang="ru-RU" sz="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3395" marR="43395" marT="0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99061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900">
                          <a:effectLst/>
                        </a:rPr>
                        <a:t>Снижение стоимости риска в цифровых каналах, п.п.</a:t>
                      </a:r>
                      <a:endParaRPr lang="ru-RU" sz="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3395" marR="43395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900">
                          <a:effectLst/>
                        </a:rPr>
                        <a:t>-1 п.п.</a:t>
                      </a:r>
                      <a:endParaRPr lang="ru-RU" sz="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3395" marR="43395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900">
                          <a:effectLst/>
                        </a:rPr>
                        <a:t>-2 п.п.</a:t>
                      </a:r>
                      <a:endParaRPr lang="ru-RU" sz="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3395" marR="43395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900">
                          <a:effectLst/>
                        </a:rPr>
                        <a:t>-3 п.п.</a:t>
                      </a:r>
                      <a:endParaRPr lang="ru-RU" sz="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3395" marR="43395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900">
                          <a:effectLst/>
                        </a:rPr>
                        <a:t>-4 п.п.</a:t>
                      </a:r>
                      <a:endParaRPr lang="ru-RU" sz="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3395" marR="43395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900">
                          <a:effectLst/>
                        </a:rPr>
                        <a:t>-2 п.п.</a:t>
                      </a:r>
                      <a:endParaRPr lang="ru-RU" sz="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3395" marR="43395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900" dirty="0">
                          <a:effectLst/>
                        </a:rPr>
                        <a:t>-1 </a:t>
                      </a:r>
                      <a:r>
                        <a:rPr lang="ru-RU" sz="900" dirty="0" err="1">
                          <a:effectLst/>
                        </a:rPr>
                        <a:t>п.п</a:t>
                      </a:r>
                      <a:r>
                        <a:rPr lang="ru-RU" sz="900" dirty="0">
                          <a:effectLst/>
                        </a:rPr>
                        <a:t>.</a:t>
                      </a:r>
                      <a:endParaRPr lang="ru-RU" sz="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3395" marR="43395" marT="0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7742431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2593458-5ADB-4B1E-910E-C0619A3556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17315"/>
          </a:xfrm>
        </p:spPr>
        <p:txBody>
          <a:bodyPr/>
          <a:lstStyle/>
          <a:p>
            <a:pPr algn="ctr"/>
            <a:r>
              <a:rPr lang="ru-RU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lang="ru-RU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Kapital</a:t>
            </a:r>
            <a:r>
              <a:rPr lang="ru-RU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Coin</a:t>
            </a:r>
            <a:r>
              <a:rPr lang="ru-RU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24AD71E-20E7-42CD-A04C-BB8483D35D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80730"/>
            <a:ext cx="8229600" cy="5317724"/>
          </a:xfrm>
        </p:spPr>
        <p:txBody>
          <a:bodyPr>
            <a:normAutofit/>
          </a:bodyPr>
          <a:lstStyle/>
          <a:p>
            <a:pPr algn="just"/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Наконец, в 2023 году </a:t>
            </a:r>
            <a:r>
              <a:rPr lang="ru-RU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Капиталбанк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одним из первых в Узбекистане реализовал проект по запуску Токена. Токен "</a:t>
            </a:r>
            <a:r>
              <a:rPr lang="ru-RU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Kapital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Coin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" был запущен на </a:t>
            </a:r>
            <a:r>
              <a:rPr lang="ru-RU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блокчейне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Ethereum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 использовался для расчетов между участниками внутренней экосистемы банка - клиентами, вендорами и партнерами. "</a:t>
            </a:r>
            <a:r>
              <a:rPr lang="ru-RU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Kapital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Coin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" позволил существенно удешевить и ускорить транзакции внутри экосистемы, а также создать программы лояльности и вознаграждения на основе токенов. К концу 2023 года в обращении находилось более 1 млрд "</a:t>
            </a:r>
            <a:r>
              <a:rPr lang="ru-RU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Kapital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Coin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", которые принимались к оплате во всех цифровых каналах банка и у партнеров экосистемы. </a:t>
            </a:r>
          </a:p>
          <a:p>
            <a:pPr algn="just"/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 то же время, концепция </a:t>
            </a:r>
            <a:r>
              <a:rPr lang="ru-RU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токенизации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позволяет обеспечивать доступ к ценным активам таким как произведения </a:t>
            </a:r>
            <a:r>
              <a:rPr lang="ru-RU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исскуств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Например, в 2021г. швейцарский банк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Sygnum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bank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совместно с </a:t>
            </a:r>
            <a:r>
              <a:rPr lang="ru-RU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дижитал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группой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Artemundi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«пионером» инвестиций в искусстве, объединились для </a:t>
            </a:r>
            <a:r>
              <a:rPr lang="ru-RU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токенизации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картины Пабло Пикассо «</a:t>
            </a:r>
            <a:r>
              <a:rPr lang="ru-RU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Fillette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au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béret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» (Девочка в берете), когда права собственности на картину Пикассо транслируются в публичный </a:t>
            </a:r>
            <a:r>
              <a:rPr lang="ru-RU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блокчейн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регулируемый банком, что позволяет инвесторам приобретать и торговать «долями» в произведении искусства называемые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Art Security Tokens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AST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 Банк выпустил 4000 токенов (на сумму 4 </a:t>
            </a:r>
            <a:r>
              <a:rPr lang="ru-RU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млн.швейцарских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франков) желающим инвесторам овладеть шедевром было предложено сделать минимальные инвестиции в картину, которая оценивается в 100 млн. долларов США (или около 83 </a:t>
            </a:r>
            <a:r>
              <a:rPr lang="ru-RU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млн.швейцарских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франков). </a:t>
            </a:r>
          </a:p>
          <a:p>
            <a:endParaRPr lang="ru-RU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2719" y="4834098"/>
            <a:ext cx="1927044" cy="1859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049688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900A81B-11F6-4EFD-8E98-AEF03C4477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" y="609600"/>
            <a:ext cx="7093790" cy="1320800"/>
          </a:xfrm>
        </p:spPr>
        <p:txBody>
          <a:bodyPr>
            <a:noAutofit/>
          </a:bodyPr>
          <a:lstStyle/>
          <a:p>
            <a:pPr algn="ctr"/>
            <a:r>
              <a:rPr lang="ru-RU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Анализ основный Фактические финансовых е результаты </a:t>
            </a:r>
            <a:br>
              <a:rPr lang="ru-RU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АКБ </a:t>
            </a:r>
            <a:r>
              <a:rPr lang="ru-RU" sz="28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Капиталбанка</a:t>
            </a:r>
            <a:r>
              <a:rPr lang="ru-RU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за 2022-2024 гг.</a:t>
            </a:r>
            <a:br>
              <a:rPr lang="ru-RU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Стратегия цифровой трансформации позволила АКБ </a:t>
            </a:r>
            <a:r>
              <a:rPr lang="ru-RU" sz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Капиталбанку</a:t>
            </a:r>
            <a:r>
              <a:rPr lang="ru-RU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добиться целевых показателей эффективности и прибыльности бизнеса, заложенных в финансовую модель на 2021-2024 гг. Фактические финансовые результаты банка за этот период представлены в таблице ниже:</a:t>
            </a:r>
            <a:br>
              <a:rPr lang="ru-RU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ru-RU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Объект 3">
            <a:extLst>
              <a:ext uri="{FF2B5EF4-FFF2-40B4-BE49-F238E27FC236}">
                <a16:creationId xmlns:a16="http://schemas.microsoft.com/office/drawing/2014/main" id="{D60029B6-567C-40A7-BC73-AE58FEF66D8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72434104"/>
              </p:ext>
            </p:extLst>
          </p:nvPr>
        </p:nvGraphicFramePr>
        <p:xfrm>
          <a:off x="615037" y="2887723"/>
          <a:ext cx="7604342" cy="325341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000599">
                  <a:extLst>
                    <a:ext uri="{9D8B030D-6E8A-4147-A177-3AD203B41FA5}">
                      <a16:colId xmlns:a16="http://schemas.microsoft.com/office/drawing/2014/main" val="2952607538"/>
                    </a:ext>
                  </a:extLst>
                </a:gridCol>
                <a:gridCol w="1238655">
                  <a:extLst>
                    <a:ext uri="{9D8B030D-6E8A-4147-A177-3AD203B41FA5}">
                      <a16:colId xmlns:a16="http://schemas.microsoft.com/office/drawing/2014/main" val="3234407731"/>
                    </a:ext>
                  </a:extLst>
                </a:gridCol>
                <a:gridCol w="1464299">
                  <a:extLst>
                    <a:ext uri="{9D8B030D-6E8A-4147-A177-3AD203B41FA5}">
                      <a16:colId xmlns:a16="http://schemas.microsoft.com/office/drawing/2014/main" val="2723935512"/>
                    </a:ext>
                  </a:extLst>
                </a:gridCol>
                <a:gridCol w="1379285">
                  <a:extLst>
                    <a:ext uri="{9D8B030D-6E8A-4147-A177-3AD203B41FA5}">
                      <a16:colId xmlns:a16="http://schemas.microsoft.com/office/drawing/2014/main" val="2934161287"/>
                    </a:ext>
                  </a:extLst>
                </a:gridCol>
                <a:gridCol w="1521504">
                  <a:extLst>
                    <a:ext uri="{9D8B030D-6E8A-4147-A177-3AD203B41FA5}">
                      <a16:colId xmlns:a16="http://schemas.microsoft.com/office/drawing/2014/main" val="2572327428"/>
                    </a:ext>
                  </a:extLst>
                </a:gridCol>
              </a:tblGrid>
              <a:tr h="399909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</a:rPr>
                        <a:t>Показатель</a:t>
                      </a:r>
                      <a:endParaRPr lang="ru-RU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</a:rPr>
                        <a:t>2021 факт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</a:rPr>
                        <a:t>2022 факт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</a:rPr>
                        <a:t>2023 факт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</a:rPr>
                        <a:t>2024 факт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522932164"/>
                  </a:ext>
                </a:extLst>
              </a:tr>
              <a:tr h="399909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</a:rPr>
                        <a:t>Активы, трлн </a:t>
                      </a:r>
                      <a:r>
                        <a:rPr lang="ru-RU" sz="1400" dirty="0" err="1">
                          <a:effectLst/>
                        </a:rPr>
                        <a:t>сум</a:t>
                      </a:r>
                      <a:endParaRPr lang="ru-RU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</a:rPr>
                        <a:t>15.6</a:t>
                      </a:r>
                      <a:endParaRPr lang="ru-RU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</a:rPr>
                        <a:t>28.9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</a:rPr>
                        <a:t>41.9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</a:rPr>
                        <a:t>47.4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323569903"/>
                  </a:ext>
                </a:extLst>
              </a:tr>
              <a:tr h="125387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</a:rPr>
                        <a:t>Кредитный портфель, трлн сум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</a:rPr>
                        <a:t>7.9</a:t>
                      </a:r>
                      <a:endParaRPr lang="ru-RU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</a:rPr>
                        <a:t>15.3</a:t>
                      </a:r>
                      <a:endParaRPr lang="ru-RU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</a:rPr>
                        <a:t>26.4</a:t>
                      </a:r>
                      <a:endParaRPr lang="ru-RU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</a:rPr>
                        <a:t>30.6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769331858"/>
                  </a:ext>
                </a:extLst>
              </a:tr>
              <a:tr h="399909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</a:rPr>
                        <a:t>Капитал, трлн сум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</a:rPr>
                        <a:t>1.5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</a:rPr>
                        <a:t>2.6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</a:rPr>
                        <a:t>4.2</a:t>
                      </a:r>
                      <a:endParaRPr lang="ru-RU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</a:rPr>
                        <a:t>5.2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076572247"/>
                  </a:ext>
                </a:extLst>
              </a:tr>
              <a:tr h="399909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</a:rPr>
                        <a:t>ROE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</a:rPr>
                        <a:t>30.2%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</a:rPr>
                        <a:t>52.8%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</a:rPr>
                        <a:t>48.6%</a:t>
                      </a:r>
                      <a:endParaRPr lang="ru-RU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</a:rPr>
                        <a:t>36.7%</a:t>
                      </a:r>
                      <a:endParaRPr lang="ru-RU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173428827"/>
                  </a:ext>
                </a:extLst>
              </a:tr>
              <a:tr h="399909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</a:rPr>
                        <a:t>ROA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</a:rPr>
                        <a:t>3.1%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</a:rPr>
                        <a:t>4.8%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</a:rPr>
                        <a:t>4.8%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</a:rPr>
                        <a:t>4.1%</a:t>
                      </a:r>
                      <a:endParaRPr lang="ru-RU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219697736"/>
                  </a:ext>
                </a:extLst>
              </a:tr>
            </a:tbl>
          </a:graphicData>
        </a:graphic>
      </p:graphicFrame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CF900B00-CC9E-4503-A5DB-AB1DFF2DEF21}"/>
              </a:ext>
            </a:extLst>
          </p:cNvPr>
          <p:cNvSpPr txBox="1">
            <a:spLocks/>
          </p:cNvSpPr>
          <p:nvPr/>
        </p:nvSpPr>
        <p:spPr>
          <a:xfrm>
            <a:off x="609600" y="5118280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171007831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7947805" cy="1124309"/>
          </a:xfrm>
        </p:spPr>
        <p:txBody>
          <a:bodyPr>
            <a:noAutofit/>
          </a:bodyPr>
          <a:lstStyle/>
          <a:p>
            <a:pPr algn="ctr"/>
            <a:r>
              <a:rPr sz="2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Результаты</a:t>
            </a:r>
            <a:r>
              <a:rPr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исследования</a:t>
            </a:r>
            <a:r>
              <a:rPr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перспектив</a:t>
            </a:r>
            <a:r>
              <a:rPr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цифровизации</a:t>
            </a:r>
            <a:r>
              <a:rPr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банковских</a:t>
            </a:r>
            <a:r>
              <a:rPr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продуктов</a:t>
            </a:r>
            <a:r>
              <a:rPr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ru-RU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АКБ </a:t>
            </a:r>
            <a:r>
              <a:rPr sz="2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Капиталбанка</a:t>
            </a:r>
            <a:endParaRPr sz="2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83162"/>
          </a:xfrm>
        </p:spPr>
        <p:txBody>
          <a:bodyPr>
            <a:noAutofit/>
          </a:bodyPr>
          <a:lstStyle/>
          <a:p>
            <a:endParaRPr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Результаты опроса клиентов показали высокий уровень проникновения цифровых каналов и сервисов среди пользователей банковских услуг в Узбекистане. Более 80% респондентов отметили, что пользуются мобильным или интернет-банкингом хотя бы раз в месяц, при этом 50% используют цифровые каналы для большинства своих банковских операций. Наиболее востребованными цифровыми услугами являются онлайн-платежи и переводы (90% пользователей), проверка баланса и выписки по счету (85%), а также оплата коммунальных и мобильных услуг (80%). Услуги онлайн-кредитования и цифрового сберегательного счета пока менее популярны (25-30% пользователей), однако демонстрируют наибольшие темпы роста спроса.</a:t>
            </a:r>
          </a:p>
          <a:p>
            <a:pPr marL="0" indent="0">
              <a:buNone/>
            </a:pP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Цифровая трансформация является одним из ключевых стратегических приоритетов развития банка. Дорожная карта цифровизации предполагает масштабные инвестиции в модернизацию ИТ-инфраструктуры, разработку и внедрение новых цифровых продуктов, а также обучение и развитие сотрудников. В 2024-2025 годах банк планирует увеличить долю ИТ-бюджета в операционных расходах с текущих 10% до 15-20%, а также нарастить численность ИТ-персонала и специалистов по данным на 50%. Ключевые цифровые инициативы связаны с развитием платежных сервисов, автоматизацией кредитного процесса. 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7947805" cy="1124309"/>
          </a:xfrm>
        </p:spPr>
        <p:txBody>
          <a:bodyPr>
            <a:noAutofit/>
          </a:bodyPr>
          <a:lstStyle/>
          <a:p>
            <a:pPr algn="ctr"/>
            <a:r>
              <a:rPr lang="ru-RU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ESG-банкинга в Узбекистане</a:t>
            </a:r>
            <a:br>
              <a:rPr lang="ru-RU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 </a:t>
            </a:r>
            <a:r>
              <a:rPr lang="ru-RU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АКБ </a:t>
            </a:r>
            <a:r>
              <a:rPr sz="2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Капиталбанк</a:t>
            </a:r>
            <a:r>
              <a:rPr lang="ru-RU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ом</a:t>
            </a:r>
            <a:endParaRPr sz="2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83162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АКБ </a:t>
            </a:r>
            <a:r>
              <a:rPr lang="ru-RU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Капиталбанк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стал одним из пионеров ESG-банкинга в Узбекистане, интегрировав принципы устойчивого развития и социальной ответственности в свою бизнес-стратегию и корпоративную культуру. Банк выступил одним из организаторов первого в стране Форума зеленых финансов в 2023 году, а также присоединился к ряду международных инициатив в области ответственного инвестирования и раскрытия ESG-информации</a:t>
            </a:r>
          </a:p>
          <a:p>
            <a:pPr marL="0" indent="0">
              <a:buNone/>
            </a:pPr>
            <a:r>
              <a:rPr lang="ru-RU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Участие банков в проектах ESG</a:t>
            </a:r>
          </a:p>
          <a:p>
            <a:pPr marL="0" indent="0">
              <a:buNone/>
            </a:pPr>
            <a:endParaRPr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Схема 3"/>
          <p:cNvGraphicFramePr/>
          <p:nvPr>
            <p:extLst>
              <p:ext uri="{D42A27DB-BD31-4B8C-83A1-F6EECF244321}">
                <p14:modId xmlns:p14="http://schemas.microsoft.com/office/powerpoint/2010/main" val="751532524"/>
              </p:ext>
            </p:extLst>
          </p:nvPr>
        </p:nvGraphicFramePr>
        <p:xfrm>
          <a:off x="810882" y="3338423"/>
          <a:ext cx="7047782" cy="253616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49570418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7947805" cy="1124309"/>
          </a:xfrm>
        </p:spPr>
        <p:txBody>
          <a:bodyPr>
            <a:noAutofit/>
          </a:bodyPr>
          <a:lstStyle/>
          <a:p>
            <a:pPr algn="ctr"/>
            <a:r>
              <a:rPr lang="ru-RU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ESG-банкинга в Узбекистане</a:t>
            </a:r>
            <a:br>
              <a:rPr lang="ru-RU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 </a:t>
            </a:r>
            <a:r>
              <a:rPr lang="ru-RU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АКБ </a:t>
            </a:r>
            <a:r>
              <a:rPr sz="2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Капиталбанк</a:t>
            </a:r>
            <a:r>
              <a:rPr lang="ru-RU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ом</a:t>
            </a:r>
            <a:endParaRPr sz="2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83162"/>
          </a:xfrm>
        </p:spPr>
        <p:txBody>
          <a:bodyPr>
            <a:noAutofit/>
          </a:bodyPr>
          <a:lstStyle/>
          <a:p>
            <a:pPr algn="just"/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Масштабная цифровая трансформация потребовала от АКБ </a:t>
            </a:r>
            <a:r>
              <a:rPr lang="ru-RU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Капиталбанка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инвестиций не только в технологии и инфраструктуру, но и в человеческий капитал. Банк запустил ряд программ по привлечению и удержанию цифровых талантов, включая программы стажировок для студентов IT-специальностей, конкурсы технологических проектов, а также образовательные программы по </a:t>
            </a:r>
            <a:r>
              <a:rPr lang="ru-RU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science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кибербезопасности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 </a:t>
            </a:r>
            <a:r>
              <a:rPr lang="ru-RU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agile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Численность персонала банка выросла на 30% за 3 года, при этом доля IT-специалистов и аналитиков данных увеличилась с 5% до 15%. Для поддержки цифровых компетенций сотрудников банк внедрил модель непрерывного обучения и развития на базе платформы </a:t>
            </a:r>
            <a:r>
              <a:rPr lang="ru-RU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Coursera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В августе 2024 года Банком учреждено OOO «</a:t>
            </a:r>
            <a:r>
              <a:rPr lang="ru-RU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Kapital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ru-RU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ademy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» с уставным капиталом 500 миллионов </a:t>
            </a:r>
            <a:r>
              <a:rPr lang="ru-RU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сум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Основным видом деятельности компании является организация программ повышения квалификации, включая обучение сотрудников Банка.</a:t>
            </a:r>
          </a:p>
          <a:p>
            <a:pPr algn="just"/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Опыт и экспертиза АКБ </a:t>
            </a:r>
            <a:r>
              <a:rPr lang="ru-RU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Капиталбанка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в области цифровой трансформации оказались востребованы не только в банковском секторе, но и в других отраслях экономики Узбекистана. В 2024 году банк запустил направление IT-консалтинга и на коммерческой основе предоставил услуги по разработке цифровых стратегий и внедрению технологических решений для ряда крупных компаний и государственных организаций. В частности, экспертами АКБ </a:t>
            </a:r>
            <a:r>
              <a:rPr lang="ru-RU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Капиталбанка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были реализованы проекты по </a:t>
            </a:r>
            <a:r>
              <a:rPr lang="ru-RU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цифровизации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системы социальных выплат для Министерства финансов, внедрению платформы электронных закупок для АО "</a:t>
            </a:r>
            <a:r>
              <a:rPr lang="ru-RU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Узбекнефтегаз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", а также созданию </a:t>
            </a:r>
            <a:r>
              <a:rPr lang="ru-RU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маркетплейса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для фермерской продукции по заказу Министерства сельского хозяйства.</a:t>
            </a:r>
          </a:p>
          <a:p>
            <a:pPr marL="0" indent="0">
              <a:buNone/>
            </a:pPr>
            <a:endParaRPr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6221302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9343" y="176984"/>
            <a:ext cx="8229600" cy="914970"/>
          </a:xfrm>
        </p:spPr>
        <p:txBody>
          <a:bodyPr>
            <a:normAutofit/>
          </a:bodyPr>
          <a:lstStyle/>
          <a:p>
            <a:pPr algn="ctr"/>
            <a:r>
              <a:rPr sz="4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Обзор</a:t>
            </a:r>
            <a:r>
              <a:rPr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4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результатов</a:t>
            </a:r>
            <a:r>
              <a:rPr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4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анализов</a:t>
            </a:r>
            <a:endParaRPr sz="4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5" name="Схема 4">
            <a:extLst>
              <a:ext uri="{FF2B5EF4-FFF2-40B4-BE49-F238E27FC236}">
                <a16:creationId xmlns:a16="http://schemas.microsoft.com/office/drawing/2014/main" id="{127A9EFE-18F4-43A4-878E-0ABCA1AF51F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05651778"/>
              </p:ext>
            </p:extLst>
          </p:nvPr>
        </p:nvGraphicFramePr>
        <p:xfrm>
          <a:off x="0" y="1189608"/>
          <a:ext cx="9144000" cy="566839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7973684" cy="1089804"/>
          </a:xfrm>
        </p:spPr>
        <p:txBody>
          <a:bodyPr>
            <a:noAutofit/>
          </a:bodyPr>
          <a:lstStyle/>
          <a:p>
            <a:pPr algn="ctr"/>
            <a:r>
              <a:rPr sz="28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Краткое</a:t>
            </a:r>
            <a:r>
              <a:rPr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изложение</a:t>
            </a:r>
            <a:r>
              <a:rPr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результатов</a:t>
            </a:r>
            <a:r>
              <a:rPr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sz="28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относящихся</a:t>
            </a:r>
            <a:r>
              <a:rPr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к </a:t>
            </a:r>
            <a:r>
              <a:rPr sz="28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вопросу</a:t>
            </a:r>
            <a:r>
              <a:rPr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исследования</a:t>
            </a:r>
            <a:endParaRPr sz="28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599" y="1613141"/>
            <a:ext cx="7801156" cy="3614468"/>
          </a:xfrm>
        </p:spPr>
        <p:txBody>
          <a:bodyPr>
            <a:noAutofit/>
          </a:bodyPr>
          <a:lstStyle/>
          <a:p>
            <a:pPr algn="just">
              <a:buFont typeface="Wingdings" panose="05000000000000000000" pitchFamily="2" charset="2"/>
              <a:buChar char="v"/>
            </a:pPr>
            <a:r>
              <a:rPr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Проведенное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исследование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было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посвящено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анализу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текущего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состояния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 </a:t>
            </a:r>
            <a:r>
              <a:rPr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перспектив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цифровизации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банковских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продуктов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 </a:t>
            </a:r>
            <a:r>
              <a:rPr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услуг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на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примере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Капиталбанка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</a:t>
            </a:r>
            <a:r>
              <a:rPr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одного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из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ведущих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частных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банков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Узбекистана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Основной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исследовательский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вопрос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заключался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в </a:t>
            </a:r>
            <a:r>
              <a:rPr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том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какие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факторы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 </a:t>
            </a:r>
            <a:r>
              <a:rPr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условия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определяют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успешность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цифровой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трансформации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банка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 </a:t>
            </a:r>
            <a:r>
              <a:rPr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позволяют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ему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достичь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лидерских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позиций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на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рынке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цифрового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банкинга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>
              <a:buFont typeface="Wingdings" panose="05000000000000000000" pitchFamily="2" charset="2"/>
              <a:buChar char="v"/>
            </a:pPr>
            <a:r>
              <a:rPr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Результаты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исследования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показали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что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Капиталбанк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демонстрирует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высокий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уровень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цифровой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зрелости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 </a:t>
            </a:r>
            <a:r>
              <a:rPr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динамики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развития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онлайн-сервисов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Банк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успешно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реализовал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ключевые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инициативы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своей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цифровой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стратегии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на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2021-2023 </a:t>
            </a:r>
            <a:r>
              <a:rPr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гг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., </a:t>
            </a:r>
            <a:r>
              <a:rPr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включая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запуск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мобильного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приложения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Капиталбанк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открытие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полноценного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цифрового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банка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внедрение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технологий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анализа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больших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данных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 </a:t>
            </a:r>
            <a:r>
              <a:rPr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искусственного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интеллекта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в </a:t>
            </a:r>
            <a:r>
              <a:rPr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процессы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обслуживания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 </a:t>
            </a:r>
            <a:r>
              <a:rPr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управления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рисками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Показатели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цифрового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бизнеса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доля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цифровых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продаж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 </a:t>
            </a:r>
            <a:r>
              <a:rPr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транзакций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число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активных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пользователей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стабильно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растут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 </a:t>
            </a:r>
            <a:r>
              <a:rPr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превышают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средние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значения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по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рынку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>
              <a:buFont typeface="Wingdings" panose="05000000000000000000" pitchFamily="2" charset="2"/>
              <a:buChar char="v"/>
            </a:pP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 то же время, опрос клиентов, интервью с сотрудниками и фокус-группы с экспертами выявили ряд областей для дальнейшего совершенствования цифровых продуктов и каналов банка. В частности, ключевыми направлениями развития должны стать персонализация клиентского опыта на основе анализа данных, повышение стабильности и надежности ИТ-систем, увеличение скорости вывода на рынок новых цифровых сервисов. Кроме того, важным фактором долгосрочного успеха цифровой трансформации является изменение корпоративной культуры и мышления сотрудников в сторону большей инновационности, гибкости и клиентоориентированности.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319178"/>
            <a:ext cx="8229600" cy="534838"/>
          </a:xfrm>
        </p:spPr>
        <p:txBody>
          <a:bodyPr>
            <a:noAutofit/>
          </a:bodyPr>
          <a:lstStyle/>
          <a:p>
            <a:pPr algn="ctr"/>
            <a:r>
              <a:rPr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Основные</a:t>
            </a:r>
            <a:r>
              <a:rPr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предложения</a:t>
            </a:r>
            <a:r>
              <a:rPr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и </a:t>
            </a:r>
            <a:r>
              <a:rPr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рекомендации</a:t>
            </a:r>
            <a:r>
              <a:rPr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исследования</a:t>
            </a:r>
            <a:endParaRPr sz="2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54016"/>
            <a:ext cx="8229600" cy="6564701"/>
          </a:xfrm>
        </p:spPr>
        <p:txBody>
          <a:bodyPr>
            <a:noAutofit/>
          </a:bodyPr>
          <a:lstStyle/>
          <a:p>
            <a:pPr algn="just">
              <a:buFont typeface="Wingdings" panose="05000000000000000000" pitchFamily="2" charset="2"/>
              <a:buChar char="q"/>
            </a:pP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</a:t>
            </a:r>
            <a:r>
              <a:rPr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альнейше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е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развити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е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цифрового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бизнеса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 </a:t>
            </a:r>
            <a:r>
              <a:rPr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повышени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я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эффективности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цифровой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трансформации</a:t>
            </a: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q"/>
            </a:pPr>
            <a:r>
              <a:rPr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Активное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внедрение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технологий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искусственного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интеллекта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 </a:t>
            </a:r>
            <a:r>
              <a:rPr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предиктивной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аналитики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на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всех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этапах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взаимодействия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с </a:t>
            </a:r>
            <a:r>
              <a:rPr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клиентами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</a:t>
            </a:r>
            <a:r>
              <a:rPr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от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привлечения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 </a:t>
            </a:r>
            <a:r>
              <a:rPr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онбординга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до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кросс-продаж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 </a:t>
            </a:r>
            <a:r>
              <a:rPr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удержания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что </a:t>
            </a:r>
            <a:r>
              <a:rPr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позволит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предлагать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персонализированные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продукты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 </a:t>
            </a:r>
            <a:r>
              <a:rPr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услуги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адаптировать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коммуникации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под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индивидуальный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профиль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 </a:t>
            </a:r>
            <a:r>
              <a:rPr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потребности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клиента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а </a:t>
            </a:r>
            <a:r>
              <a:rPr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также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проактивно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управлять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рисками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 </a:t>
            </a:r>
            <a:r>
              <a:rPr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предотвращать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случаи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оттока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или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мошенничества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0" algn="just">
              <a:buFont typeface="Wingdings" panose="05000000000000000000" pitchFamily="2" charset="2"/>
              <a:buChar char="q"/>
            </a:pP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Развитие концепции открытого банкинга (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Open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API) и создание партнерских экосистем с участниками из смежных отраслей - телекома, страхования, ритейла, недвижимости и др. Интеграция с внешними сервисами и платформами позволит предоставлять клиентам комплексные решения, закрывающие максимально широкий спектр их финансовых и нефинансовых потребностей. При этом банк должен выступать в роли центрального провайдера идентификации, безопасности и доверия транзакций между всеми участниками экосистемы.</a:t>
            </a:r>
          </a:p>
          <a:p>
            <a:pPr lvl="0" algn="just">
              <a:buFont typeface="Wingdings" panose="05000000000000000000" pitchFamily="2" charset="2"/>
              <a:buChar char="q"/>
            </a:pP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Трансформация операционной модели банка на базе современных ИТ-решений, таких как облачные вычисления,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микросервисная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архитектура, технологии распределенного реестра и др. Переход к гибким методологиям разработки (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Agile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DevOps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и использование принципов бизнес-ориентированной архитектуры предприятия (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BizOps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позволит ускорить вывод цифровых продуктов на рынок, обеспечить непрерывность и безопасность банковского сервиса, а также добиться радикального повышения эффективности и снижения издержек операционной деятельности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6950"/>
            <a:ext cx="8229600" cy="1009291"/>
          </a:xfrm>
        </p:spPr>
        <p:txBody>
          <a:bodyPr>
            <a:noAutofit/>
          </a:bodyPr>
          <a:lstStyle/>
          <a:p>
            <a:pPr algn="ctr"/>
            <a:r>
              <a:rPr sz="32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Ограничения</a:t>
            </a:r>
            <a:r>
              <a:rPr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исследований</a:t>
            </a:r>
            <a:r>
              <a:rPr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и </a:t>
            </a:r>
            <a:r>
              <a:rPr sz="32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предложения</a:t>
            </a:r>
            <a:r>
              <a:rPr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для</a:t>
            </a:r>
            <a:r>
              <a:rPr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будущих</a:t>
            </a:r>
            <a:r>
              <a:rPr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исследований</a:t>
            </a:r>
            <a:endParaRPr sz="3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Схема 3">
            <a:extLst>
              <a:ext uri="{FF2B5EF4-FFF2-40B4-BE49-F238E27FC236}">
                <a16:creationId xmlns:a16="http://schemas.microsoft.com/office/drawing/2014/main" id="{6CC38611-B576-4158-B28C-3CB284065AE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68177883"/>
              </p:ext>
            </p:extLst>
          </p:nvPr>
        </p:nvGraphicFramePr>
        <p:xfrm>
          <a:off x="0" y="1216241"/>
          <a:ext cx="9144000" cy="564175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7145548" cy="891396"/>
          </a:xfrm>
        </p:spPr>
        <p:txBody>
          <a:bodyPr>
            <a:normAutofit/>
          </a:bodyPr>
          <a:lstStyle/>
          <a:p>
            <a:pPr algn="just"/>
            <a:r>
              <a:rPr sz="4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Заключение</a:t>
            </a:r>
            <a:r>
              <a:rPr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и </a:t>
            </a:r>
            <a:r>
              <a:rPr sz="4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рекомендации</a:t>
            </a:r>
            <a:endParaRPr sz="4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598" y="1388853"/>
            <a:ext cx="8197971" cy="5124089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sz="28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Выводы</a:t>
            </a:r>
            <a:r>
              <a:rPr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algn="just"/>
            <a:r>
              <a:rPr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Цифровизация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является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стратегическим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направлением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для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АКБ </a:t>
            </a:r>
            <a:r>
              <a:rPr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Капиталбанка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r>
              <a:rPr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Реализация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цифровой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экосистемы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позволит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банку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повысить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клиентскую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лояльность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 </a:t>
            </a:r>
            <a:r>
              <a:rPr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конкурентоспособность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r>
              <a:rPr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Использование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ИИ, Big Data и Open API — </a:t>
            </a:r>
            <a:r>
              <a:rPr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ключ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к </a:t>
            </a:r>
            <a:r>
              <a:rPr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успеху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в </a:t>
            </a:r>
            <a:r>
              <a:rPr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будущем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 algn="just">
              <a:buNone/>
            </a:pPr>
            <a:r>
              <a:rPr sz="28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Рекомендации</a:t>
            </a:r>
            <a:r>
              <a:rPr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algn="just"/>
            <a:r>
              <a:rPr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Инвестировать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в </a:t>
            </a:r>
            <a:r>
              <a:rPr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цифровые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навыки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персонала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r>
              <a:rPr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Развивать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партнёрства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с </a:t>
            </a:r>
            <a:r>
              <a:rPr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финтех-компаниями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r>
              <a:rPr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Интегрировать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ESG-</a:t>
            </a:r>
            <a:r>
              <a:rPr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принципы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в </a:t>
            </a:r>
            <a:r>
              <a:rPr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цифровые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продукты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598" y="1388853"/>
            <a:ext cx="7714893" cy="5124089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ru-RU" sz="4400" b="1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СПАСИБО ЗА ВНИМАНИЕ!</a:t>
            </a:r>
            <a:endParaRPr sz="4400" b="1" i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73671622"/>
      </p:ext>
    </p:extLst>
  </p:cSld>
  <p:clrMapOvr>
    <a:masterClrMapping/>
  </p:clrMapOvr>
</p:sld>
</file>

<file path=ppt/theme/theme1.xml><?xml version="1.0" encoding="utf-8"?>
<a:theme xmlns:a="http://schemas.openxmlformats.org/drawingml/2006/main" name="Аспект">
  <a:themeElements>
    <a:clrScheme name="Зеленый">
      <a:dk1>
        <a:sysClr val="windowText" lastClr="000000"/>
      </a:dk1>
      <a:lt1>
        <a:sysClr val="window" lastClr="FFFFFF"/>
      </a:lt1>
      <a:dk2>
        <a:srgbClr val="455F51"/>
      </a:dk2>
      <a:lt2>
        <a:srgbClr val="E3DED1"/>
      </a:lt2>
      <a:accent1>
        <a:srgbClr val="549E39"/>
      </a:accent1>
      <a:accent2>
        <a:srgbClr val="8AB833"/>
      </a:accent2>
      <a:accent3>
        <a:srgbClr val="C0CF3A"/>
      </a:accent3>
      <a:accent4>
        <a:srgbClr val="029676"/>
      </a:accent4>
      <a:accent5>
        <a:srgbClr val="4AB5C4"/>
      </a:accent5>
      <a:accent6>
        <a:srgbClr val="0989B1"/>
      </a:accent6>
      <a:hlink>
        <a:srgbClr val="6B9F25"/>
      </a:hlink>
      <a:folHlink>
        <a:srgbClr val="BA6906"/>
      </a:folHlink>
    </a:clrScheme>
    <a:fontScheme name="Аспект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Аспект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1258</TotalTime>
  <Words>4667</Words>
  <Application>Microsoft Office PowerPoint</Application>
  <PresentationFormat>Экран (4:3)</PresentationFormat>
  <Paragraphs>317</Paragraphs>
  <Slides>32</Slides>
  <Notes>0</Notes>
  <HiddenSlides>0</HiddenSlides>
  <MMClips>0</MMClips>
  <ScaleCrop>false</ScaleCrop>
  <HeadingPairs>
    <vt:vector size="8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Внедренные серверы OLE</vt:lpstr>
      </vt:variant>
      <vt:variant>
        <vt:i4>1</vt:i4>
      </vt:variant>
      <vt:variant>
        <vt:lpstr>Заголовки слайдов</vt:lpstr>
      </vt:variant>
      <vt:variant>
        <vt:i4>32</vt:i4>
      </vt:variant>
    </vt:vector>
  </HeadingPairs>
  <TitlesOfParts>
    <vt:vector size="40" baseType="lpstr">
      <vt:lpstr>Arial</vt:lpstr>
      <vt:lpstr>Calibri</vt:lpstr>
      <vt:lpstr>Times New Roman</vt:lpstr>
      <vt:lpstr>Trebuchet MS</vt:lpstr>
      <vt:lpstr>Wingdings</vt:lpstr>
      <vt:lpstr>Wingdings 3</vt:lpstr>
      <vt:lpstr>Аспект</vt:lpstr>
      <vt:lpstr>Visio</vt:lpstr>
      <vt:lpstr>Презентация PowerPoint</vt:lpstr>
      <vt:lpstr>KIRISH</vt:lpstr>
      <vt:lpstr>Dissertatsiya mavzusining dolzarbligi quyidagi omillar bilan belgilanadi:</vt:lpstr>
      <vt:lpstr>Презентация PowerPoint</vt:lpstr>
      <vt:lpstr>Belgilab olingan maqsaddan kelib chiqqan holda tadqiqotning asosiy vazifalari sifatida  quyidagilar belgilangan: </vt:lpstr>
      <vt:lpstr>Презентация PowerPoint</vt:lpstr>
      <vt:lpstr>TADQIQOT NATIJALARINING ILMIY VA NAZARIY AHAMIYATI</vt:lpstr>
      <vt:lpstr>TADQIQOT NATIJALARINING AMALIY AHAMIYATI</vt:lpstr>
      <vt:lpstr>ОБЗОР НАУЧНО-ТЕОРИТИЧЕСКИХ ВЗГЛЯДОВ</vt:lpstr>
      <vt:lpstr>ILMIY VA NAZARIY QARASHLARNI SHARHLASH</vt:lpstr>
      <vt:lpstr>ILMIY VA NAZARIY QARASHLARNI SHARHLASH</vt:lpstr>
      <vt:lpstr>ILMIY VA NAZARIY QARASHLARNI SHARHLASH</vt:lpstr>
      <vt:lpstr>ILMIY VA NAZARIY QARASHLARNI SHARHLASH</vt:lpstr>
      <vt:lpstr>EMPIRIK TADQIQOTLARINING TAHLILI</vt:lpstr>
      <vt:lpstr>MAHALLIY NORMATIV VA QONUNIY HUJJATLARNI KO'RIB CHIQISH</vt:lpstr>
      <vt:lpstr>ПРОЦЕСС СБОРА ДАННЫХ </vt:lpstr>
      <vt:lpstr>АНАЛИЗ ТЕКУЩЕГО СОСТОЯНИЯ ЦИФРОВИЗАЦИИ БАНКОВСКИХ ПРОДУКТОВ АКБ КАПИТАЛБАНКА</vt:lpstr>
      <vt:lpstr>Цифровая трансформация. Лидерство в области цифрового банкинга</vt:lpstr>
      <vt:lpstr>Эволюция цифровизации  АКБ Капиталбанка</vt:lpstr>
      <vt:lpstr>Карта цифровой экосистемы UZUM</vt:lpstr>
      <vt:lpstr>Динамика ключевых показателей цифрового бизнеса  АКБ Капиталбанка за 2022-2024 гг.</vt:lpstr>
      <vt:lpstr>"Kapital Coin"</vt:lpstr>
      <vt:lpstr>Анализ основный Фактические финансовых е результаты  АКБ Капиталбанка за 2022-2024 гг. Стратегия цифровой трансформации позволила АКБ Капиталбанку добиться целевых показателей эффективности и прибыльности бизнеса, заложенных в финансовую модель на 2021-2024 гг. Фактические финансовые результаты банка за этот период представлены в таблице ниже: </vt:lpstr>
      <vt:lpstr>Результаты исследования перспектив цифровизации банковских продуктов  АКБ Капиталбанка</vt:lpstr>
      <vt:lpstr>ESG-банкинга в Узбекистане c АКБ Капиталбанком</vt:lpstr>
      <vt:lpstr>ESG-банкинга в Узбекистане c АКБ Капиталбанком</vt:lpstr>
      <vt:lpstr>Обзор результатов анализов</vt:lpstr>
      <vt:lpstr>Краткое изложение результатов, относящихся к вопросу исследования</vt:lpstr>
      <vt:lpstr>Основные предложения и рекомендации исследования</vt:lpstr>
      <vt:lpstr>Ограничения исследований и предложения для будущих исследований</vt:lpstr>
      <vt:lpstr>Заключение и рекомендации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Перспективы цифровизации банковских продуктов</dc:title>
  <dc:subject/>
  <dc:creator>Nellya Diarova</dc:creator>
  <cp:keywords/>
  <dc:description>generated using python-pptx</dc:description>
  <cp:lastModifiedBy>ACER</cp:lastModifiedBy>
  <cp:revision>172</cp:revision>
  <dcterms:created xsi:type="dcterms:W3CDTF">2013-01-27T09:14:16Z</dcterms:created>
  <dcterms:modified xsi:type="dcterms:W3CDTF">2026-06-26T04:41:43Z</dcterms:modified>
  <cp:category/>
</cp:coreProperties>
</file>